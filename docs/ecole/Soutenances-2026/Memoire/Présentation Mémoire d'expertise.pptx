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embeddedFontLst>
    <p:embeddedFont>
      <p:font typeface="Nunito" pitchFamily="2" charset="0"/>
      <p:regular r:id="rId18"/>
      <p:bold r:id="rId19"/>
      <p:italic r:id="rId20"/>
    </p:embeddedFont>
    <p:embeddedFont>
      <p:font typeface="Quicksand" pitchFamily="2"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007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a toutes et a tous. Mon memoire d'expertise s'intitule Grandir sans s'en apercevoir. Ce n'est pas un CV, ni une liste de competences : c'est un retour honnete sur cinq annees, a travers ce que j'ai vraiment produit, pour comprendre comment ma facon de penser a change sans que je m'en rende compte.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est parti d'un detail. En preparant ce memoire, j'ai retrouve un texte que j'avais ecrit a dix-neuf ans, en deuxieme annee, ou je me decrivais : mes centres d'interet, ma facon de voir le monde, mes certitudes. Je n'en avais aucun souvenir, et pourtant j'en reconnaissais chaque phrase. C'est ce texte qui m'a donne mon angle : au lieu de derouler un CV, je repars des objets concrets que j'ai produits, et je me demande, pour chacun, ce qu'il a change en moi. Sans concession, pour moi, ca veut dire refuser la version marketing de soi.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methode tient en une phrase. Pour chaque annee, je pars d'un objet, un stage, une etude, un logiciel, et je lui pose une seule question : qu'est-ce qu'il a change dans ma posture ? Je ne dis pas j'ai fait telle chose, je dis telle chose a change ma facon de penser. Cinq annees, cinq objets, un meme regard.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Premiere annee : le choix. Un choc : la decouverte de l'UX. L'ete, deux stages opposes, du developpement d'un cote, du marketing de l'autre. Je n'ai jamais tranche. Cinq ans plus tard, cette indecision porte un nom : Product Owner.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Deuxieme annee : le miroir. Une ethnographie de terrain. Le reflexe que je garde : avant de juger un utilisateur, me demander d'ou je regarde. La forme compte autant que le fond. Et l'IA entre discretement dans ma vie.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Troisieme annee : le saut. L'annee la plus technique, et un semestre a Dublin. J'y ai compris la difference entre demontrer et livrer. Et Dublin compte moins pour les competences que pour la personne que j'en suis revenu.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Quatrieme annee : le terrain. Le debut de mon alternance chez Naxos comme Product Owner apprenti. Je recueille un besoin, je le traduis en specifications, je fais developper, je teste. On apprend un metier en produisant, pas en l'observant.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Cinquieme annee : l'outil. L'IA devient centrale. Ma conviction : elle ne remplace pas la competence, elle demultiplie. Le vibe coding devient mon point d'equilibre : assez technique pour construire, assez produit pour penser.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cette evidence a un nom : DreamWeave, un logiciel de creation de webtoons par IA construit seul, sans qu'on me donne le sujet. Un projet mene par envie en dit plus sur qui l'on est qu'un exercice impose. La preuve concrete de ce que je sais faire, de l'idee au produit qui tourne.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changements de posture. Ne pas choisir technique/business : deja Product Owner. Me demander d'ou je regarde. La forme compte autant que le fond. Livrer n'est pas demontrer. L'IA demultiplie. Aucun n'etait voulu sur le moment. Mis bout a bout, ils dessinent une seule direction : j'ai grandi sans m'en apercevoir.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DreamWeave prouve : que je sais tenir toute la chaine, seul, du besoin a la specification jusqu'au systeme qui fonctionne ; que je fais de l'IA un prolongement de moi ; et que le resultat est un produit qui tourne, pas une maquette.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bilan, sans complaisance. Ce que je sais faire : tenir la chaine de bout en bout, seul. Ma limite n'est pas technique : c'est la decision sans filet, porter seul un choix qui couterait cher s'il etait mauvais, sans supervision. Le vrai test viendra quand cette supervision disparaitra.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direction est claire. Product Owner, la ou se rejoignent mes competences techniques et produit. Et au-dela, Product Builder : penser le produit et me donner les moyens de le construire, en faisant de l'IA un prolongement de mes competences.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dernier mot. Ce que ce memoire m'a fait comprendre, je veux le mettre au service d'un produit et d'une equipe. Grandir sans s'en apercevoir, c'etait la question. Aujourd'hui, je choisis consciemment la suite.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ecoute. Je suis pret a repondre a vos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1051560"/>
            <a:ext cx="9144000" cy="365760"/>
          </a:xfrm>
          <a:prstGeom prst="rect">
            <a:avLst/>
          </a:prstGeom>
          <a:noFill/>
          <a:ln/>
        </p:spPr>
        <p:txBody>
          <a:bodyPr wrap="square" lIns="0" tIns="0" rIns="0" bIns="0" rtlCol="0" anchor="ctr"/>
          <a:lstStyle/>
          <a:p>
            <a:pPr marL="0" indent="0">
              <a:buNone/>
            </a:pPr>
            <a:r>
              <a:rPr lang="en-US" sz="2000" b="1" kern="0" spc="400" dirty="0">
                <a:solidFill>
                  <a:srgbClr val="BF4A83"/>
                </a:solidFill>
                <a:latin typeface="Quicksand" pitchFamily="34" charset="0"/>
                <a:ea typeface="Quicksand" pitchFamily="34" charset="-122"/>
                <a:cs typeface="Quicksand" pitchFamily="34" charset="-120"/>
              </a:rPr>
              <a:t>MÉMOIRE D'EXPERTISE</a:t>
            </a:r>
            <a:endParaRPr lang="en-US" sz="2000" dirty="0"/>
          </a:p>
        </p:txBody>
      </p:sp>
      <p:pic>
        <p:nvPicPr>
          <p:cNvPr id="3" name="Image 0" descr="C:\Users\kirit\AppData\Local\Temp\claude\C--Users-kirit-OneDrive-Bureau-DreamWeave\1dfcbb64-69b7-40e1-93a9-2561d034242f\scratchpad\deck-memoire\img\cover.png"/>
          <p:cNvPicPr>
            <a:picLocks noChangeAspect="1"/>
          </p:cNvPicPr>
          <p:nvPr/>
        </p:nvPicPr>
        <p:blipFill>
          <a:blip r:embed="rId3"/>
          <a:stretch>
            <a:fillRect/>
          </a:stretch>
        </p:blipFill>
        <p:spPr>
          <a:xfrm>
            <a:off x="777240" y="1965960"/>
            <a:ext cx="7886243" cy="2148840"/>
          </a:xfrm>
          <a:prstGeom prst="rect">
            <a:avLst/>
          </a:prstGeom>
        </p:spPr>
      </p:pic>
      <p:pic>
        <p:nvPicPr>
          <p:cNvPr id="4" name="Image 1" descr="C:\Users\kirit\AppData\Local\Temp\claude\C--Users-kirit-OneDrive-Bureau-DreamWeave\1dfcbb64-69b7-40e1-93a9-2561d034242f\scratchpad\deck-memoire\img\rule.png"/>
          <p:cNvPicPr>
            <a:picLocks noChangeAspect="1"/>
          </p:cNvPicPr>
          <p:nvPr/>
        </p:nvPicPr>
        <p:blipFill>
          <a:blip r:embed="rId4"/>
          <a:stretch>
            <a:fillRect/>
          </a:stretch>
        </p:blipFill>
        <p:spPr>
          <a:xfrm>
            <a:off x="822960" y="4526280"/>
            <a:ext cx="2834640" cy="64008"/>
          </a:xfrm>
          <a:prstGeom prst="rect">
            <a:avLst/>
          </a:prstGeom>
        </p:spPr>
      </p:pic>
      <p:sp>
        <p:nvSpPr>
          <p:cNvPr id="5" name="Text 1"/>
          <p:cNvSpPr/>
          <p:nvPr/>
        </p:nvSpPr>
        <p:spPr>
          <a:xfrm>
            <a:off x="822960" y="4754880"/>
            <a:ext cx="9875520" cy="822960"/>
          </a:xfrm>
          <a:prstGeom prst="rect">
            <a:avLst/>
          </a:prstGeom>
          <a:noFill/>
          <a:ln/>
        </p:spPr>
        <p:txBody>
          <a:bodyPr wrap="square" lIns="0" tIns="0" rIns="0" bIns="0" rtlCol="0" anchor="ctr"/>
          <a:lstStyle/>
          <a:p>
            <a:pPr marL="0" indent="0">
              <a:lnSpc>
                <a:spcPts val="2400"/>
              </a:lnSpc>
              <a:buNone/>
            </a:pPr>
            <a:r>
              <a:rPr lang="en-US" sz="1700" i="1" dirty="0">
                <a:solidFill>
                  <a:srgbClr val="6A6380"/>
                </a:solidFill>
                <a:latin typeface="Nunito" pitchFamily="34" charset="0"/>
                <a:ea typeface="Nunito" pitchFamily="34" charset="-122"/>
                <a:cs typeface="Nunito" pitchFamily="34" charset="-120"/>
              </a:rPr>
              <a:t>Cinq années à la Web School Factory : mon parcours, mes projets,</a:t>
            </a:r>
            <a:endParaRPr lang="en-US" sz="1700" dirty="0"/>
          </a:p>
          <a:p>
            <a:pPr marL="0" indent="0">
              <a:lnSpc>
                <a:spcPts val="2400"/>
              </a:lnSpc>
              <a:buNone/>
            </a:pPr>
            <a:r>
              <a:rPr lang="en-US" sz="1700" i="1" dirty="0">
                <a:solidFill>
                  <a:srgbClr val="6A6380"/>
                </a:solidFill>
                <a:latin typeface="Nunito" pitchFamily="34" charset="0"/>
                <a:ea typeface="Nunito" pitchFamily="34" charset="-122"/>
                <a:cs typeface="Nunito" pitchFamily="34" charset="-120"/>
              </a:rPr>
              <a:t>et comment ma manière de penser a changé.</a:t>
            </a:r>
            <a:endParaRPr lang="en-US" sz="1700" dirty="0"/>
          </a:p>
        </p:txBody>
      </p:sp>
      <p:sp>
        <p:nvSpPr>
          <p:cNvPr id="6" name="Text 2"/>
          <p:cNvSpPr/>
          <p:nvPr/>
        </p:nvSpPr>
        <p:spPr>
          <a:xfrm>
            <a:off x="822960" y="5989320"/>
            <a:ext cx="10607040" cy="365760"/>
          </a:xfrm>
          <a:prstGeom prst="rect">
            <a:avLst/>
          </a:prstGeom>
          <a:noFill/>
          <a:ln/>
        </p:spPr>
        <p:txBody>
          <a:bodyPr wrap="square" lIns="0" tIns="0" rIns="0" bIns="0" rtlCol="0" anchor="ctr"/>
          <a:lstStyle/>
          <a:p>
            <a:pPr marL="0" indent="0">
              <a:buNone/>
            </a:pPr>
            <a:r>
              <a:rPr lang="en-US" sz="1400" b="1" dirty="0">
                <a:solidFill>
                  <a:srgbClr val="12977A"/>
                </a:solidFill>
                <a:latin typeface="Quicksand" pitchFamily="34" charset="0"/>
                <a:ea typeface="Quicksand" pitchFamily="34" charset="-122"/>
                <a:cs typeface="Quicksand" pitchFamily="34" charset="-120"/>
              </a:rPr>
              <a:t>Louis Basnier</a:t>
            </a:r>
            <a:r>
              <a:rPr lang="en-US" sz="1400" dirty="0">
                <a:solidFill>
                  <a:srgbClr val="6A6380"/>
                </a:solidFill>
                <a:latin typeface="Quicksand" pitchFamily="34" charset="0"/>
                <a:ea typeface="Quicksand" pitchFamily="34" charset="-122"/>
                <a:cs typeface="Quicksand" pitchFamily="34" charset="-120"/>
              </a:rPr>
              <a:t>   ·   Product Owner apprenti chez Naxos (Arche Groupe)   ·   Promotion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68580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POURQUOI CET ANGLE</a:t>
            </a:r>
            <a:endParaRPr lang="en-US" sz="1300" dirty="0"/>
          </a:p>
        </p:txBody>
      </p:sp>
      <p:pic>
        <p:nvPicPr>
          <p:cNvPr id="3" name="Image 0" descr="C:\Users\kirit\AppData\Local\Temp\claude\C--Users-kirit-OneDrive-Bureau-DreamWeave\1dfcbb64-69b7-40e1-93a9-2561d034242f\scratchpad\deck-memoire\img\intro.png"/>
          <p:cNvPicPr>
            <a:picLocks noChangeAspect="1"/>
          </p:cNvPicPr>
          <p:nvPr/>
        </p:nvPicPr>
        <p:blipFill>
          <a:blip r:embed="rId3"/>
          <a:stretch>
            <a:fillRect/>
          </a:stretch>
        </p:blipFill>
        <p:spPr>
          <a:xfrm>
            <a:off x="822960" y="1188720"/>
            <a:ext cx="6675120" cy="767345"/>
          </a:xfrm>
          <a:prstGeom prst="rect">
            <a:avLst/>
          </a:prstGeom>
        </p:spPr>
      </p:pic>
      <p:sp>
        <p:nvSpPr>
          <p:cNvPr id="4" name="Text 1"/>
          <p:cNvSpPr/>
          <p:nvPr/>
        </p:nvSpPr>
        <p:spPr>
          <a:xfrm>
            <a:off x="822960" y="2971800"/>
            <a:ext cx="6400800" cy="3017520"/>
          </a:xfrm>
          <a:prstGeom prst="rect">
            <a:avLst/>
          </a:prstGeom>
          <a:noFill/>
          <a:ln/>
        </p:spPr>
        <p:txBody>
          <a:bodyPr wrap="square" lIns="0" tIns="0" rIns="0" bIns="0" rtlCol="0" anchor="t"/>
          <a:lstStyle/>
          <a:p>
            <a:pPr marL="0" indent="0">
              <a:lnSpc>
                <a:spcPts val="2200"/>
              </a:lnSpc>
              <a:spcAft>
                <a:spcPts val="900"/>
              </a:spcAft>
              <a:buNone/>
            </a:pPr>
            <a:r>
              <a:rPr lang="en-US" sz="1550" dirty="0">
                <a:solidFill>
                  <a:srgbClr val="2B2539"/>
                </a:solidFill>
                <a:latin typeface="Nunito" pitchFamily="34" charset="0"/>
                <a:ea typeface="Nunito" pitchFamily="34" charset="-122"/>
                <a:cs typeface="Nunito" pitchFamily="34" charset="-120"/>
              </a:rPr>
              <a:t>En deuxième année, à dix-neuf ans, j'avais écrit un texte où je me décrivais : mes centres d'intérêt, ma façon de voir le monde, mes certitudes. Je l'ai retrouvé en préparant ce mémoire.</a:t>
            </a:r>
            <a:endParaRPr lang="en-US" sz="1550" dirty="0"/>
          </a:p>
          <a:p>
            <a:pPr marL="0" indent="0">
              <a:lnSpc>
                <a:spcPts val="2200"/>
              </a:lnSpc>
              <a:spcAft>
                <a:spcPts val="900"/>
              </a:spcAft>
              <a:buNone/>
            </a:pPr>
            <a:r>
              <a:rPr lang="en-US" sz="1550" dirty="0">
                <a:solidFill>
                  <a:srgbClr val="2B2539"/>
                </a:solidFill>
                <a:latin typeface="Nunito" pitchFamily="34" charset="0"/>
                <a:ea typeface="Nunito" pitchFamily="34" charset="-122"/>
                <a:cs typeface="Nunito" pitchFamily="34" charset="-120"/>
              </a:rPr>
              <a:t>Aucun souvenir de l'avoir écrit, et pourtant j'en reconnaissais chaque phrase. J'ai alors su ce que je voulais raconter : non pas la liste de mes compétences, mais la façon dont ma pensée a changé, sans que je m'en aperçoive.</a:t>
            </a:r>
            <a:endParaRPr lang="en-US" sz="1550" dirty="0"/>
          </a:p>
          <a:p>
            <a:pPr marL="0" indent="0">
              <a:lnSpc>
                <a:spcPts val="2200"/>
              </a:lnSpc>
              <a:buNone/>
            </a:pPr>
            <a:r>
              <a:rPr lang="en-US" sz="1550" b="1" dirty="0">
                <a:solidFill>
                  <a:srgbClr val="7B45C8"/>
                </a:solidFill>
                <a:latin typeface="Nunito" pitchFamily="34" charset="0"/>
                <a:ea typeface="Nunito" pitchFamily="34" charset="-122"/>
                <a:cs typeface="Nunito" pitchFamily="34" charset="-120"/>
              </a:rPr>
              <a:t>« Sans concession » : refuser la version marketing de soi.</a:t>
            </a:r>
            <a:endParaRPr lang="en-US" sz="1550" dirty="0"/>
          </a:p>
        </p:txBody>
      </p:sp>
      <p:sp>
        <p:nvSpPr>
          <p:cNvPr id="5" name="Shape 2"/>
          <p:cNvSpPr/>
          <p:nvPr/>
        </p:nvSpPr>
        <p:spPr>
          <a:xfrm>
            <a:off x="7772400" y="1371600"/>
            <a:ext cx="3611880" cy="4343400"/>
          </a:xfrm>
          <a:prstGeom prst="roundRect">
            <a:avLst>
              <a:gd name="adj" fmla="val 3038"/>
            </a:avLst>
          </a:prstGeom>
          <a:solidFill>
            <a:srgbClr val="F5F2F9"/>
          </a:solidFill>
          <a:ln w="12700">
            <a:solidFill>
              <a:srgbClr val="E6E1EF"/>
            </a:solidFill>
            <a:prstDash val="solid"/>
          </a:ln>
          <a:effectLst>
            <a:outerShdw blurRad="203200" dist="50800" dir="5400000" algn="bl" rotWithShape="0">
              <a:srgbClr val="B9A9D6">
                <a:alpha val="22000"/>
              </a:srgbClr>
            </a:outerShdw>
          </a:effectLst>
        </p:spPr>
      </p:sp>
      <p:sp>
        <p:nvSpPr>
          <p:cNvPr id="6" name="Text 3"/>
          <p:cNvSpPr/>
          <p:nvPr/>
        </p:nvSpPr>
        <p:spPr>
          <a:xfrm>
            <a:off x="8046720" y="1691640"/>
            <a:ext cx="3108960" cy="274320"/>
          </a:xfrm>
          <a:prstGeom prst="rect">
            <a:avLst/>
          </a:prstGeom>
          <a:noFill/>
          <a:ln/>
        </p:spPr>
        <p:txBody>
          <a:bodyPr wrap="square" lIns="0" tIns="0" rIns="0" bIns="0" rtlCol="0" anchor="ctr"/>
          <a:lstStyle/>
          <a:p>
            <a:pPr marL="0" indent="0">
              <a:buNone/>
            </a:pPr>
            <a:r>
              <a:rPr lang="en-US" sz="1100" b="1" kern="0" spc="200" dirty="0">
                <a:solidFill>
                  <a:srgbClr val="C9701E"/>
                </a:solidFill>
                <a:latin typeface="Quicksand" pitchFamily="34" charset="0"/>
                <a:ea typeface="Quicksand" pitchFamily="34" charset="-122"/>
                <a:cs typeface="Quicksand" pitchFamily="34" charset="-120"/>
              </a:rPr>
              <a:t>LE TEXTE RETROUVÉ</a:t>
            </a:r>
            <a:endParaRPr lang="en-US" sz="1100" dirty="0"/>
          </a:p>
        </p:txBody>
      </p:sp>
      <p:sp>
        <p:nvSpPr>
          <p:cNvPr id="7" name="Text 4"/>
          <p:cNvSpPr/>
          <p:nvPr/>
        </p:nvSpPr>
        <p:spPr>
          <a:xfrm>
            <a:off x="8046720" y="2148840"/>
            <a:ext cx="3108960" cy="2103120"/>
          </a:xfrm>
          <a:prstGeom prst="rect">
            <a:avLst/>
          </a:prstGeom>
          <a:noFill/>
          <a:ln/>
        </p:spPr>
        <p:txBody>
          <a:bodyPr wrap="square" lIns="0" tIns="0" rIns="0" bIns="0" rtlCol="0" anchor="t"/>
          <a:lstStyle/>
          <a:p>
            <a:pPr marL="0" indent="0">
              <a:lnSpc>
                <a:spcPts val="2400"/>
              </a:lnSpc>
              <a:buNone/>
            </a:pPr>
            <a:r>
              <a:rPr lang="en-US" sz="1550" i="1" dirty="0">
                <a:solidFill>
                  <a:srgbClr val="1B1626"/>
                </a:solidFill>
                <a:latin typeface="Nunito" pitchFamily="34" charset="0"/>
                <a:ea typeface="Nunito" pitchFamily="34" charset="-122"/>
                <a:cs typeface="Nunito" pitchFamily="34" charset="-120"/>
              </a:rPr>
              <a:t>« Je m'y décrivais : mes centres d'intérêt, ma façon de voir le monde, mes certitudes. »</a:t>
            </a:r>
            <a:endParaRPr lang="en-US" sz="1550" dirty="0"/>
          </a:p>
        </p:txBody>
      </p:sp>
      <p:sp>
        <p:nvSpPr>
          <p:cNvPr id="8" name="Text 5"/>
          <p:cNvSpPr/>
          <p:nvPr/>
        </p:nvSpPr>
        <p:spPr>
          <a:xfrm>
            <a:off x="8046720" y="4709160"/>
            <a:ext cx="3108960" cy="822960"/>
          </a:xfrm>
          <a:prstGeom prst="rect">
            <a:avLst/>
          </a:prstGeom>
          <a:noFill/>
          <a:ln/>
        </p:spPr>
        <p:txBody>
          <a:bodyPr wrap="square" lIns="0" tIns="0" rIns="0" bIns="0" rtlCol="0" anchor="t"/>
          <a:lstStyle/>
          <a:p>
            <a:pPr marL="0" indent="0">
              <a:lnSpc>
                <a:spcPts val="1900"/>
              </a:lnSpc>
              <a:buNone/>
            </a:pPr>
            <a:r>
              <a:rPr lang="en-US" sz="1350" dirty="0">
                <a:solidFill>
                  <a:srgbClr val="6A6380"/>
                </a:solidFill>
                <a:latin typeface="Nunito" pitchFamily="34" charset="0"/>
                <a:ea typeface="Nunito" pitchFamily="34" charset="-122"/>
                <a:cs typeface="Nunito" pitchFamily="34" charset="-120"/>
              </a:rPr>
              <a:t>Écrit à 19 ans, oublié, et pourtant reconnu ligne à ligne.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itre"/>
          <p:cNvSpPr/>
          <p:nvPr/>
        </p:nvSpPr>
        <p:spPr>
          <a:xfrm>
            <a:off x="822960" y="68580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LA MÉTHODE</a:t>
            </a:r>
            <a:endParaRPr lang="en-US" sz="1300" dirty="0"/>
          </a:p>
        </p:txBody>
      </p:sp>
      <p:pic>
        <p:nvPicPr>
          <p:cNvPr id="3" name="Image 0"/>
          <p:cNvPicPr>
            <a:picLocks noChangeAspect="1"/>
          </p:cNvPicPr>
          <p:nvPr/>
        </p:nvPicPr>
        <p:blipFill>
          <a:blip r:embed="rId3"/>
          <a:stretch>
            <a:fillRect/>
          </a:stretch>
        </p:blipFill>
        <p:spPr>
          <a:xfrm>
            <a:off x="822960" y="1188720"/>
            <a:ext cx="7064619" cy="914400"/>
          </a:xfrm>
          <a:prstGeom prst="rect">
            <a:avLst/>
          </a:prstGeom>
        </p:spPr>
      </p:pic>
      <p:sp>
        <p:nvSpPr>
          <p:cNvPr id="4" name="Box1"/>
          <p:cNvSpPr/>
          <p:nvPr/>
        </p:nvSpPr>
        <p:spPr>
          <a:xfrm>
            <a:off x="822960" y="3246120"/>
            <a:ext cx="3040000" cy="1371600"/>
          </a:xfrm>
          <a:prstGeom prst="roundRect">
            <a:avLst>
              <a:gd name="adj" fmla="val 6667"/>
            </a:avLst>
          </a:prstGeom>
          <a:solidFill>
            <a:srgbClr val="F3F2F5"/>
          </a:solidFill>
          <a:ln w="12700">
            <a:solidFill>
              <a:srgbClr val="E5E3EC"/>
            </a:solidFill>
            <a:prstDash val="solid"/>
          </a:ln>
          <a:effectLst>
            <a:outerShdw blurRad="203200" dist="50800" dir="5400000" algn="bl" rotWithShape="0">
              <a:srgbClr val="B9A9D6">
                <a:alpha val="22000"/>
              </a:srgbClr>
            </a:outerShdw>
          </a:effectLst>
        </p:spPr>
      </p:sp>
      <p:sp>
        <p:nvSpPr>
          <p:cNvPr id="5" name="Box1 Label"/>
          <p:cNvSpPr/>
          <p:nvPr/>
        </p:nvSpPr>
        <p:spPr>
          <a:xfrm>
            <a:off x="822960" y="3502152"/>
            <a:ext cx="3040000" cy="274320"/>
          </a:xfrm>
          <a:prstGeom prst="rect">
            <a:avLst/>
          </a:prstGeom>
          <a:noFill/>
          <a:ln/>
        </p:spPr>
        <p:txBody>
          <a:bodyPr wrap="square" lIns="0" tIns="0" rIns="0" bIns="0" rtlCol="0" anchor="ctr"/>
          <a:lstStyle/>
          <a:p>
            <a:pPr marL="0" indent="0" algn="ctr">
              <a:buNone/>
            </a:pPr>
            <a:r>
              <a:rPr lang="en-US" sz="1100" b="1" kern="0" spc="60" dirty="0">
                <a:solidFill>
                  <a:srgbClr val="6B6478"/>
                </a:solidFill>
                <a:latin typeface="Quicksand" pitchFamily="34" charset="0"/>
                <a:ea typeface="Quicksand" pitchFamily="34" charset="-122"/>
                <a:cs typeface="Quicksand" pitchFamily="34" charset="-120"/>
              </a:rPr>
              <a:t>CE QUE JE PENSAIS</a:t>
            </a:r>
            <a:endParaRPr lang="en-US" sz="1100" dirty="0"/>
          </a:p>
        </p:txBody>
      </p:sp>
      <p:sp>
        <p:nvSpPr>
          <p:cNvPr id="6" name="Box1 Text"/>
          <p:cNvSpPr/>
          <p:nvPr/>
        </p:nvSpPr>
        <p:spPr>
          <a:xfrm>
            <a:off x="822960" y="3813048"/>
            <a:ext cx="3040000" cy="731520"/>
          </a:xfrm>
          <a:prstGeom prst="rect">
            <a:avLst/>
          </a:prstGeom>
          <a:noFill/>
          <a:ln/>
        </p:spPr>
        <p:txBody>
          <a:bodyPr wrap="square" lIns="0" tIns="0" rIns="0" bIns="0" rtlCol="0" anchor="ctr"/>
          <a:lstStyle/>
          <a:p>
            <a:pPr marL="0" indent="0" algn="ctr">
              <a:lnSpc>
                <a:spcPts val="2000"/>
              </a:lnSpc>
              <a:buNone/>
            </a:pPr>
            <a:r>
              <a:rPr lang="en-US" sz="1300" i="1" dirty="0">
                <a:solidFill>
                  <a:srgbClr val="6B6478"/>
                </a:solidFill>
                <a:latin typeface="Nunito" pitchFamily="34" charset="0"/>
                <a:ea typeface="Nunito" pitchFamily="34" charset="-122"/>
                <a:cs typeface="Nunito" pitchFamily="34" charset="-120"/>
              </a:rPr>
              <a:t>une croyance de départ</a:t>
            </a:r>
            <a:endParaRPr lang="en-US" sz="1300" dirty="0"/>
          </a:p>
        </p:txBody>
      </p:sp>
      <p:sp>
        <p:nvSpPr>
          <p:cNvPr id="7" name="Arrow1"/>
          <p:cNvSpPr/>
          <p:nvPr/>
        </p:nvSpPr>
        <p:spPr>
          <a:xfrm>
            <a:off x="3862960" y="3566160"/>
            <a:ext cx="700000" cy="731520"/>
          </a:xfrm>
          <a:prstGeom prst="rect">
            <a:avLst/>
          </a:prstGeom>
          <a:noFill/>
          <a:ln/>
        </p:spPr>
        <p:txBody>
          <a:bodyPr wrap="square" lIns="0" tIns="0" rIns="0" bIns="0" rtlCol="0" anchor="ctr"/>
          <a:lstStyle/>
          <a:p>
            <a:pPr marL="0" indent="0" algn="ctr">
              <a:buNone/>
            </a:pPr>
            <a:r>
              <a:rPr lang="en-US" sz="3200" b="1" dirty="0">
                <a:solidFill>
                  <a:srgbClr val="7B45C8"/>
                </a:solidFill>
                <a:latin typeface="Quicksand" pitchFamily="34" charset="0"/>
                <a:ea typeface="Quicksand" pitchFamily="34" charset="-122"/>
                <a:cs typeface="Quicksand" pitchFamily="34" charset="-120"/>
              </a:rPr>
              <a:t>→</a:t>
            </a:r>
            <a:endParaRPr lang="en-US" sz="3200" dirty="0"/>
          </a:p>
        </p:txBody>
      </p:sp>
      <p:sp>
        <p:nvSpPr>
          <p:cNvPr id="8" name="Box2"/>
          <p:cNvSpPr/>
          <p:nvPr/>
        </p:nvSpPr>
        <p:spPr>
          <a:xfrm>
            <a:off x="4562960" y="3246120"/>
            <a:ext cx="3040000" cy="1371600"/>
          </a:xfrm>
          <a:prstGeom prst="roundRect">
            <a:avLst>
              <a:gd name="adj" fmla="val 6667"/>
            </a:avLst>
          </a:prstGeom>
          <a:solidFill>
            <a:srgbClr val="FBF4EB"/>
          </a:solidFill>
          <a:ln w="12700">
            <a:solidFill>
              <a:srgbClr val="EFDFCB"/>
            </a:solidFill>
            <a:prstDash val="solid"/>
          </a:ln>
          <a:effectLst>
            <a:outerShdw blurRad="203200" dist="50800" dir="5400000" algn="bl" rotWithShape="0">
              <a:srgbClr val="B9A9D6">
                <a:alpha val="22000"/>
              </a:srgbClr>
            </a:outerShdw>
          </a:effectLst>
        </p:spPr>
      </p:sp>
      <p:sp>
        <p:nvSpPr>
          <p:cNvPr id="9" name="Box2 Label"/>
          <p:cNvSpPr/>
          <p:nvPr/>
        </p:nvSpPr>
        <p:spPr>
          <a:xfrm>
            <a:off x="4562960" y="3502152"/>
            <a:ext cx="3040000" cy="274320"/>
          </a:xfrm>
          <a:prstGeom prst="rect">
            <a:avLst/>
          </a:prstGeom>
          <a:noFill/>
          <a:ln/>
        </p:spPr>
        <p:txBody>
          <a:bodyPr wrap="square" lIns="0" tIns="0" rIns="0" bIns="0" rtlCol="0" anchor="ctr"/>
          <a:lstStyle/>
          <a:p>
            <a:pPr marL="0" indent="0" algn="ctr">
              <a:buNone/>
            </a:pPr>
            <a:r>
              <a:rPr lang="en-US" sz="1100" b="1" kern="0" spc="60" dirty="0">
                <a:solidFill>
                  <a:srgbClr val="C9701E"/>
                </a:solidFill>
                <a:latin typeface="Quicksand" pitchFamily="34" charset="0"/>
                <a:ea typeface="Quicksand" pitchFamily="34" charset="-122"/>
                <a:cs typeface="Quicksand" pitchFamily="34" charset="-120"/>
              </a:rPr>
              <a:t>L'ARTEFACT</a:t>
            </a:r>
            <a:endParaRPr lang="en-US" sz="1100" dirty="0"/>
          </a:p>
        </p:txBody>
      </p:sp>
      <p:sp>
        <p:nvSpPr>
          <p:cNvPr id="10" name="Box2 Text"/>
          <p:cNvSpPr/>
          <p:nvPr/>
        </p:nvSpPr>
        <p:spPr>
          <a:xfrm>
            <a:off x="4562960" y="3813048"/>
            <a:ext cx="3040000" cy="731520"/>
          </a:xfrm>
          <a:prstGeom prst="rect">
            <a:avLst/>
          </a:prstGeom>
          <a:noFill/>
          <a:ln/>
        </p:spPr>
        <p:txBody>
          <a:bodyPr wrap="square" lIns="0" tIns="0" rIns="0" bIns="0" rtlCol="0" anchor="ctr"/>
          <a:lstStyle/>
          <a:p>
            <a:pPr marL="0" indent="0" algn="ctr">
              <a:lnSpc>
                <a:spcPts val="2000"/>
              </a:lnSpc>
              <a:buNone/>
            </a:pPr>
            <a:r>
              <a:rPr lang="en-US" sz="1300" dirty="0">
                <a:solidFill>
                  <a:srgbClr val="2B2539"/>
                </a:solidFill>
                <a:latin typeface="Nunito" pitchFamily="34" charset="0"/>
                <a:ea typeface="Nunito" pitchFamily="34" charset="-122"/>
                <a:cs typeface="Nunito" pitchFamily="34" charset="-120"/>
              </a:rPr>
              <a:t>un stage, une étude,</a:t>
            </a:r>
            <a:endParaRPr lang="en-US" sz="1300" dirty="0"/>
          </a:p>
          <a:p>
            <a:pPr marL="0" indent="0" algn="ctr">
              <a:lnSpc>
                <a:spcPts val="2000"/>
              </a:lnSpc>
              <a:buNone/>
            </a:pPr>
            <a:r>
              <a:rPr lang="en-US" sz="1300" dirty="0">
                <a:solidFill>
                  <a:srgbClr val="2B2539"/>
                </a:solidFill>
                <a:latin typeface="Nunito" pitchFamily="34" charset="0"/>
                <a:ea typeface="Nunito" pitchFamily="34" charset="-122"/>
                <a:cs typeface="Nunito" pitchFamily="34" charset="-120"/>
              </a:rPr>
              <a:t>un logiciel</a:t>
            </a:r>
            <a:endParaRPr lang="en-US" sz="1300" dirty="0"/>
          </a:p>
        </p:txBody>
      </p:sp>
      <p:sp>
        <p:nvSpPr>
          <p:cNvPr id="11" name="Arrow2"/>
          <p:cNvSpPr/>
          <p:nvPr/>
        </p:nvSpPr>
        <p:spPr>
          <a:xfrm>
            <a:off x="7602960" y="3566160"/>
            <a:ext cx="700000" cy="731520"/>
          </a:xfrm>
          <a:prstGeom prst="rect">
            <a:avLst/>
          </a:prstGeom>
          <a:noFill/>
          <a:ln/>
        </p:spPr>
        <p:txBody>
          <a:bodyPr wrap="square" lIns="0" tIns="0" rIns="0" bIns="0" rtlCol="0" anchor="ctr"/>
          <a:lstStyle/>
          <a:p>
            <a:pPr marL="0" indent="0" algn="ctr">
              <a:buNone/>
            </a:pPr>
            <a:r>
              <a:rPr lang="en-US" sz="3200" b="1" dirty="0">
                <a:solidFill>
                  <a:srgbClr val="7B45C8"/>
                </a:solidFill>
                <a:latin typeface="Quicksand" pitchFamily="34" charset="0"/>
                <a:ea typeface="Quicksand" pitchFamily="34" charset="-122"/>
                <a:cs typeface="Quicksand" pitchFamily="34" charset="-120"/>
              </a:rPr>
              <a:t>→</a:t>
            </a:r>
            <a:endParaRPr lang="en-US" sz="3200" dirty="0"/>
          </a:p>
        </p:txBody>
      </p:sp>
      <p:sp>
        <p:nvSpPr>
          <p:cNvPr id="12" name="Box3"/>
          <p:cNvSpPr/>
          <p:nvPr/>
        </p:nvSpPr>
        <p:spPr>
          <a:xfrm>
            <a:off x="8302960" y="3246120"/>
            <a:ext cx="3040000" cy="1371600"/>
          </a:xfrm>
          <a:prstGeom prst="roundRect">
            <a:avLst>
              <a:gd name="adj" fmla="val 6667"/>
            </a:avLst>
          </a:prstGeom>
          <a:solidFill>
            <a:srgbClr val="F7F3FD"/>
          </a:solidFill>
          <a:ln w="12700">
            <a:solidFill>
              <a:srgbClr val="E4D3F5"/>
            </a:solidFill>
            <a:prstDash val="solid"/>
          </a:ln>
          <a:effectLst>
            <a:outerShdw blurRad="203200" dist="50800" dir="5400000" algn="bl" rotWithShape="0">
              <a:srgbClr val="B9A9D6">
                <a:alpha val="22000"/>
              </a:srgbClr>
            </a:outerShdw>
          </a:effectLst>
        </p:spPr>
      </p:sp>
      <p:sp>
        <p:nvSpPr>
          <p:cNvPr id="13" name="Box3 Label"/>
          <p:cNvSpPr/>
          <p:nvPr/>
        </p:nvSpPr>
        <p:spPr>
          <a:xfrm>
            <a:off x="8302960" y="3502152"/>
            <a:ext cx="3040000" cy="274320"/>
          </a:xfrm>
          <a:prstGeom prst="rect">
            <a:avLst/>
          </a:prstGeom>
          <a:noFill/>
          <a:ln/>
        </p:spPr>
        <p:txBody>
          <a:bodyPr wrap="square" lIns="0" tIns="0" rIns="0" bIns="0" rtlCol="0" anchor="ctr"/>
          <a:lstStyle/>
          <a:p>
            <a:pPr marL="0" indent="0" algn="ctr">
              <a:buNone/>
            </a:pPr>
            <a:r>
              <a:rPr lang="en-US" sz="1100" b="1" kern="0" spc="30" dirty="0">
                <a:solidFill>
                  <a:srgbClr val="7B45C8"/>
                </a:solidFill>
                <a:latin typeface="Quicksand" pitchFamily="34" charset="0"/>
                <a:ea typeface="Quicksand" pitchFamily="34" charset="-122"/>
                <a:cs typeface="Quicksand" pitchFamily="34" charset="-120"/>
              </a:rPr>
              <a:t>LE CHANGEMENT DE POSTURE</a:t>
            </a:r>
            <a:endParaRPr lang="en-US" sz="1100" dirty="0"/>
          </a:p>
        </p:txBody>
      </p:sp>
      <p:sp>
        <p:nvSpPr>
          <p:cNvPr id="14" name="Box3 Text"/>
          <p:cNvSpPr/>
          <p:nvPr/>
        </p:nvSpPr>
        <p:spPr>
          <a:xfrm>
            <a:off x="8302960" y="3813048"/>
            <a:ext cx="3040000" cy="731520"/>
          </a:xfrm>
          <a:prstGeom prst="rect">
            <a:avLst/>
          </a:prstGeom>
          <a:noFill/>
          <a:ln/>
        </p:spPr>
        <p:txBody>
          <a:bodyPr wrap="square" lIns="0" tIns="0" rIns="0" bIns="0" rtlCol="0" anchor="ctr"/>
          <a:lstStyle/>
          <a:p>
            <a:pPr marL="0" indent="0" algn="ctr">
              <a:lnSpc>
                <a:spcPts val="2000"/>
              </a:lnSpc>
              <a:buNone/>
            </a:pPr>
            <a:r>
              <a:rPr lang="en-US" sz="1300" dirty="0">
                <a:solidFill>
                  <a:srgbClr val="2B2539"/>
                </a:solidFill>
                <a:latin typeface="Nunito" pitchFamily="34" charset="0"/>
                <a:ea typeface="Nunito" pitchFamily="34" charset="-122"/>
                <a:cs typeface="Nunito" pitchFamily="34" charset="-120"/>
              </a:rPr>
              <a:t>ce que ça a changé</a:t>
            </a:r>
            <a:endParaRPr lang="en-US" sz="1300" dirty="0"/>
          </a:p>
          <a:p>
            <a:pPr marL="0" indent="0" algn="ctr">
              <a:lnSpc>
                <a:spcPts val="2000"/>
              </a:lnSpc>
              <a:buNone/>
            </a:pPr>
            <a:r>
              <a:rPr lang="en-US" sz="1300" dirty="0">
                <a:solidFill>
                  <a:srgbClr val="2B2539"/>
                </a:solidFill>
                <a:latin typeface="Nunito" pitchFamily="34" charset="0"/>
                <a:ea typeface="Nunito" pitchFamily="34" charset="-122"/>
                <a:cs typeface="Nunito" pitchFamily="34" charset="-120"/>
              </a:rPr>
              <a:t>dans ma façon de penser</a:t>
            </a:r>
            <a:endParaRPr lang="en-US" sz="1300" dirty="0"/>
          </a:p>
        </p:txBody>
      </p:sp>
      <p:sp>
        <p:nvSpPr>
          <p:cNvPr id="15" name="Caption"/>
          <p:cNvSpPr/>
          <p:nvPr/>
        </p:nvSpPr>
        <p:spPr>
          <a:xfrm>
            <a:off x="822960" y="4800000"/>
            <a:ext cx="10519920" cy="300000"/>
          </a:xfrm>
          <a:prstGeom prst="rect">
            <a:avLst/>
          </a:prstGeom>
          <a:noFill/>
          <a:ln/>
        </p:spPr>
        <p:txBody>
          <a:bodyPr wrap="square" lIns="0" tIns="0" rIns="0" bIns="0" rtlCol="0" anchor="ctr"/>
          <a:lstStyle/>
          <a:p>
            <a:pPr marL="0" indent="0" algn="ctr">
              <a:buNone/>
            </a:pPr>
            <a:r>
              <a:rPr lang="en-US" sz="1300" i="1" dirty="0">
                <a:solidFill>
                  <a:srgbClr val="6A6380"/>
                </a:solidFill>
                <a:latin typeface="Nunito" pitchFamily="34" charset="0"/>
                <a:ea typeface="Nunito" pitchFamily="34" charset="-122"/>
                <a:cs typeface="Nunito" pitchFamily="34" charset="-120"/>
              </a:rPr>
              <a:t>Répété pour chacune des cinq années.</a:t>
            </a:r>
            <a:endParaRPr lang="en-US" sz="1300" dirty="0"/>
          </a:p>
        </p:txBody>
      </p:sp>
      <p:sp>
        <p:nvSpPr>
          <p:cNvPr id="16" name="Bottom"/>
          <p:cNvSpPr/>
          <p:nvPr/>
        </p:nvSpPr>
        <p:spPr>
          <a:xfrm>
            <a:off x="822960" y="5257800"/>
            <a:ext cx="10515600" cy="731520"/>
          </a:xfrm>
          <a:prstGeom prst="rect">
            <a:avLst/>
          </a:prstGeom>
          <a:noFill/>
          <a:ln/>
        </p:spPr>
        <p:txBody>
          <a:bodyPr wrap="square" lIns="0" tIns="0" rIns="0" bIns="0" rtlCol="0" anchor="ctr"/>
          <a:lstStyle/>
          <a:p>
            <a:pPr marL="0" indent="0">
              <a:lnSpc>
                <a:spcPts val="2200"/>
              </a:lnSpc>
              <a:buNone/>
            </a:pPr>
            <a:r>
              <a:rPr lang="en-US" sz="1550" dirty="0">
                <a:solidFill>
                  <a:srgbClr val="2B2539"/>
                </a:solidFill>
                <a:latin typeface="Nunito" pitchFamily="34" charset="0"/>
                <a:ea typeface="Nunito" pitchFamily="34" charset="-122"/>
                <a:cs typeface="Nunito" pitchFamily="34" charset="-120"/>
              </a:rPr>
              <a:t>Cinq années, cinq objets, un même regard : je ne raconte pas ce que j'ai fait, mais d'où je regarde aujourd'hui, et depuis quand.</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45000"/>
          </a:blip>
          <a:stretch>
            <a:fillRect/>
          </a:stretch>
        </p:blipFill>
        <p:spPr>
          <a:xfrm>
            <a:off x="9836647" y="1874520"/>
            <a:ext cx="1547633" cy="3794760"/>
          </a:xfrm>
          <a:prstGeom prst="rect">
            <a:avLst/>
          </a:prstGeom>
        </p:spPr>
      </p:pic>
      <p:sp>
        <p:nvSpPr>
          <p:cNvPr id="3" name="Text Annee"/>
          <p:cNvSpPr/>
          <p:nvPr/>
        </p:nvSpPr>
        <p:spPr>
          <a:xfrm>
            <a:off x="822960" y="73152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ANNÉE 1</a:t>
            </a:r>
            <a:endParaRPr lang="en-US" sz="1300" dirty="0"/>
          </a:p>
        </p:txBody>
      </p:sp>
      <p:pic>
        <p:nvPicPr>
          <p:cNvPr id="4" name="Image 1"/>
          <p:cNvPicPr>
            <a:picLocks noChangeAspect="1"/>
          </p:cNvPicPr>
          <p:nvPr/>
        </p:nvPicPr>
        <p:blipFill>
          <a:blip r:embed="rId4"/>
          <a:stretch>
            <a:fillRect/>
          </a:stretch>
        </p:blipFill>
        <p:spPr>
          <a:xfrm>
            <a:off x="822960" y="1051560"/>
            <a:ext cx="3757280" cy="749808"/>
          </a:xfrm>
          <a:prstGeom prst="rect">
            <a:avLst/>
          </a:prstGeom>
        </p:spPr>
      </p:pic>
      <p:sp>
        <p:nvSpPr>
          <p:cNvPr id="10" name="Label Avant"/>
          <p:cNvSpPr/>
          <p:nvPr/>
        </p:nvSpPr>
        <p:spPr>
          <a:xfrm>
            <a:off x="822960" y="1980000"/>
            <a:ext cx="6949440" cy="274320"/>
          </a:xfrm>
          <a:prstGeom prst="rect">
            <a:avLst/>
          </a:prstGeom>
          <a:noFill/>
          <a:ln/>
        </p:spPr>
        <p:txBody>
          <a:bodyPr wrap="square" lIns="0" tIns="0" rIns="0" bIns="0" rtlCol="0" anchor="ctr"/>
          <a:lstStyle/>
          <a:p>
            <a:pPr marL="0" indent="0">
              <a:buNone/>
            </a:pPr>
            <a:r>
              <a:rPr lang="en-US" sz="1200" b="1" kern="0" spc="200" dirty="0">
                <a:solidFill>
                  <a:srgbClr val="6B6478"/>
                </a:solidFill>
                <a:latin typeface="Quicksand" pitchFamily="34" charset="0"/>
                <a:ea typeface="Quicksand" pitchFamily="34" charset="-122"/>
                <a:cs typeface="Quicksand" pitchFamily="34" charset="-120"/>
              </a:rPr>
              <a:t>CE QUE JE PENSAIS</a:t>
            </a:r>
            <a:endParaRPr lang="en-US" sz="1200" dirty="0"/>
          </a:p>
        </p:txBody>
      </p:sp>
      <p:sp>
        <p:nvSpPr>
          <p:cNvPr id="11" name="Text Avant"/>
          <p:cNvSpPr/>
          <p:nvPr/>
        </p:nvSpPr>
        <p:spPr>
          <a:xfrm>
            <a:off x="822960" y="2270000"/>
            <a:ext cx="6949440" cy="430000"/>
          </a:xfrm>
          <a:prstGeom prst="rect">
            <a:avLst/>
          </a:prstGeom>
          <a:noFill/>
          <a:ln/>
        </p:spPr>
        <p:txBody>
          <a:bodyPr wrap="square" lIns="0" tIns="0" rIns="0" bIns="0" rtlCol="0" anchor="ctr"/>
          <a:lstStyle/>
          <a:p>
            <a:pPr marL="0" indent="0">
              <a:lnSpc>
                <a:spcPts val="2300"/>
              </a:lnSpc>
              <a:buNone/>
            </a:pPr>
            <a:r>
              <a:rPr lang="en-US" sz="1600" i="1" dirty="0">
                <a:solidFill>
                  <a:srgbClr val="6B6478"/>
                </a:solidFill>
                <a:latin typeface="Nunito" pitchFamily="34" charset="0"/>
                <a:ea typeface="Nunito" pitchFamily="34" charset="-122"/>
                <a:cs typeface="Nunito" pitchFamily="34" charset="-120"/>
              </a:rPr>
              <a:t>« Faire un site ou un produit, c'est uniquement le coder. »</a:t>
            </a:r>
            <a:endParaRPr lang="en-US" sz="1600" i="1" dirty="0"/>
          </a:p>
        </p:txBody>
      </p:sp>
      <p:sp>
        <p:nvSpPr>
          <p:cNvPr id="12" name="Arrow 1"/>
          <p:cNvSpPr/>
          <p:nvPr/>
        </p:nvSpPr>
        <p:spPr>
          <a:xfrm>
            <a:off x="822960" y="2740000"/>
            <a:ext cx="457200" cy="400000"/>
          </a:xfrm>
          <a:prstGeom prst="rect">
            <a:avLst/>
          </a:prstGeom>
          <a:noFill/>
          <a:ln/>
        </p:spPr>
        <p:txBody>
          <a:bodyPr wrap="square" lIns="0" tIns="0" rIns="0" bIns="0" rtlCol="0" anchor="ctr"/>
          <a:lstStyle/>
          <a:p>
            <a:pPr marL="0" indent="0">
              <a:buNone/>
            </a:pPr>
            <a:r>
              <a:rPr lang="en-US" sz="2200" b="1" dirty="0">
                <a:solidFill>
                  <a:srgbClr val="7B45C8"/>
                </a:solidFill>
                <a:latin typeface="Quicksand" pitchFamily="34" charset="0"/>
                <a:ea typeface="Quicksand" pitchFamily="34" charset="-122"/>
                <a:cs typeface="Quicksand" pitchFamily="34" charset="-120"/>
              </a:rPr>
              <a:t>↓</a:t>
            </a:r>
            <a:endParaRPr lang="en-US" sz="2200" dirty="0"/>
          </a:p>
        </p:txBody>
      </p:sp>
      <p:sp>
        <p:nvSpPr>
          <p:cNvPr id="5" name="Label Artefact"/>
          <p:cNvSpPr/>
          <p:nvPr/>
        </p:nvSpPr>
        <p:spPr>
          <a:xfrm>
            <a:off x="822960" y="3180000"/>
            <a:ext cx="6949440" cy="274320"/>
          </a:xfrm>
          <a:prstGeom prst="rect">
            <a:avLst/>
          </a:prstGeom>
          <a:noFill/>
          <a:ln/>
        </p:spPr>
        <p:txBody>
          <a:bodyPr wrap="square" lIns="0" tIns="0" rIns="0" bIns="0" rtlCol="0" anchor="ctr"/>
          <a:lstStyle/>
          <a:p>
            <a:pPr marL="0" indent="0">
              <a:buNone/>
            </a:pPr>
            <a:r>
              <a:rPr lang="en-US" sz="1200" b="1" kern="0" spc="200" dirty="0">
                <a:solidFill>
                  <a:srgbClr val="C9701E"/>
                </a:solidFill>
                <a:latin typeface="Quicksand" pitchFamily="34" charset="0"/>
                <a:ea typeface="Quicksand" pitchFamily="34" charset="-122"/>
                <a:cs typeface="Quicksand" pitchFamily="34" charset="-120"/>
              </a:rPr>
              <a:t>L'ARTEFACT</a:t>
            </a:r>
            <a:endParaRPr lang="en-US" sz="1200" dirty="0"/>
          </a:p>
        </p:txBody>
      </p:sp>
      <p:sp>
        <p:nvSpPr>
          <p:cNvPr id="6" name="Text Artefact"/>
          <p:cNvSpPr/>
          <p:nvPr/>
        </p:nvSpPr>
        <p:spPr>
          <a:xfrm>
            <a:off x="822960" y="3470000"/>
            <a:ext cx="6949440" cy="760000"/>
          </a:xfrm>
          <a:prstGeom prst="rect">
            <a:avLst/>
          </a:prstGeom>
          <a:noFill/>
          <a:ln/>
        </p:spPr>
        <p:txBody>
          <a:bodyPr wrap="square" lIns="0" tIns="0" rIns="0" bIns="0" rtlCol="0" anchor="t"/>
          <a:lstStyle/>
          <a:p>
            <a:pPr marL="0" indent="0">
              <a:lnSpc>
                <a:spcPts val="2300"/>
              </a:lnSpc>
              <a:buNone/>
            </a:pPr>
            <a:r>
              <a:rPr lang="en-US" sz="1600" dirty="0">
                <a:solidFill>
                  <a:srgbClr val="2B2539"/>
                </a:solidFill>
                <a:latin typeface="Nunito" pitchFamily="34" charset="0"/>
                <a:ea typeface="Nunito" pitchFamily="34" charset="-122"/>
                <a:cs typeface="Nunito" pitchFamily="34" charset="-120"/>
              </a:rPr>
              <a:t>L'arrivée à la Web School Factory, et deux stages d'été opposés : développement d'un côté, CRM et marketing de l'autre.</a:t>
            </a:r>
            <a:endParaRPr lang="en-US" sz="1600" dirty="0"/>
          </a:p>
        </p:txBody>
      </p:sp>
      <p:sp>
        <p:nvSpPr>
          <p:cNvPr id="7" name="Arrow 2"/>
          <p:cNvSpPr/>
          <p:nvPr/>
        </p:nvSpPr>
        <p:spPr>
          <a:xfrm>
            <a:off x="822960" y="4290000"/>
            <a:ext cx="457200" cy="400000"/>
          </a:xfrm>
          <a:prstGeom prst="rect">
            <a:avLst/>
          </a:prstGeom>
          <a:noFill/>
          <a:ln/>
        </p:spPr>
        <p:txBody>
          <a:bodyPr wrap="square" lIns="0" tIns="0" rIns="0" bIns="0" rtlCol="0" anchor="ctr"/>
          <a:lstStyle/>
          <a:p>
            <a:pPr marL="0" indent="0">
              <a:buNone/>
            </a:pPr>
            <a:r>
              <a:rPr lang="en-US" sz="2200" b="1" dirty="0">
                <a:solidFill>
                  <a:srgbClr val="7B45C8"/>
                </a:solidFill>
                <a:latin typeface="Quicksand" pitchFamily="34" charset="0"/>
                <a:ea typeface="Quicksand" pitchFamily="34" charset="-122"/>
                <a:cs typeface="Quicksand" pitchFamily="34" charset="-120"/>
              </a:rPr>
              <a:t>↓</a:t>
            </a:r>
            <a:endParaRPr lang="en-US" sz="2200" dirty="0"/>
          </a:p>
        </p:txBody>
      </p:sp>
      <p:sp>
        <p:nvSpPr>
          <p:cNvPr id="8" name="Label Posture"/>
          <p:cNvSpPr/>
          <p:nvPr/>
        </p:nvSpPr>
        <p:spPr>
          <a:xfrm>
            <a:off x="822960" y="4730000"/>
            <a:ext cx="6949440" cy="274320"/>
          </a:xfrm>
          <a:prstGeom prst="rect">
            <a:avLst/>
          </a:prstGeom>
          <a:noFill/>
          <a:ln/>
        </p:spPr>
        <p:txBody>
          <a:bodyPr wrap="square" lIns="0" tIns="0" rIns="0" bIns="0" rtlCol="0" anchor="ctr"/>
          <a:lstStyle/>
          <a:p>
            <a:pPr marL="0" indent="0">
              <a:buNone/>
            </a:pPr>
            <a:r>
              <a:rPr lang="en-US" sz="1200" b="1" kern="0" spc="100" dirty="0">
                <a:solidFill>
                  <a:srgbClr val="7B45C8"/>
                </a:solidFill>
                <a:latin typeface="Quicksand" pitchFamily="34" charset="0"/>
                <a:ea typeface="Quicksand" pitchFamily="34" charset="-122"/>
                <a:cs typeface="Quicksand" pitchFamily="34" charset="-120"/>
              </a:rPr>
              <a:t>LE CHANGEMENT DE POSTURE</a:t>
            </a:r>
            <a:endParaRPr lang="en-US" sz="1200" dirty="0"/>
          </a:p>
        </p:txBody>
      </p:sp>
      <p:sp>
        <p:nvSpPr>
          <p:cNvPr id="9" name="Text Posture"/>
          <p:cNvSpPr/>
          <p:nvPr/>
        </p:nvSpPr>
        <p:spPr>
          <a:xfrm>
            <a:off x="822960" y="5020000"/>
            <a:ext cx="7223760" cy="1250000"/>
          </a:xfrm>
          <a:prstGeom prst="rect">
            <a:avLst/>
          </a:prstGeom>
          <a:noFill/>
          <a:ln/>
        </p:spPr>
        <p:txBody>
          <a:bodyPr wrap="square" lIns="0" tIns="0" rIns="0" bIns="0" rtlCol="0" anchor="t"/>
          <a:lstStyle/>
          <a:p>
            <a:pPr marL="0" indent="0">
              <a:lnSpc>
                <a:spcPts val="2300"/>
              </a:lnSpc>
              <a:buNone/>
            </a:pPr>
            <a:r>
              <a:rPr lang="en-US" sz="1600" dirty="0">
                <a:solidFill>
                  <a:srgbClr val="2B2539"/>
                </a:solidFill>
                <a:latin typeface="Nunito" pitchFamily="34" charset="0"/>
                <a:ea typeface="Nunito" pitchFamily="34" charset="-122"/>
                <a:cs typeface="Nunito" pitchFamily="34" charset="-120"/>
              </a:rPr>
              <a:t>La découverte de l'UX : faire un site n'est plus seulement coder. </a:t>
            </a:r>
            <a:r>
              <a:rPr lang="en-US" sz="1600" b="1" dirty="0">
                <a:solidFill>
                  <a:srgbClr val="7B45C8"/>
                </a:solidFill>
                <a:latin typeface="Nunito" pitchFamily="34" charset="0"/>
                <a:ea typeface="Nunito" pitchFamily="34" charset="-122"/>
                <a:cs typeface="Nunito" pitchFamily="34" charset="-120"/>
              </a:rPr>
              <a:t>Ne jamais trancher entre technique et business était déjà le profil de Product Owner.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C:\Users\kirit\AppData\Local\Temp\claude\C--Users-kirit-OneDrive-Bureau-DreamWeave\1dfcbb64-69b7-40e1-93a9-2561d034242f\scratchpad\deck-memoire\img\num2.png"/>
          <p:cNvPicPr>
            <a:picLocks noChangeAspect="1"/>
          </p:cNvPicPr>
          <p:nvPr/>
        </p:nvPicPr>
        <p:blipFill>
          <a:blip r:embed="rId3">
            <a:alphaModFix amt="45000"/>
          </a:blip>
          <a:stretch>
            <a:fillRect/>
          </a:stretch>
        </p:blipFill>
        <p:spPr>
          <a:xfrm>
            <a:off x="8931884" y="1874520"/>
            <a:ext cx="2452396" cy="3794760"/>
          </a:xfrm>
          <a:prstGeom prst="rect">
            <a:avLst/>
          </a:prstGeom>
        </p:spPr>
      </p:pic>
      <p:sp>
        <p:nvSpPr>
          <p:cNvPr id="3" name="Text 0"/>
          <p:cNvSpPr/>
          <p:nvPr/>
        </p:nvSpPr>
        <p:spPr>
          <a:xfrm>
            <a:off x="822960" y="73152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ANNÉE 2</a:t>
            </a:r>
            <a:endParaRPr lang="en-US" sz="1300" dirty="0"/>
          </a:p>
        </p:txBody>
      </p:sp>
      <p:pic>
        <p:nvPicPr>
          <p:cNvPr id="4" name="Image 1" descr="C:\Users\kirit\AppData\Local\Temp\claude\C--Users-kirit-OneDrive-Bureau-DreamWeave\1dfcbb64-69b7-40e1-93a9-2561d034242f\scratchpad\deck-memoire\img\chap2.png"/>
          <p:cNvPicPr>
            <a:picLocks noChangeAspect="1"/>
          </p:cNvPicPr>
          <p:nvPr/>
        </p:nvPicPr>
        <p:blipFill>
          <a:blip r:embed="rId4"/>
          <a:stretch>
            <a:fillRect/>
          </a:stretch>
        </p:blipFill>
        <p:spPr>
          <a:xfrm>
            <a:off x="822960" y="1051560"/>
            <a:ext cx="4254529" cy="749808"/>
          </a:xfrm>
          <a:prstGeom prst="rect">
            <a:avLst/>
          </a:prstGeom>
        </p:spPr>
      </p:pic>
      <p:sp>
        <p:nvSpPr>
          <p:cNvPr id="20" name="Label Avant"/>
          <p:cNvSpPr/>
          <p:nvPr/>
        </p:nvSpPr>
        <p:spPr>
          <a:xfrm>
            <a:off x="822960" y="1980000"/>
            <a:ext cx="6949440" cy="274320"/>
          </a:xfrm>
          <a:prstGeom prst="rect">
            <a:avLst/>
          </a:prstGeom>
          <a:noFill/>
          <a:ln/>
        </p:spPr>
        <p:txBody>
          <a:bodyPr wrap="square" lIns="0" tIns="0" rIns="0" bIns="0" rtlCol="0" anchor="ctr"/>
          <a:lstStyle/>
          <a:p>
            <a:pPr marL="0" indent="0">
              <a:buNone/>
            </a:pPr>
            <a:r>
              <a:rPr lang="en-US" sz="1200" b="1" kern="0" spc="200" dirty="0">
                <a:solidFill>
                  <a:srgbClr val="6B6478"/>
                </a:solidFill>
                <a:latin typeface="Quicksand" pitchFamily="34" charset="0"/>
                <a:ea typeface="Quicksand" pitchFamily="34" charset="-122"/>
                <a:cs typeface="Quicksand" pitchFamily="34" charset="-120"/>
              </a:rPr>
              <a:t>CE QUE JE PENSAIS</a:t>
            </a:r>
            <a:endParaRPr lang="en-US" sz="1200" dirty="0"/>
          </a:p>
        </p:txBody>
      </p:sp>
      <p:sp>
        <p:nvSpPr>
          <p:cNvPr id="21" name="Text Avant"/>
          <p:cNvSpPr/>
          <p:nvPr/>
        </p:nvSpPr>
        <p:spPr>
          <a:xfrm>
            <a:off x="822960" y="2270000"/>
            <a:ext cx="6949440" cy="430000"/>
          </a:xfrm>
          <a:prstGeom prst="rect">
            <a:avLst/>
          </a:prstGeom>
          <a:noFill/>
          <a:ln/>
        </p:spPr>
        <p:txBody>
          <a:bodyPr wrap="square" lIns="0" tIns="0" rIns="0" bIns="0" rtlCol="0" anchor="ctr"/>
          <a:lstStyle/>
          <a:p>
            <a:pPr marL="0" indent="0">
              <a:lnSpc>
                <a:spcPts val="2300"/>
              </a:lnSpc>
              <a:buNone/>
            </a:pPr>
            <a:r>
              <a:rPr lang="en-US" sz="1600" i="1" dirty="0">
                <a:solidFill>
                  <a:srgbClr val="6B6478"/>
                </a:solidFill>
                <a:latin typeface="Nunito" pitchFamily="34" charset="0"/>
                <a:ea typeface="Nunito" pitchFamily="34" charset="-122"/>
                <a:cs typeface="Nunito" pitchFamily="34" charset="-120"/>
              </a:rPr>
              <a:t>« Analyser une situation, c'est décrire ce que j'observe. »</a:t>
            </a:r>
            <a:endParaRPr lang="en-US" sz="1600" i="1" dirty="0"/>
          </a:p>
        </p:txBody>
      </p:sp>
      <p:sp>
        <p:nvSpPr>
          <p:cNvPr id="22" name="Arrow 1"/>
          <p:cNvSpPr/>
          <p:nvPr/>
        </p:nvSpPr>
        <p:spPr>
          <a:xfrm>
            <a:off x="822960" y="2740000"/>
            <a:ext cx="457200" cy="400000"/>
          </a:xfrm>
          <a:prstGeom prst="rect">
            <a:avLst/>
          </a:prstGeom>
          <a:noFill/>
          <a:ln/>
        </p:spPr>
        <p:txBody>
          <a:bodyPr wrap="square" lIns="0" tIns="0" rIns="0" bIns="0" rtlCol="0" anchor="ctr"/>
          <a:lstStyle/>
          <a:p>
            <a:pPr marL="0" indent="0">
              <a:buNone/>
            </a:pPr>
            <a:r>
              <a:rPr lang="en-US" sz="2200" b="1" dirty="0">
                <a:solidFill>
                  <a:srgbClr val="7B45C8"/>
                </a:solidFill>
                <a:latin typeface="Quicksand" pitchFamily="34" charset="0"/>
                <a:ea typeface="Quicksand" pitchFamily="34" charset="-122"/>
                <a:cs typeface="Quicksand" pitchFamily="34" charset="-120"/>
              </a:rPr>
              <a:t>↓</a:t>
            </a:r>
            <a:endParaRPr lang="en-US" sz="2200" dirty="0"/>
          </a:p>
        </p:txBody>
      </p:sp>
      <p:sp>
        <p:nvSpPr>
          <p:cNvPr id="5" name="Text 1"/>
          <p:cNvSpPr/>
          <p:nvPr/>
        </p:nvSpPr>
        <p:spPr>
          <a:xfrm>
            <a:off x="822960" y="3180000"/>
            <a:ext cx="6949440" cy="274320"/>
          </a:xfrm>
          <a:prstGeom prst="rect">
            <a:avLst/>
          </a:prstGeom>
          <a:noFill/>
          <a:ln/>
        </p:spPr>
        <p:txBody>
          <a:bodyPr wrap="square" lIns="0" tIns="0" rIns="0" bIns="0" rtlCol="0" anchor="ctr"/>
          <a:lstStyle/>
          <a:p>
            <a:pPr marL="0" indent="0">
              <a:buNone/>
            </a:pPr>
            <a:r>
              <a:rPr lang="en-US" sz="1200" b="1" kern="0" spc="200" dirty="0">
                <a:solidFill>
                  <a:srgbClr val="C9701E"/>
                </a:solidFill>
                <a:latin typeface="Quicksand" pitchFamily="34" charset="0"/>
                <a:ea typeface="Quicksand" pitchFamily="34" charset="-122"/>
                <a:cs typeface="Quicksand" pitchFamily="34" charset="-120"/>
              </a:rPr>
              <a:t>L'ARTEFACT</a:t>
            </a:r>
            <a:endParaRPr lang="en-US" sz="1200" dirty="0"/>
          </a:p>
        </p:txBody>
      </p:sp>
      <p:sp>
        <p:nvSpPr>
          <p:cNvPr id="6" name="Text 2"/>
          <p:cNvSpPr/>
          <p:nvPr/>
        </p:nvSpPr>
        <p:spPr>
          <a:xfrm>
            <a:off x="822960" y="3470000"/>
            <a:ext cx="6949440" cy="760000"/>
          </a:xfrm>
          <a:prstGeom prst="rect">
            <a:avLst/>
          </a:prstGeom>
          <a:noFill/>
          <a:ln/>
        </p:spPr>
        <p:txBody>
          <a:bodyPr wrap="square" lIns="0" tIns="0" rIns="0" bIns="0" rtlCol="0" anchor="t"/>
          <a:lstStyle/>
          <a:p>
            <a:pPr marL="0" indent="0">
              <a:lnSpc>
                <a:spcPts val="2300"/>
              </a:lnSpc>
              <a:buNone/>
            </a:pPr>
            <a:r>
              <a:rPr lang="en-US" sz="1600" dirty="0">
                <a:solidFill>
                  <a:srgbClr val="2B2539"/>
                </a:solidFill>
                <a:latin typeface="Nunito" pitchFamily="34" charset="0"/>
                <a:ea typeface="Nunito" pitchFamily="34" charset="-122"/>
                <a:cs typeface="Nunito" pitchFamily="34" charset="-120"/>
              </a:rPr>
              <a:t>Une ethnographie de terrain sur les personnes sans-abri du métro parisien.</a:t>
            </a:r>
            <a:endParaRPr lang="en-US" sz="1600" dirty="0"/>
          </a:p>
        </p:txBody>
      </p:sp>
      <p:sp>
        <p:nvSpPr>
          <p:cNvPr id="7" name="Text 3"/>
          <p:cNvSpPr/>
          <p:nvPr/>
        </p:nvSpPr>
        <p:spPr>
          <a:xfrm>
            <a:off x="822960" y="4290000"/>
            <a:ext cx="457200" cy="400000"/>
          </a:xfrm>
          <a:prstGeom prst="rect">
            <a:avLst/>
          </a:prstGeom>
          <a:noFill/>
          <a:ln/>
        </p:spPr>
        <p:txBody>
          <a:bodyPr wrap="square" lIns="0" tIns="0" rIns="0" bIns="0" rtlCol="0" anchor="ctr"/>
          <a:lstStyle/>
          <a:p>
            <a:pPr marL="0" indent="0">
              <a:buNone/>
            </a:pPr>
            <a:r>
              <a:rPr lang="en-US" sz="2200" b="1" dirty="0">
                <a:solidFill>
                  <a:srgbClr val="7B45C8"/>
                </a:solidFill>
                <a:latin typeface="Quicksand" pitchFamily="34" charset="0"/>
                <a:ea typeface="Quicksand" pitchFamily="34" charset="-122"/>
                <a:cs typeface="Quicksand" pitchFamily="34" charset="-120"/>
              </a:rPr>
              <a:t>↓</a:t>
            </a:r>
            <a:endParaRPr lang="en-US" sz="2200" dirty="0"/>
          </a:p>
        </p:txBody>
      </p:sp>
      <p:sp>
        <p:nvSpPr>
          <p:cNvPr id="8" name="Text 4"/>
          <p:cNvSpPr/>
          <p:nvPr/>
        </p:nvSpPr>
        <p:spPr>
          <a:xfrm>
            <a:off x="822960" y="4730000"/>
            <a:ext cx="6949440" cy="274320"/>
          </a:xfrm>
          <a:prstGeom prst="rect">
            <a:avLst/>
          </a:prstGeom>
          <a:noFill/>
          <a:ln/>
        </p:spPr>
        <p:txBody>
          <a:bodyPr wrap="square" lIns="0" tIns="0" rIns="0" bIns="0" rtlCol="0" anchor="ctr"/>
          <a:lstStyle/>
          <a:p>
            <a:pPr marL="0" indent="0">
              <a:buNone/>
            </a:pPr>
            <a:r>
              <a:rPr lang="en-US" sz="1200" b="1" kern="0" spc="100" dirty="0">
                <a:solidFill>
                  <a:srgbClr val="7B45C8"/>
                </a:solidFill>
                <a:latin typeface="Quicksand" pitchFamily="34" charset="0"/>
                <a:ea typeface="Quicksand" pitchFamily="34" charset="-122"/>
                <a:cs typeface="Quicksand" pitchFamily="34" charset="-120"/>
              </a:rPr>
              <a:t>LE CHANGEMENT DE POSTURE</a:t>
            </a:r>
            <a:endParaRPr lang="en-US" sz="1200" dirty="0"/>
          </a:p>
        </p:txBody>
      </p:sp>
      <p:sp>
        <p:nvSpPr>
          <p:cNvPr id="9" name="Text 5"/>
          <p:cNvSpPr/>
          <p:nvPr/>
        </p:nvSpPr>
        <p:spPr>
          <a:xfrm>
            <a:off x="822960" y="5020000"/>
            <a:ext cx="7223760" cy="1250000"/>
          </a:xfrm>
          <a:prstGeom prst="rect">
            <a:avLst/>
          </a:prstGeom>
          <a:noFill/>
          <a:ln/>
        </p:spPr>
        <p:txBody>
          <a:bodyPr wrap="square" lIns="0" tIns="0" rIns="0" bIns="0" rtlCol="0" anchor="t"/>
          <a:lstStyle/>
          <a:p>
            <a:pPr marL="0" indent="0">
              <a:lnSpc>
                <a:spcPts val="2300"/>
              </a:lnSpc>
              <a:buNone/>
            </a:pPr>
            <a:r>
              <a:rPr lang="en-US" sz="1600" dirty="0">
                <a:solidFill>
                  <a:srgbClr val="2B2539"/>
                </a:solidFill>
                <a:latin typeface="Nunito" pitchFamily="34" charset="0"/>
                <a:ea typeface="Nunito" pitchFamily="34" charset="-122"/>
                <a:cs typeface="Nunito" pitchFamily="34" charset="-120"/>
              </a:rPr>
              <a:t>Se demander d'où je regarde avant de juger ; la forme compte autant que le fond. </a:t>
            </a:r>
            <a:r>
              <a:rPr lang="en-US" sz="1600" b="1" dirty="0">
                <a:solidFill>
                  <a:srgbClr val="7B45C8"/>
                </a:solidFill>
                <a:latin typeface="Nunito" pitchFamily="34" charset="0"/>
                <a:ea typeface="Nunito" pitchFamily="34" charset="-122"/>
                <a:cs typeface="Nunito" pitchFamily="34" charset="-120"/>
              </a:rPr>
              <a:t>Et l'IA entre discrètement dans ma vie.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C:\Users\kirit\AppData\Local\Temp\claude\C--Users-kirit-OneDrive-Bureau-DreamWeave\1dfcbb64-69b7-40e1-93a9-2561d034242f\scratchpad\deck-memoire\img\num3.png"/>
          <p:cNvPicPr>
            <a:picLocks noChangeAspect="1"/>
          </p:cNvPicPr>
          <p:nvPr/>
        </p:nvPicPr>
        <p:blipFill>
          <a:blip r:embed="rId3">
            <a:alphaModFix amt="45000"/>
          </a:blip>
          <a:stretch>
            <a:fillRect/>
          </a:stretch>
        </p:blipFill>
        <p:spPr>
          <a:xfrm>
            <a:off x="8941078" y="1874520"/>
            <a:ext cx="2443202" cy="3794760"/>
          </a:xfrm>
          <a:prstGeom prst="rect">
            <a:avLst/>
          </a:prstGeom>
        </p:spPr>
      </p:pic>
      <p:sp>
        <p:nvSpPr>
          <p:cNvPr id="3" name="Text 0"/>
          <p:cNvSpPr/>
          <p:nvPr/>
        </p:nvSpPr>
        <p:spPr>
          <a:xfrm>
            <a:off x="822960" y="73152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ANNÉE 3</a:t>
            </a:r>
            <a:endParaRPr lang="en-US" sz="1300" dirty="0"/>
          </a:p>
        </p:txBody>
      </p:sp>
      <p:pic>
        <p:nvPicPr>
          <p:cNvPr id="4" name="Image 1" descr="C:\Users\kirit\AppData\Local\Temp\claude\C--Users-kirit-OneDrive-Bureau-DreamWeave\1dfcbb64-69b7-40e1-93a9-2561d034242f\scratchpad\deck-memoire\img\chap3.png"/>
          <p:cNvPicPr>
            <a:picLocks noChangeAspect="1"/>
          </p:cNvPicPr>
          <p:nvPr/>
        </p:nvPicPr>
        <p:blipFill>
          <a:blip r:embed="rId4"/>
          <a:stretch>
            <a:fillRect/>
          </a:stretch>
        </p:blipFill>
        <p:spPr>
          <a:xfrm>
            <a:off x="822960" y="1051560"/>
            <a:ext cx="3574666" cy="749808"/>
          </a:xfrm>
          <a:prstGeom prst="rect">
            <a:avLst/>
          </a:prstGeom>
        </p:spPr>
      </p:pic>
      <p:sp>
        <p:nvSpPr>
          <p:cNvPr id="20" name="Label Avant"/>
          <p:cNvSpPr/>
          <p:nvPr/>
        </p:nvSpPr>
        <p:spPr>
          <a:xfrm>
            <a:off x="822960" y="1980000"/>
            <a:ext cx="6949440" cy="274320"/>
          </a:xfrm>
          <a:prstGeom prst="rect">
            <a:avLst/>
          </a:prstGeom>
          <a:noFill/>
          <a:ln/>
        </p:spPr>
        <p:txBody>
          <a:bodyPr wrap="square" lIns="0" tIns="0" rIns="0" bIns="0" rtlCol="0" anchor="ctr"/>
          <a:lstStyle/>
          <a:p>
            <a:pPr marL="0" indent="0">
              <a:buNone/>
            </a:pPr>
            <a:r>
              <a:rPr lang="en-US" sz="1200" b="1" kern="0" spc="200" dirty="0">
                <a:solidFill>
                  <a:srgbClr val="6B6478"/>
                </a:solidFill>
                <a:latin typeface="Quicksand" pitchFamily="34" charset="0"/>
                <a:ea typeface="Quicksand" pitchFamily="34" charset="-122"/>
                <a:cs typeface="Quicksand" pitchFamily="34" charset="-120"/>
              </a:rPr>
              <a:t>CE QUE JE PENSAIS</a:t>
            </a:r>
            <a:endParaRPr lang="en-US" sz="1200" dirty="0"/>
          </a:p>
        </p:txBody>
      </p:sp>
      <p:sp>
        <p:nvSpPr>
          <p:cNvPr id="21" name="Text Avant"/>
          <p:cNvSpPr/>
          <p:nvPr/>
        </p:nvSpPr>
        <p:spPr>
          <a:xfrm>
            <a:off x="822960" y="2270000"/>
            <a:ext cx="6949440" cy="430000"/>
          </a:xfrm>
          <a:prstGeom prst="rect">
            <a:avLst/>
          </a:prstGeom>
          <a:noFill/>
          <a:ln/>
        </p:spPr>
        <p:txBody>
          <a:bodyPr wrap="square" lIns="0" tIns="0" rIns="0" bIns="0" rtlCol="0" anchor="ctr"/>
          <a:lstStyle/>
          <a:p>
            <a:pPr marL="0" indent="0">
              <a:lnSpc>
                <a:spcPts val="2300"/>
              </a:lnSpc>
              <a:buNone/>
            </a:pPr>
            <a:r>
              <a:rPr lang="en-US" sz="1600" i="1" dirty="0">
                <a:solidFill>
                  <a:srgbClr val="6B6478"/>
                </a:solidFill>
                <a:latin typeface="Nunito" pitchFamily="34" charset="0"/>
                <a:ea typeface="Nunito" pitchFamily="34" charset="-122"/>
                <a:cs typeface="Nunito" pitchFamily="34" charset="-120"/>
              </a:rPr>
              <a:t>« Réussir un projet, c'est qu'il marche le jour de la démo. »</a:t>
            </a:r>
            <a:endParaRPr lang="en-US" sz="1600" i="1" dirty="0"/>
          </a:p>
        </p:txBody>
      </p:sp>
      <p:sp>
        <p:nvSpPr>
          <p:cNvPr id="22" name="Arrow 1"/>
          <p:cNvSpPr/>
          <p:nvPr/>
        </p:nvSpPr>
        <p:spPr>
          <a:xfrm>
            <a:off x="822960" y="2740000"/>
            <a:ext cx="457200" cy="400000"/>
          </a:xfrm>
          <a:prstGeom prst="rect">
            <a:avLst/>
          </a:prstGeom>
          <a:noFill/>
          <a:ln/>
        </p:spPr>
        <p:txBody>
          <a:bodyPr wrap="square" lIns="0" tIns="0" rIns="0" bIns="0" rtlCol="0" anchor="ctr"/>
          <a:lstStyle/>
          <a:p>
            <a:pPr marL="0" indent="0">
              <a:buNone/>
            </a:pPr>
            <a:r>
              <a:rPr lang="en-US" sz="2200" b="1" dirty="0">
                <a:solidFill>
                  <a:srgbClr val="7B45C8"/>
                </a:solidFill>
                <a:latin typeface="Quicksand" pitchFamily="34" charset="0"/>
                <a:ea typeface="Quicksand" pitchFamily="34" charset="-122"/>
                <a:cs typeface="Quicksand" pitchFamily="34" charset="-120"/>
              </a:rPr>
              <a:t>↓</a:t>
            </a:r>
            <a:endParaRPr lang="en-US" sz="2200" dirty="0"/>
          </a:p>
        </p:txBody>
      </p:sp>
      <p:sp>
        <p:nvSpPr>
          <p:cNvPr id="5" name="Text 1"/>
          <p:cNvSpPr/>
          <p:nvPr/>
        </p:nvSpPr>
        <p:spPr>
          <a:xfrm>
            <a:off x="822960" y="3180000"/>
            <a:ext cx="6949440" cy="274320"/>
          </a:xfrm>
          <a:prstGeom prst="rect">
            <a:avLst/>
          </a:prstGeom>
          <a:noFill/>
          <a:ln/>
        </p:spPr>
        <p:txBody>
          <a:bodyPr wrap="square" lIns="0" tIns="0" rIns="0" bIns="0" rtlCol="0" anchor="ctr"/>
          <a:lstStyle/>
          <a:p>
            <a:pPr marL="0" indent="0">
              <a:buNone/>
            </a:pPr>
            <a:r>
              <a:rPr lang="en-US" sz="1200" b="1" kern="0" spc="200" dirty="0">
                <a:solidFill>
                  <a:srgbClr val="C9701E"/>
                </a:solidFill>
                <a:latin typeface="Quicksand" pitchFamily="34" charset="0"/>
                <a:ea typeface="Quicksand" pitchFamily="34" charset="-122"/>
                <a:cs typeface="Quicksand" pitchFamily="34" charset="-120"/>
              </a:rPr>
              <a:t>L'ARTEFACT</a:t>
            </a:r>
            <a:endParaRPr lang="en-US" sz="1200" dirty="0"/>
          </a:p>
        </p:txBody>
      </p:sp>
      <p:sp>
        <p:nvSpPr>
          <p:cNvPr id="6" name="Text 2"/>
          <p:cNvSpPr/>
          <p:nvPr/>
        </p:nvSpPr>
        <p:spPr>
          <a:xfrm>
            <a:off x="822960" y="3470000"/>
            <a:ext cx="6949440" cy="760000"/>
          </a:xfrm>
          <a:prstGeom prst="rect">
            <a:avLst/>
          </a:prstGeom>
          <a:noFill/>
          <a:ln/>
        </p:spPr>
        <p:txBody>
          <a:bodyPr wrap="square" lIns="0" tIns="0" rIns="0" bIns="0" rtlCol="0" anchor="t"/>
          <a:lstStyle/>
          <a:p>
            <a:pPr marL="0" indent="0">
              <a:lnSpc>
                <a:spcPts val="2300"/>
              </a:lnSpc>
              <a:buNone/>
            </a:pPr>
            <a:r>
              <a:rPr lang="en-US" sz="1600" dirty="0">
                <a:solidFill>
                  <a:srgbClr val="2B2539"/>
                </a:solidFill>
                <a:latin typeface="Nunito" pitchFamily="34" charset="0"/>
                <a:ea typeface="Nunito" pitchFamily="34" charset="-122"/>
                <a:cs typeface="Nunito" pitchFamily="34" charset="-120"/>
              </a:rPr>
              <a:t>L'année la plus technique : plusieurs projets de développement, et un semestre à Dublin.</a:t>
            </a:r>
            <a:endParaRPr lang="en-US" sz="1600" dirty="0"/>
          </a:p>
        </p:txBody>
      </p:sp>
      <p:sp>
        <p:nvSpPr>
          <p:cNvPr id="7" name="Text 3"/>
          <p:cNvSpPr/>
          <p:nvPr/>
        </p:nvSpPr>
        <p:spPr>
          <a:xfrm>
            <a:off x="822960" y="4290000"/>
            <a:ext cx="457200" cy="400000"/>
          </a:xfrm>
          <a:prstGeom prst="rect">
            <a:avLst/>
          </a:prstGeom>
          <a:noFill/>
          <a:ln/>
        </p:spPr>
        <p:txBody>
          <a:bodyPr wrap="square" lIns="0" tIns="0" rIns="0" bIns="0" rtlCol="0" anchor="ctr"/>
          <a:lstStyle/>
          <a:p>
            <a:pPr marL="0" indent="0">
              <a:buNone/>
            </a:pPr>
            <a:r>
              <a:rPr lang="en-US" sz="2200" b="1" dirty="0">
                <a:solidFill>
                  <a:srgbClr val="7B45C8"/>
                </a:solidFill>
                <a:latin typeface="Quicksand" pitchFamily="34" charset="0"/>
                <a:ea typeface="Quicksand" pitchFamily="34" charset="-122"/>
                <a:cs typeface="Quicksand" pitchFamily="34" charset="-120"/>
              </a:rPr>
              <a:t>↓</a:t>
            </a:r>
            <a:endParaRPr lang="en-US" sz="2200" dirty="0"/>
          </a:p>
        </p:txBody>
      </p:sp>
      <p:sp>
        <p:nvSpPr>
          <p:cNvPr id="8" name="Text 4"/>
          <p:cNvSpPr/>
          <p:nvPr/>
        </p:nvSpPr>
        <p:spPr>
          <a:xfrm>
            <a:off x="822960" y="4730000"/>
            <a:ext cx="6949440" cy="274320"/>
          </a:xfrm>
          <a:prstGeom prst="rect">
            <a:avLst/>
          </a:prstGeom>
          <a:noFill/>
          <a:ln/>
        </p:spPr>
        <p:txBody>
          <a:bodyPr wrap="square" lIns="0" tIns="0" rIns="0" bIns="0" rtlCol="0" anchor="ctr"/>
          <a:lstStyle/>
          <a:p>
            <a:pPr marL="0" indent="0">
              <a:buNone/>
            </a:pPr>
            <a:r>
              <a:rPr lang="en-US" sz="1200" b="1" kern="0" spc="100" dirty="0">
                <a:solidFill>
                  <a:srgbClr val="7B45C8"/>
                </a:solidFill>
                <a:latin typeface="Quicksand" pitchFamily="34" charset="0"/>
                <a:ea typeface="Quicksand" pitchFamily="34" charset="-122"/>
                <a:cs typeface="Quicksand" pitchFamily="34" charset="-120"/>
              </a:rPr>
              <a:t>LE CHANGEMENT DE POSTURE</a:t>
            </a:r>
            <a:endParaRPr lang="en-US" sz="1200" dirty="0"/>
          </a:p>
        </p:txBody>
      </p:sp>
      <p:sp>
        <p:nvSpPr>
          <p:cNvPr id="9" name="Text 5"/>
          <p:cNvSpPr/>
          <p:nvPr/>
        </p:nvSpPr>
        <p:spPr>
          <a:xfrm>
            <a:off x="822960" y="5020000"/>
            <a:ext cx="7223760" cy="1250000"/>
          </a:xfrm>
          <a:prstGeom prst="rect">
            <a:avLst/>
          </a:prstGeom>
          <a:noFill/>
          <a:ln/>
        </p:spPr>
        <p:txBody>
          <a:bodyPr wrap="square" lIns="0" tIns="0" rIns="0" bIns="0" rtlCol="0" anchor="t"/>
          <a:lstStyle/>
          <a:p>
            <a:pPr marL="0" indent="0">
              <a:lnSpc>
                <a:spcPts val="2300"/>
              </a:lnSpc>
              <a:buNone/>
            </a:pPr>
            <a:r>
              <a:rPr lang="en-US" sz="1600" b="1" dirty="0">
                <a:solidFill>
                  <a:srgbClr val="7B45C8"/>
                </a:solidFill>
                <a:latin typeface="Nunito" pitchFamily="34" charset="0"/>
                <a:ea typeface="Nunito" pitchFamily="34" charset="-122"/>
                <a:cs typeface="Nunito" pitchFamily="34" charset="-120"/>
              </a:rPr>
              <a:t>Faire marcher une démo n'est pas livrer un produit qui tient. </a:t>
            </a:r>
            <a:r>
              <a:rPr lang="en-US" sz="1600" dirty="0">
                <a:solidFill>
                  <a:srgbClr val="2B2539"/>
                </a:solidFill>
                <a:latin typeface="Nunito" pitchFamily="34" charset="0"/>
                <a:ea typeface="Nunito" pitchFamily="34" charset="-122"/>
                <a:cs typeface="Nunito" pitchFamily="34" charset="-120"/>
              </a:rPr>
              <a:t>Dublin compte moins pour les compétences que pour la personne que j'en suis revenu.</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C:\Users\kirit\AppData\Local\Temp\claude\C--Users-kirit-OneDrive-Bureau-DreamWeave\1dfcbb64-69b7-40e1-93a9-2561d034242f\scratchpad\deck-memoire\img\num4.png"/>
          <p:cNvPicPr>
            <a:picLocks noChangeAspect="1"/>
          </p:cNvPicPr>
          <p:nvPr/>
        </p:nvPicPr>
        <p:blipFill>
          <a:blip r:embed="rId3">
            <a:alphaModFix amt="45000"/>
          </a:blip>
          <a:stretch>
            <a:fillRect/>
          </a:stretch>
        </p:blipFill>
        <p:spPr>
          <a:xfrm>
            <a:off x="8376452" y="1874520"/>
            <a:ext cx="3007828" cy="3794760"/>
          </a:xfrm>
          <a:prstGeom prst="rect">
            <a:avLst/>
          </a:prstGeom>
        </p:spPr>
      </p:pic>
      <p:sp>
        <p:nvSpPr>
          <p:cNvPr id="3" name="Text 0"/>
          <p:cNvSpPr/>
          <p:nvPr/>
        </p:nvSpPr>
        <p:spPr>
          <a:xfrm>
            <a:off x="822960" y="73152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ANNÉE 4</a:t>
            </a:r>
            <a:endParaRPr lang="en-US" sz="1300" dirty="0"/>
          </a:p>
        </p:txBody>
      </p:sp>
      <p:pic>
        <p:nvPicPr>
          <p:cNvPr id="4" name="Image 1" descr="C:\Users\kirit\AppData\Local\Temp\claude\C--Users-kirit-OneDrive-Bureau-DreamWeave\1dfcbb64-69b7-40e1-93a9-2561d034242f\scratchpad\deck-memoire\img\chap4.png"/>
          <p:cNvPicPr>
            <a:picLocks noChangeAspect="1"/>
          </p:cNvPicPr>
          <p:nvPr/>
        </p:nvPicPr>
        <p:blipFill>
          <a:blip r:embed="rId4"/>
          <a:stretch>
            <a:fillRect/>
          </a:stretch>
        </p:blipFill>
        <p:spPr>
          <a:xfrm>
            <a:off x="822960" y="1051560"/>
            <a:ext cx="4658919" cy="749808"/>
          </a:xfrm>
          <a:prstGeom prst="rect">
            <a:avLst/>
          </a:prstGeom>
        </p:spPr>
      </p:pic>
      <p:sp>
        <p:nvSpPr>
          <p:cNvPr id="20" name="Label Avant"/>
          <p:cNvSpPr/>
          <p:nvPr/>
        </p:nvSpPr>
        <p:spPr>
          <a:xfrm>
            <a:off x="822960" y="1980000"/>
            <a:ext cx="6949440" cy="274320"/>
          </a:xfrm>
          <a:prstGeom prst="rect">
            <a:avLst/>
          </a:prstGeom>
          <a:noFill/>
          <a:ln/>
        </p:spPr>
        <p:txBody>
          <a:bodyPr wrap="square" lIns="0" tIns="0" rIns="0" bIns="0" rtlCol="0" anchor="ctr"/>
          <a:lstStyle/>
          <a:p>
            <a:pPr marL="0" indent="0">
              <a:buNone/>
            </a:pPr>
            <a:r>
              <a:rPr lang="en-US" sz="1200" b="1" kern="0" spc="200" dirty="0">
                <a:solidFill>
                  <a:srgbClr val="6B6478"/>
                </a:solidFill>
                <a:latin typeface="Quicksand" pitchFamily="34" charset="0"/>
                <a:ea typeface="Quicksand" pitchFamily="34" charset="-122"/>
                <a:cs typeface="Quicksand" pitchFamily="34" charset="-120"/>
              </a:rPr>
              <a:t>CE QUE JE PENSAIS</a:t>
            </a:r>
            <a:endParaRPr lang="en-US" sz="1200" dirty="0"/>
          </a:p>
        </p:txBody>
      </p:sp>
      <p:sp>
        <p:nvSpPr>
          <p:cNvPr id="21" name="Text Avant"/>
          <p:cNvSpPr/>
          <p:nvPr/>
        </p:nvSpPr>
        <p:spPr>
          <a:xfrm>
            <a:off x="822960" y="2270000"/>
            <a:ext cx="6949440" cy="430000"/>
          </a:xfrm>
          <a:prstGeom prst="rect">
            <a:avLst/>
          </a:prstGeom>
          <a:noFill/>
          <a:ln/>
        </p:spPr>
        <p:txBody>
          <a:bodyPr wrap="square" lIns="0" tIns="0" rIns="0" bIns="0" rtlCol="0" anchor="ctr"/>
          <a:lstStyle/>
          <a:p>
            <a:pPr marL="0" indent="0">
              <a:lnSpc>
                <a:spcPts val="2300"/>
              </a:lnSpc>
              <a:buNone/>
            </a:pPr>
            <a:r>
              <a:rPr lang="en-US" sz="1600" i="1" dirty="0">
                <a:solidFill>
                  <a:srgbClr val="6B6478"/>
                </a:solidFill>
                <a:latin typeface="Nunito" pitchFamily="34" charset="0"/>
                <a:ea typeface="Nunito" pitchFamily="34" charset="-122"/>
                <a:cs typeface="Nunito" pitchFamily="34" charset="-120"/>
              </a:rPr>
              <a:t>« On apprend un métier en l'observant. »</a:t>
            </a:r>
            <a:endParaRPr lang="en-US" sz="1600" i="1" dirty="0"/>
          </a:p>
        </p:txBody>
      </p:sp>
      <p:sp>
        <p:nvSpPr>
          <p:cNvPr id="22" name="Arrow 1"/>
          <p:cNvSpPr/>
          <p:nvPr/>
        </p:nvSpPr>
        <p:spPr>
          <a:xfrm>
            <a:off x="822960" y="2740000"/>
            <a:ext cx="457200" cy="400000"/>
          </a:xfrm>
          <a:prstGeom prst="rect">
            <a:avLst/>
          </a:prstGeom>
          <a:noFill/>
          <a:ln/>
        </p:spPr>
        <p:txBody>
          <a:bodyPr wrap="square" lIns="0" tIns="0" rIns="0" bIns="0" rtlCol="0" anchor="ctr"/>
          <a:lstStyle/>
          <a:p>
            <a:pPr marL="0" indent="0">
              <a:buNone/>
            </a:pPr>
            <a:r>
              <a:rPr lang="en-US" sz="2200" b="1" dirty="0">
                <a:solidFill>
                  <a:srgbClr val="7B45C8"/>
                </a:solidFill>
                <a:latin typeface="Quicksand" pitchFamily="34" charset="0"/>
                <a:ea typeface="Quicksand" pitchFamily="34" charset="-122"/>
                <a:cs typeface="Quicksand" pitchFamily="34" charset="-120"/>
              </a:rPr>
              <a:t>↓</a:t>
            </a:r>
            <a:endParaRPr lang="en-US" sz="2200" dirty="0"/>
          </a:p>
        </p:txBody>
      </p:sp>
      <p:sp>
        <p:nvSpPr>
          <p:cNvPr id="5" name="Text 1"/>
          <p:cNvSpPr/>
          <p:nvPr/>
        </p:nvSpPr>
        <p:spPr>
          <a:xfrm>
            <a:off x="822960" y="3180000"/>
            <a:ext cx="6949440" cy="274320"/>
          </a:xfrm>
          <a:prstGeom prst="rect">
            <a:avLst/>
          </a:prstGeom>
          <a:noFill/>
          <a:ln/>
        </p:spPr>
        <p:txBody>
          <a:bodyPr wrap="square" lIns="0" tIns="0" rIns="0" bIns="0" rtlCol="0" anchor="ctr"/>
          <a:lstStyle/>
          <a:p>
            <a:pPr marL="0" indent="0">
              <a:buNone/>
            </a:pPr>
            <a:r>
              <a:rPr lang="en-US" sz="1200" b="1" kern="0" spc="200" dirty="0">
                <a:solidFill>
                  <a:srgbClr val="C9701E"/>
                </a:solidFill>
                <a:latin typeface="Quicksand" pitchFamily="34" charset="0"/>
                <a:ea typeface="Quicksand" pitchFamily="34" charset="-122"/>
                <a:cs typeface="Quicksand" pitchFamily="34" charset="-120"/>
              </a:rPr>
              <a:t>L'ARTEFACT</a:t>
            </a:r>
            <a:endParaRPr lang="en-US" sz="1200" dirty="0"/>
          </a:p>
        </p:txBody>
      </p:sp>
      <p:sp>
        <p:nvSpPr>
          <p:cNvPr id="6" name="Text 2"/>
          <p:cNvSpPr/>
          <p:nvPr/>
        </p:nvSpPr>
        <p:spPr>
          <a:xfrm>
            <a:off x="822960" y="3470000"/>
            <a:ext cx="6949440" cy="760000"/>
          </a:xfrm>
          <a:prstGeom prst="rect">
            <a:avLst/>
          </a:prstGeom>
          <a:noFill/>
          <a:ln/>
        </p:spPr>
        <p:txBody>
          <a:bodyPr wrap="square" lIns="0" tIns="0" rIns="0" bIns="0" rtlCol="0" anchor="t"/>
          <a:lstStyle/>
          <a:p>
            <a:pPr marL="0" indent="0">
              <a:lnSpc>
                <a:spcPts val="2300"/>
              </a:lnSpc>
              <a:buNone/>
            </a:pPr>
            <a:r>
              <a:rPr lang="en-US" sz="1600" dirty="0">
                <a:solidFill>
                  <a:srgbClr val="2B2539"/>
                </a:solidFill>
                <a:latin typeface="Nunito" pitchFamily="34" charset="0"/>
                <a:ea typeface="Nunito" pitchFamily="34" charset="-122"/>
                <a:cs typeface="Nunito" pitchFamily="34" charset="-120"/>
              </a:rPr>
              <a:t>L'étude de cas John Deere, et le début de l'alternance chez Naxos comme Product Owner apprenti.</a:t>
            </a:r>
            <a:endParaRPr lang="en-US" sz="1600" dirty="0"/>
          </a:p>
        </p:txBody>
      </p:sp>
      <p:sp>
        <p:nvSpPr>
          <p:cNvPr id="7" name="Text 3"/>
          <p:cNvSpPr/>
          <p:nvPr/>
        </p:nvSpPr>
        <p:spPr>
          <a:xfrm>
            <a:off x="822960" y="4290000"/>
            <a:ext cx="457200" cy="400000"/>
          </a:xfrm>
          <a:prstGeom prst="rect">
            <a:avLst/>
          </a:prstGeom>
          <a:noFill/>
          <a:ln/>
        </p:spPr>
        <p:txBody>
          <a:bodyPr wrap="square" lIns="0" tIns="0" rIns="0" bIns="0" rtlCol="0" anchor="ctr"/>
          <a:lstStyle/>
          <a:p>
            <a:pPr marL="0" indent="0">
              <a:buNone/>
            </a:pPr>
            <a:r>
              <a:rPr lang="en-US" sz="2200" b="1" dirty="0">
                <a:solidFill>
                  <a:srgbClr val="7B45C8"/>
                </a:solidFill>
                <a:latin typeface="Quicksand" pitchFamily="34" charset="0"/>
                <a:ea typeface="Quicksand" pitchFamily="34" charset="-122"/>
                <a:cs typeface="Quicksand" pitchFamily="34" charset="-120"/>
              </a:rPr>
              <a:t>↓</a:t>
            </a:r>
            <a:endParaRPr lang="en-US" sz="2200" dirty="0"/>
          </a:p>
        </p:txBody>
      </p:sp>
      <p:sp>
        <p:nvSpPr>
          <p:cNvPr id="8" name="Text 4"/>
          <p:cNvSpPr/>
          <p:nvPr/>
        </p:nvSpPr>
        <p:spPr>
          <a:xfrm>
            <a:off x="822960" y="4730000"/>
            <a:ext cx="6949440" cy="274320"/>
          </a:xfrm>
          <a:prstGeom prst="rect">
            <a:avLst/>
          </a:prstGeom>
          <a:noFill/>
          <a:ln/>
        </p:spPr>
        <p:txBody>
          <a:bodyPr wrap="square" lIns="0" tIns="0" rIns="0" bIns="0" rtlCol="0" anchor="ctr"/>
          <a:lstStyle/>
          <a:p>
            <a:pPr marL="0" indent="0">
              <a:buNone/>
            </a:pPr>
            <a:r>
              <a:rPr lang="en-US" sz="1200" b="1" kern="0" spc="100" dirty="0">
                <a:solidFill>
                  <a:srgbClr val="7B45C8"/>
                </a:solidFill>
                <a:latin typeface="Quicksand" pitchFamily="34" charset="0"/>
                <a:ea typeface="Quicksand" pitchFamily="34" charset="-122"/>
                <a:cs typeface="Quicksand" pitchFamily="34" charset="-120"/>
              </a:rPr>
              <a:t>LE CHANGEMENT DE POSTURE</a:t>
            </a:r>
            <a:endParaRPr lang="en-US" sz="1200" dirty="0"/>
          </a:p>
        </p:txBody>
      </p:sp>
      <p:sp>
        <p:nvSpPr>
          <p:cNvPr id="9" name="Text 5"/>
          <p:cNvSpPr/>
          <p:nvPr/>
        </p:nvSpPr>
        <p:spPr>
          <a:xfrm>
            <a:off x="822960" y="5020000"/>
            <a:ext cx="7223760" cy="1250000"/>
          </a:xfrm>
          <a:prstGeom prst="rect">
            <a:avLst/>
          </a:prstGeom>
          <a:noFill/>
          <a:ln/>
        </p:spPr>
        <p:txBody>
          <a:bodyPr wrap="square" lIns="0" tIns="0" rIns="0" bIns="0" rtlCol="0" anchor="t"/>
          <a:lstStyle/>
          <a:p>
            <a:pPr marL="0" indent="0">
              <a:lnSpc>
                <a:spcPts val="2300"/>
              </a:lnSpc>
              <a:buNone/>
            </a:pPr>
            <a:r>
              <a:rPr lang="en-US" sz="1600" b="1" dirty="0">
                <a:solidFill>
                  <a:srgbClr val="7B45C8"/>
                </a:solidFill>
                <a:latin typeface="Nunito" pitchFamily="34" charset="0"/>
                <a:ea typeface="Nunito" pitchFamily="34" charset="-122"/>
                <a:cs typeface="Nunito" pitchFamily="34" charset="-120"/>
              </a:rPr>
              <a:t>On apprend un métier en produisant, pas en l'observant. </a:t>
            </a:r>
            <a:r>
              <a:rPr lang="en-US" sz="1600" dirty="0">
                <a:solidFill>
                  <a:srgbClr val="2B2539"/>
                </a:solidFill>
                <a:latin typeface="Nunito" pitchFamily="34" charset="0"/>
                <a:ea typeface="Nunito" pitchFamily="34" charset="-122"/>
                <a:cs typeface="Nunito" pitchFamily="34" charset="-120"/>
              </a:rPr>
              <a:t>Le vrai apprentissage, c'est un changement de rythme et de responsabilité.</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C:\Users\kirit\AppData\Local\Temp\claude\C--Users-kirit-OneDrive-Bureau-DreamWeave\1dfcbb64-69b7-40e1-93a9-2561d034242f\scratchpad\deck-memoire\img\num5.png"/>
          <p:cNvPicPr>
            <a:picLocks noChangeAspect="1"/>
          </p:cNvPicPr>
          <p:nvPr/>
        </p:nvPicPr>
        <p:blipFill>
          <a:blip r:embed="rId3">
            <a:alphaModFix amt="45000"/>
          </a:blip>
          <a:stretch>
            <a:fillRect/>
          </a:stretch>
        </p:blipFill>
        <p:spPr>
          <a:xfrm>
            <a:off x="8958406" y="1874520"/>
            <a:ext cx="2425874" cy="3794760"/>
          </a:xfrm>
          <a:prstGeom prst="rect">
            <a:avLst/>
          </a:prstGeom>
        </p:spPr>
      </p:pic>
      <p:sp>
        <p:nvSpPr>
          <p:cNvPr id="3" name="Text 0"/>
          <p:cNvSpPr/>
          <p:nvPr/>
        </p:nvSpPr>
        <p:spPr>
          <a:xfrm>
            <a:off x="822960" y="73152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ANNÉE 5</a:t>
            </a:r>
            <a:endParaRPr lang="en-US" sz="1300" dirty="0"/>
          </a:p>
        </p:txBody>
      </p:sp>
      <p:pic>
        <p:nvPicPr>
          <p:cNvPr id="4" name="Image 1" descr="C:\Users\kirit\AppData\Local\Temp\claude\C--Users-kirit-OneDrive-Bureau-DreamWeave\1dfcbb64-69b7-40e1-93a9-2561d034242f\scratchpad\deck-memoire\img\chap5.png"/>
          <p:cNvPicPr>
            <a:picLocks noChangeAspect="1"/>
          </p:cNvPicPr>
          <p:nvPr/>
        </p:nvPicPr>
        <p:blipFill>
          <a:blip r:embed="rId4"/>
          <a:stretch>
            <a:fillRect/>
          </a:stretch>
        </p:blipFill>
        <p:spPr>
          <a:xfrm>
            <a:off x="822960" y="1051560"/>
            <a:ext cx="2727324" cy="749808"/>
          </a:xfrm>
          <a:prstGeom prst="rect">
            <a:avLst/>
          </a:prstGeom>
        </p:spPr>
      </p:pic>
      <p:sp>
        <p:nvSpPr>
          <p:cNvPr id="20" name="Label Avant"/>
          <p:cNvSpPr/>
          <p:nvPr/>
        </p:nvSpPr>
        <p:spPr>
          <a:xfrm>
            <a:off x="822960" y="1980000"/>
            <a:ext cx="6949440" cy="274320"/>
          </a:xfrm>
          <a:prstGeom prst="rect">
            <a:avLst/>
          </a:prstGeom>
          <a:noFill/>
          <a:ln/>
        </p:spPr>
        <p:txBody>
          <a:bodyPr wrap="square" lIns="0" tIns="0" rIns="0" bIns="0" rtlCol="0" anchor="ctr"/>
          <a:lstStyle/>
          <a:p>
            <a:pPr marL="0" indent="0">
              <a:buNone/>
            </a:pPr>
            <a:r>
              <a:rPr lang="en-US" sz="1200" b="1" kern="0" spc="200" dirty="0">
                <a:solidFill>
                  <a:srgbClr val="6B6478"/>
                </a:solidFill>
                <a:latin typeface="Quicksand" pitchFamily="34" charset="0"/>
                <a:ea typeface="Quicksand" pitchFamily="34" charset="-122"/>
                <a:cs typeface="Quicksand" pitchFamily="34" charset="-120"/>
              </a:rPr>
              <a:t>CE QUE JE PENSAIS</a:t>
            </a:r>
            <a:endParaRPr lang="en-US" sz="1200" dirty="0"/>
          </a:p>
        </p:txBody>
      </p:sp>
      <p:sp>
        <p:nvSpPr>
          <p:cNvPr id="21" name="Text Avant"/>
          <p:cNvSpPr/>
          <p:nvPr/>
        </p:nvSpPr>
        <p:spPr>
          <a:xfrm>
            <a:off x="822960" y="2270000"/>
            <a:ext cx="6949440" cy="430000"/>
          </a:xfrm>
          <a:prstGeom prst="rect">
            <a:avLst/>
          </a:prstGeom>
          <a:noFill/>
          <a:ln/>
        </p:spPr>
        <p:txBody>
          <a:bodyPr wrap="square" lIns="0" tIns="0" rIns="0" bIns="0" rtlCol="0" anchor="ctr"/>
          <a:lstStyle/>
          <a:p>
            <a:pPr marL="0" indent="0">
              <a:lnSpc>
                <a:spcPts val="2300"/>
              </a:lnSpc>
              <a:buNone/>
            </a:pPr>
            <a:r>
              <a:rPr lang="en-US" sz="1600" i="1" dirty="0">
                <a:solidFill>
                  <a:srgbClr val="6B6478"/>
                </a:solidFill>
                <a:latin typeface="Nunito" pitchFamily="34" charset="0"/>
                <a:ea typeface="Nunito" pitchFamily="34" charset="-122"/>
                <a:cs typeface="Nunito" pitchFamily="34" charset="-120"/>
              </a:rPr>
              <a:t>« L'IA va remplacer une partie de mes compétences. »</a:t>
            </a:r>
            <a:endParaRPr lang="en-US" sz="1600" i="1" dirty="0"/>
          </a:p>
        </p:txBody>
      </p:sp>
      <p:sp>
        <p:nvSpPr>
          <p:cNvPr id="22" name="Arrow 1"/>
          <p:cNvSpPr/>
          <p:nvPr/>
        </p:nvSpPr>
        <p:spPr>
          <a:xfrm>
            <a:off x="822960" y="2740000"/>
            <a:ext cx="457200" cy="400000"/>
          </a:xfrm>
          <a:prstGeom prst="rect">
            <a:avLst/>
          </a:prstGeom>
          <a:noFill/>
          <a:ln/>
        </p:spPr>
        <p:txBody>
          <a:bodyPr wrap="square" lIns="0" tIns="0" rIns="0" bIns="0" rtlCol="0" anchor="ctr"/>
          <a:lstStyle/>
          <a:p>
            <a:pPr marL="0" indent="0">
              <a:buNone/>
            </a:pPr>
            <a:r>
              <a:rPr lang="en-US" sz="2200" b="1" dirty="0">
                <a:solidFill>
                  <a:srgbClr val="7B45C8"/>
                </a:solidFill>
                <a:latin typeface="Quicksand" pitchFamily="34" charset="0"/>
                <a:ea typeface="Quicksand" pitchFamily="34" charset="-122"/>
                <a:cs typeface="Quicksand" pitchFamily="34" charset="-120"/>
              </a:rPr>
              <a:t>↓</a:t>
            </a:r>
            <a:endParaRPr lang="en-US" sz="2200" dirty="0"/>
          </a:p>
        </p:txBody>
      </p:sp>
      <p:sp>
        <p:nvSpPr>
          <p:cNvPr id="5" name="Text 1"/>
          <p:cNvSpPr/>
          <p:nvPr/>
        </p:nvSpPr>
        <p:spPr>
          <a:xfrm>
            <a:off x="822960" y="3180000"/>
            <a:ext cx="6949440" cy="274320"/>
          </a:xfrm>
          <a:prstGeom prst="rect">
            <a:avLst/>
          </a:prstGeom>
          <a:noFill/>
          <a:ln/>
        </p:spPr>
        <p:txBody>
          <a:bodyPr wrap="square" lIns="0" tIns="0" rIns="0" bIns="0" rtlCol="0" anchor="ctr"/>
          <a:lstStyle/>
          <a:p>
            <a:pPr marL="0" indent="0">
              <a:buNone/>
            </a:pPr>
            <a:r>
              <a:rPr lang="en-US" sz="1200" b="1" kern="0" spc="200" dirty="0">
                <a:solidFill>
                  <a:srgbClr val="C9701E"/>
                </a:solidFill>
                <a:latin typeface="Quicksand" pitchFamily="34" charset="0"/>
                <a:ea typeface="Quicksand" pitchFamily="34" charset="-122"/>
                <a:cs typeface="Quicksand" pitchFamily="34" charset="-120"/>
              </a:rPr>
              <a:t>L'ARTEFACT</a:t>
            </a:r>
            <a:endParaRPr lang="en-US" sz="1200" dirty="0"/>
          </a:p>
        </p:txBody>
      </p:sp>
      <p:sp>
        <p:nvSpPr>
          <p:cNvPr id="6" name="Text 2"/>
          <p:cNvSpPr/>
          <p:nvPr/>
        </p:nvSpPr>
        <p:spPr>
          <a:xfrm>
            <a:off x="822960" y="3470000"/>
            <a:ext cx="6949440" cy="760000"/>
          </a:xfrm>
          <a:prstGeom prst="rect">
            <a:avLst/>
          </a:prstGeom>
          <a:noFill/>
          <a:ln/>
        </p:spPr>
        <p:txBody>
          <a:bodyPr wrap="square" lIns="0" tIns="0" rIns="0" bIns="0" rtlCol="0" anchor="t"/>
          <a:lstStyle/>
          <a:p>
            <a:pPr marL="0" indent="0">
              <a:lnSpc>
                <a:spcPts val="2300"/>
              </a:lnSpc>
              <a:buNone/>
            </a:pPr>
            <a:r>
              <a:rPr lang="en-US" sz="1600" dirty="0">
                <a:solidFill>
                  <a:srgbClr val="2B2539"/>
                </a:solidFill>
                <a:latin typeface="Nunito" pitchFamily="34" charset="0"/>
                <a:ea typeface="Nunito" pitchFamily="34" charset="-122"/>
                <a:cs typeface="Nunito" pitchFamily="34" charset="-120"/>
              </a:rPr>
              <a:t>Un rapport sur l'IA et le droit européen, un procès fictif, et le vibe coding.</a:t>
            </a:r>
            <a:endParaRPr lang="en-US" sz="1600" dirty="0"/>
          </a:p>
        </p:txBody>
      </p:sp>
      <p:sp>
        <p:nvSpPr>
          <p:cNvPr id="7" name="Text 3"/>
          <p:cNvSpPr/>
          <p:nvPr/>
        </p:nvSpPr>
        <p:spPr>
          <a:xfrm>
            <a:off x="822960" y="4290000"/>
            <a:ext cx="457200" cy="400000"/>
          </a:xfrm>
          <a:prstGeom prst="rect">
            <a:avLst/>
          </a:prstGeom>
          <a:noFill/>
          <a:ln/>
        </p:spPr>
        <p:txBody>
          <a:bodyPr wrap="square" lIns="0" tIns="0" rIns="0" bIns="0" rtlCol="0" anchor="ctr"/>
          <a:lstStyle/>
          <a:p>
            <a:pPr marL="0" indent="0">
              <a:buNone/>
            </a:pPr>
            <a:r>
              <a:rPr lang="en-US" sz="2200" b="1" dirty="0">
                <a:solidFill>
                  <a:srgbClr val="7B45C8"/>
                </a:solidFill>
                <a:latin typeface="Quicksand" pitchFamily="34" charset="0"/>
                <a:ea typeface="Quicksand" pitchFamily="34" charset="-122"/>
                <a:cs typeface="Quicksand" pitchFamily="34" charset="-120"/>
              </a:rPr>
              <a:t>↓</a:t>
            </a:r>
            <a:endParaRPr lang="en-US" sz="2200" dirty="0"/>
          </a:p>
        </p:txBody>
      </p:sp>
      <p:sp>
        <p:nvSpPr>
          <p:cNvPr id="8" name="Text 4"/>
          <p:cNvSpPr/>
          <p:nvPr/>
        </p:nvSpPr>
        <p:spPr>
          <a:xfrm>
            <a:off x="822960" y="4730000"/>
            <a:ext cx="6949440" cy="274320"/>
          </a:xfrm>
          <a:prstGeom prst="rect">
            <a:avLst/>
          </a:prstGeom>
          <a:noFill/>
          <a:ln/>
        </p:spPr>
        <p:txBody>
          <a:bodyPr wrap="square" lIns="0" tIns="0" rIns="0" bIns="0" rtlCol="0" anchor="ctr"/>
          <a:lstStyle/>
          <a:p>
            <a:pPr marL="0" indent="0">
              <a:buNone/>
            </a:pPr>
            <a:r>
              <a:rPr lang="en-US" sz="1200" b="1" kern="0" spc="100" dirty="0">
                <a:solidFill>
                  <a:srgbClr val="7B45C8"/>
                </a:solidFill>
                <a:latin typeface="Quicksand" pitchFamily="34" charset="0"/>
                <a:ea typeface="Quicksand" pitchFamily="34" charset="-122"/>
                <a:cs typeface="Quicksand" pitchFamily="34" charset="-120"/>
              </a:rPr>
              <a:t>LE CHANGEMENT DE POSTURE</a:t>
            </a:r>
            <a:endParaRPr lang="en-US" sz="1200" dirty="0"/>
          </a:p>
        </p:txBody>
      </p:sp>
      <p:sp>
        <p:nvSpPr>
          <p:cNvPr id="9" name="Text 5"/>
          <p:cNvSpPr/>
          <p:nvPr/>
        </p:nvSpPr>
        <p:spPr>
          <a:xfrm>
            <a:off x="822960" y="5020000"/>
            <a:ext cx="7223760" cy="1250000"/>
          </a:xfrm>
          <a:prstGeom prst="rect">
            <a:avLst/>
          </a:prstGeom>
          <a:noFill/>
          <a:ln/>
        </p:spPr>
        <p:txBody>
          <a:bodyPr wrap="square" lIns="0" tIns="0" rIns="0" bIns="0" rtlCol="0" anchor="t"/>
          <a:lstStyle/>
          <a:p>
            <a:pPr marL="0" indent="0">
              <a:lnSpc>
                <a:spcPts val="2300"/>
              </a:lnSpc>
              <a:buNone/>
            </a:pPr>
            <a:r>
              <a:rPr lang="en-US" sz="1600" b="1" dirty="0">
                <a:solidFill>
                  <a:srgbClr val="7B45C8"/>
                </a:solidFill>
                <a:latin typeface="Nunito" pitchFamily="34" charset="0"/>
                <a:ea typeface="Nunito" pitchFamily="34" charset="-122"/>
                <a:cs typeface="Nunito" pitchFamily="34" charset="-120"/>
              </a:rPr>
              <a:t>L'IA démultiplie, elle ne remplace pas. </a:t>
            </a:r>
            <a:r>
              <a:rPr lang="en-US" sz="1600" dirty="0">
                <a:solidFill>
                  <a:srgbClr val="2B2539"/>
                </a:solidFill>
                <a:latin typeface="Nunito" pitchFamily="34" charset="0"/>
                <a:ea typeface="Nunito" pitchFamily="34" charset="-122"/>
                <a:cs typeface="Nunito" pitchFamily="34" charset="-120"/>
              </a:rPr>
              <a:t>Le vibe coding devient mon point d'équilibre : assez technique pour construire, assez produit pour penser.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73152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PROJET MIROIR</a:t>
            </a:r>
            <a:endParaRPr lang="en-US" sz="1300" dirty="0"/>
          </a:p>
        </p:txBody>
      </p:sp>
      <p:pic>
        <p:nvPicPr>
          <p:cNvPr id="3" name="Image 0" descr="C:\Users\kirit\AppData\Local\Temp\claude\C--Users-kirit-OneDrive-Bureau-DreamWeave\1dfcbb64-69b7-40e1-93a9-2561d034242f\scratchpad\deck-memoire\img\dw.png"/>
          <p:cNvPicPr>
            <a:picLocks noChangeAspect="1"/>
          </p:cNvPicPr>
          <p:nvPr/>
        </p:nvPicPr>
        <p:blipFill>
          <a:blip r:embed="rId3"/>
          <a:stretch>
            <a:fillRect/>
          </a:stretch>
        </p:blipFill>
        <p:spPr>
          <a:xfrm>
            <a:off x="822960" y="1143000"/>
            <a:ext cx="5697401" cy="1417320"/>
          </a:xfrm>
          <a:prstGeom prst="rect">
            <a:avLst/>
          </a:prstGeom>
        </p:spPr>
      </p:pic>
      <p:sp>
        <p:nvSpPr>
          <p:cNvPr id="4" name="Text 1"/>
          <p:cNvSpPr/>
          <p:nvPr/>
        </p:nvSpPr>
        <p:spPr>
          <a:xfrm>
            <a:off x="822960" y="3017520"/>
            <a:ext cx="5943600" cy="2926080"/>
          </a:xfrm>
          <a:prstGeom prst="rect">
            <a:avLst/>
          </a:prstGeom>
          <a:noFill/>
          <a:ln/>
        </p:spPr>
        <p:txBody>
          <a:bodyPr wrap="square" lIns="0" tIns="0" rIns="0" bIns="0" rtlCol="0" anchor="t"/>
          <a:lstStyle/>
          <a:p>
            <a:pPr marL="0" indent="0">
              <a:lnSpc>
                <a:spcPts val="2300"/>
              </a:lnSpc>
              <a:spcAft>
                <a:spcPts val="1000"/>
              </a:spcAft>
              <a:buNone/>
            </a:pPr>
            <a:r>
              <a:rPr lang="en-US" sz="1600" dirty="0">
                <a:solidFill>
                  <a:srgbClr val="2B2539"/>
                </a:solidFill>
                <a:latin typeface="Nunito" pitchFamily="34" charset="0"/>
                <a:ea typeface="Nunito" pitchFamily="34" charset="-122"/>
                <a:cs typeface="Nunito" pitchFamily="34" charset="-120"/>
              </a:rPr>
              <a:t>DreamWeave : un logiciel de création de webtoons par IA, imaginé et construit seul.</a:t>
            </a:r>
            <a:endParaRPr lang="en-US" sz="1600" dirty="0"/>
          </a:p>
          <a:p>
            <a:pPr marL="0" indent="0">
              <a:lnSpc>
                <a:spcPts val="2300"/>
              </a:lnSpc>
              <a:spcAft>
                <a:spcPts val="1000"/>
              </a:spcAft>
              <a:buNone/>
            </a:pPr>
            <a:r>
              <a:rPr lang="en-US" sz="1600" dirty="0">
                <a:solidFill>
                  <a:srgbClr val="2B2539"/>
                </a:solidFill>
                <a:latin typeface="Nunito" pitchFamily="34" charset="0"/>
                <a:ea typeface="Nunito" pitchFamily="34" charset="-122"/>
                <a:cs typeface="Nunito" pitchFamily="34" charset="-120"/>
              </a:rPr>
              <a:t>Un projet mené par envie, avant toute consigne, en dit plus sur qui l'on est qu'un exercice imposé.</a:t>
            </a:r>
            <a:endParaRPr lang="en-US" sz="1600" dirty="0"/>
          </a:p>
          <a:p>
            <a:pPr marL="0" indent="0">
              <a:lnSpc>
                <a:spcPts val="2300"/>
              </a:lnSpc>
              <a:buNone/>
            </a:pPr>
            <a:r>
              <a:rPr lang="en-US" sz="1600" b="1" dirty="0">
                <a:solidFill>
                  <a:srgbClr val="7B45C8"/>
                </a:solidFill>
                <a:latin typeface="Nunito" pitchFamily="34" charset="0"/>
                <a:ea typeface="Nunito" pitchFamily="34" charset="-122"/>
                <a:cs typeface="Nunito" pitchFamily="34" charset="-120"/>
              </a:rPr>
              <a:t>La preuve concrète de ce que je sais faire, de l'idée au produit qui tourne.</a:t>
            </a:r>
            <a:endParaRPr lang="en-US" sz="1600" dirty="0"/>
          </a:p>
        </p:txBody>
      </p:sp>
      <p:pic>
        <p:nvPicPr>
          <p:cNvPr id="5" name="Image 1" descr="C:\Users\kirit\AppData\Local\Temp\claude\C--Users-kirit-OneDrive-Bureau-DreamWeave\1dfcbb64-69b7-40e1-93a9-2561d034242f\scratchpad\deck-memoire\img\logo.png"/>
          <p:cNvPicPr>
            <a:picLocks noChangeAspect="1"/>
          </p:cNvPicPr>
          <p:nvPr/>
        </p:nvPicPr>
        <p:blipFill>
          <a:blip r:embed="rId4"/>
          <a:stretch>
            <a:fillRect/>
          </a:stretch>
        </p:blipFill>
        <p:spPr>
          <a:xfrm>
            <a:off x="7360920" y="1989090"/>
            <a:ext cx="4206240" cy="28798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68580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FIL ROUGE</a:t>
            </a:r>
            <a:endParaRPr lang="en-US" sz="1300" dirty="0"/>
          </a:p>
        </p:txBody>
      </p:sp>
      <p:pic>
        <p:nvPicPr>
          <p:cNvPr id="3" name="Image 0" descr="C:\Users\kirit\AppData\Local\Temp\claude\C--Users-kirit-OneDrive-Bureau-DreamWeave\1dfcbb64-69b7-40e1-93a9-2561d034242f\scratchpad\deck-memoire\img\fil.png"/>
          <p:cNvPicPr>
            <a:picLocks noChangeAspect="1"/>
          </p:cNvPicPr>
          <p:nvPr/>
        </p:nvPicPr>
        <p:blipFill>
          <a:blip r:embed="rId3"/>
          <a:stretch>
            <a:fillRect/>
          </a:stretch>
        </p:blipFill>
        <p:spPr>
          <a:xfrm>
            <a:off x="822960" y="1143000"/>
            <a:ext cx="7353905" cy="914400"/>
          </a:xfrm>
          <a:prstGeom prst="rect">
            <a:avLst/>
          </a:prstGeom>
        </p:spPr>
      </p:pic>
      <p:sp>
        <p:nvSpPr>
          <p:cNvPr id="4" name="Shape 1"/>
          <p:cNvSpPr/>
          <p:nvPr/>
        </p:nvSpPr>
        <p:spPr>
          <a:xfrm>
            <a:off x="868680" y="2788920"/>
            <a:ext cx="457200" cy="457200"/>
          </a:xfrm>
          <a:prstGeom prst="ellipse">
            <a:avLst/>
          </a:prstGeom>
          <a:solidFill>
            <a:srgbClr val="7B45C8"/>
          </a:solidFill>
          <a:ln/>
        </p:spPr>
      </p:sp>
      <p:sp>
        <p:nvSpPr>
          <p:cNvPr id="5" name="Text 2"/>
          <p:cNvSpPr/>
          <p:nvPr/>
        </p:nvSpPr>
        <p:spPr>
          <a:xfrm>
            <a:off x="868680" y="2843784"/>
            <a:ext cx="45720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Quicksand" pitchFamily="34" charset="0"/>
                <a:ea typeface="Quicksand" pitchFamily="34" charset="-122"/>
                <a:cs typeface="Quicksand" pitchFamily="34" charset="-120"/>
              </a:rPr>
              <a:t>1</a:t>
            </a:r>
            <a:endParaRPr lang="en-US" sz="1500" dirty="0"/>
          </a:p>
        </p:txBody>
      </p:sp>
      <p:sp>
        <p:nvSpPr>
          <p:cNvPr id="6" name="Text 3"/>
          <p:cNvSpPr/>
          <p:nvPr/>
        </p:nvSpPr>
        <p:spPr>
          <a:xfrm>
            <a:off x="1508760" y="2807208"/>
            <a:ext cx="5852160" cy="457200"/>
          </a:xfrm>
          <a:prstGeom prst="rect">
            <a:avLst/>
          </a:prstGeom>
          <a:noFill/>
          <a:ln/>
        </p:spPr>
        <p:txBody>
          <a:bodyPr wrap="square" lIns="0" tIns="0" rIns="0" bIns="0" rtlCol="0" anchor="ctr"/>
          <a:lstStyle/>
          <a:p>
            <a:pPr marL="0" indent="0">
              <a:buNone/>
            </a:pPr>
            <a:r>
              <a:rPr lang="en-US" sz="1550" dirty="0">
                <a:solidFill>
                  <a:srgbClr val="2B2539"/>
                </a:solidFill>
                <a:latin typeface="Nunito" pitchFamily="34" charset="0"/>
                <a:ea typeface="Nunito" pitchFamily="34" charset="-122"/>
                <a:cs typeface="Nunito" pitchFamily="34" charset="-120"/>
              </a:rPr>
              <a:t>Ne pas choisir technique / business : déjà Product Owner</a:t>
            </a:r>
            <a:endParaRPr lang="en-US" sz="1550" dirty="0"/>
          </a:p>
        </p:txBody>
      </p:sp>
      <p:sp>
        <p:nvSpPr>
          <p:cNvPr id="7" name="Shape 4"/>
          <p:cNvSpPr/>
          <p:nvPr/>
        </p:nvSpPr>
        <p:spPr>
          <a:xfrm>
            <a:off x="868680" y="3447288"/>
            <a:ext cx="457200" cy="457200"/>
          </a:xfrm>
          <a:prstGeom prst="ellipse">
            <a:avLst/>
          </a:prstGeom>
          <a:solidFill>
            <a:srgbClr val="7B45C8"/>
          </a:solidFill>
          <a:ln/>
        </p:spPr>
      </p:sp>
      <p:sp>
        <p:nvSpPr>
          <p:cNvPr id="8" name="Text 5"/>
          <p:cNvSpPr/>
          <p:nvPr/>
        </p:nvSpPr>
        <p:spPr>
          <a:xfrm>
            <a:off x="868680" y="3502152"/>
            <a:ext cx="45720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Quicksand" pitchFamily="34" charset="0"/>
                <a:ea typeface="Quicksand" pitchFamily="34" charset="-122"/>
                <a:cs typeface="Quicksand" pitchFamily="34" charset="-120"/>
              </a:rPr>
              <a:t>2</a:t>
            </a:r>
            <a:endParaRPr lang="en-US" sz="1500" dirty="0"/>
          </a:p>
        </p:txBody>
      </p:sp>
      <p:sp>
        <p:nvSpPr>
          <p:cNvPr id="9" name="Text 6"/>
          <p:cNvSpPr/>
          <p:nvPr/>
        </p:nvSpPr>
        <p:spPr>
          <a:xfrm>
            <a:off x="1508760" y="3465576"/>
            <a:ext cx="5852160" cy="457200"/>
          </a:xfrm>
          <a:prstGeom prst="rect">
            <a:avLst/>
          </a:prstGeom>
          <a:noFill/>
          <a:ln/>
        </p:spPr>
        <p:txBody>
          <a:bodyPr wrap="square" lIns="0" tIns="0" rIns="0" bIns="0" rtlCol="0" anchor="ctr"/>
          <a:lstStyle/>
          <a:p>
            <a:pPr marL="0" indent="0">
              <a:buNone/>
            </a:pPr>
            <a:r>
              <a:rPr lang="en-US" sz="1550" dirty="0">
                <a:solidFill>
                  <a:srgbClr val="2B2539"/>
                </a:solidFill>
                <a:latin typeface="Nunito" pitchFamily="34" charset="0"/>
                <a:ea typeface="Nunito" pitchFamily="34" charset="-122"/>
                <a:cs typeface="Nunito" pitchFamily="34" charset="-120"/>
              </a:rPr>
              <a:t>Se demander d'où je regarde</a:t>
            </a:r>
            <a:endParaRPr lang="en-US" sz="1550" dirty="0"/>
          </a:p>
        </p:txBody>
      </p:sp>
      <p:sp>
        <p:nvSpPr>
          <p:cNvPr id="10" name="Shape 7"/>
          <p:cNvSpPr/>
          <p:nvPr/>
        </p:nvSpPr>
        <p:spPr>
          <a:xfrm>
            <a:off x="868680" y="4105656"/>
            <a:ext cx="457200" cy="457200"/>
          </a:xfrm>
          <a:prstGeom prst="ellipse">
            <a:avLst/>
          </a:prstGeom>
          <a:solidFill>
            <a:srgbClr val="7B45C8"/>
          </a:solidFill>
          <a:ln/>
        </p:spPr>
      </p:sp>
      <p:sp>
        <p:nvSpPr>
          <p:cNvPr id="11" name="Text 8"/>
          <p:cNvSpPr/>
          <p:nvPr/>
        </p:nvSpPr>
        <p:spPr>
          <a:xfrm>
            <a:off x="868680" y="4160520"/>
            <a:ext cx="45720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Quicksand" pitchFamily="34" charset="0"/>
                <a:ea typeface="Quicksand" pitchFamily="34" charset="-122"/>
                <a:cs typeface="Quicksand" pitchFamily="34" charset="-120"/>
              </a:rPr>
              <a:t>3</a:t>
            </a:r>
            <a:endParaRPr lang="en-US" sz="1500" dirty="0"/>
          </a:p>
        </p:txBody>
      </p:sp>
      <p:sp>
        <p:nvSpPr>
          <p:cNvPr id="12" name="Text 9"/>
          <p:cNvSpPr/>
          <p:nvPr/>
        </p:nvSpPr>
        <p:spPr>
          <a:xfrm>
            <a:off x="1508760" y="4123944"/>
            <a:ext cx="5852160" cy="457200"/>
          </a:xfrm>
          <a:prstGeom prst="rect">
            <a:avLst/>
          </a:prstGeom>
          <a:noFill/>
          <a:ln/>
        </p:spPr>
        <p:txBody>
          <a:bodyPr wrap="square" lIns="0" tIns="0" rIns="0" bIns="0" rtlCol="0" anchor="ctr"/>
          <a:lstStyle/>
          <a:p>
            <a:pPr marL="0" indent="0">
              <a:buNone/>
            </a:pPr>
            <a:r>
              <a:rPr lang="en-US" sz="1550" dirty="0">
                <a:solidFill>
                  <a:srgbClr val="2B2539"/>
                </a:solidFill>
                <a:latin typeface="Nunito" pitchFamily="34" charset="0"/>
                <a:ea typeface="Nunito" pitchFamily="34" charset="-122"/>
                <a:cs typeface="Nunito" pitchFamily="34" charset="-120"/>
              </a:rPr>
              <a:t>La forme compte autant que le fond</a:t>
            </a:r>
            <a:endParaRPr lang="en-US" sz="1550" dirty="0"/>
          </a:p>
        </p:txBody>
      </p:sp>
      <p:sp>
        <p:nvSpPr>
          <p:cNvPr id="13" name="Shape 10"/>
          <p:cNvSpPr/>
          <p:nvPr/>
        </p:nvSpPr>
        <p:spPr>
          <a:xfrm>
            <a:off x="868680" y="4764024"/>
            <a:ext cx="457200" cy="457200"/>
          </a:xfrm>
          <a:prstGeom prst="ellipse">
            <a:avLst/>
          </a:prstGeom>
          <a:solidFill>
            <a:srgbClr val="7B45C8"/>
          </a:solidFill>
          <a:ln/>
        </p:spPr>
      </p:sp>
      <p:sp>
        <p:nvSpPr>
          <p:cNvPr id="14" name="Text 11"/>
          <p:cNvSpPr/>
          <p:nvPr/>
        </p:nvSpPr>
        <p:spPr>
          <a:xfrm>
            <a:off x="868680" y="4818888"/>
            <a:ext cx="45720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Quicksand" pitchFamily="34" charset="0"/>
                <a:ea typeface="Quicksand" pitchFamily="34" charset="-122"/>
                <a:cs typeface="Quicksand" pitchFamily="34" charset="-120"/>
              </a:rPr>
              <a:t>4</a:t>
            </a:r>
            <a:endParaRPr lang="en-US" sz="1500" dirty="0"/>
          </a:p>
        </p:txBody>
      </p:sp>
      <p:sp>
        <p:nvSpPr>
          <p:cNvPr id="15" name="Text 12"/>
          <p:cNvSpPr/>
          <p:nvPr/>
        </p:nvSpPr>
        <p:spPr>
          <a:xfrm>
            <a:off x="1508760" y="4782312"/>
            <a:ext cx="5852160" cy="457200"/>
          </a:xfrm>
          <a:prstGeom prst="rect">
            <a:avLst/>
          </a:prstGeom>
          <a:noFill/>
          <a:ln/>
        </p:spPr>
        <p:txBody>
          <a:bodyPr wrap="square" lIns="0" tIns="0" rIns="0" bIns="0" rtlCol="0" anchor="ctr"/>
          <a:lstStyle/>
          <a:p>
            <a:pPr marL="0" indent="0">
              <a:buNone/>
            </a:pPr>
            <a:r>
              <a:rPr lang="en-US" sz="1550" dirty="0">
                <a:solidFill>
                  <a:srgbClr val="2B2539"/>
                </a:solidFill>
                <a:latin typeface="Nunito" pitchFamily="34" charset="0"/>
                <a:ea typeface="Nunito" pitchFamily="34" charset="-122"/>
                <a:cs typeface="Nunito" pitchFamily="34" charset="-120"/>
              </a:rPr>
              <a:t>Une démo qui marche n'est pas un produit qui tient</a:t>
            </a:r>
            <a:endParaRPr lang="en-US" sz="1550" dirty="0"/>
          </a:p>
        </p:txBody>
      </p:sp>
      <p:sp>
        <p:nvSpPr>
          <p:cNvPr id="16" name="Shape 13"/>
          <p:cNvSpPr/>
          <p:nvPr/>
        </p:nvSpPr>
        <p:spPr>
          <a:xfrm>
            <a:off x="868680" y="5422392"/>
            <a:ext cx="457200" cy="457200"/>
          </a:xfrm>
          <a:prstGeom prst="ellipse">
            <a:avLst/>
          </a:prstGeom>
          <a:solidFill>
            <a:srgbClr val="7B45C8"/>
          </a:solidFill>
          <a:ln/>
        </p:spPr>
      </p:sp>
      <p:sp>
        <p:nvSpPr>
          <p:cNvPr id="17" name="Text 14"/>
          <p:cNvSpPr/>
          <p:nvPr/>
        </p:nvSpPr>
        <p:spPr>
          <a:xfrm>
            <a:off x="868680" y="5477256"/>
            <a:ext cx="457200"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Quicksand" pitchFamily="34" charset="0"/>
                <a:ea typeface="Quicksand" pitchFamily="34" charset="-122"/>
                <a:cs typeface="Quicksand" pitchFamily="34" charset="-120"/>
              </a:rPr>
              <a:t>5</a:t>
            </a:r>
            <a:endParaRPr lang="en-US" sz="1500" dirty="0"/>
          </a:p>
        </p:txBody>
      </p:sp>
      <p:sp>
        <p:nvSpPr>
          <p:cNvPr id="18" name="Text 15"/>
          <p:cNvSpPr/>
          <p:nvPr/>
        </p:nvSpPr>
        <p:spPr>
          <a:xfrm>
            <a:off x="1508760" y="5440680"/>
            <a:ext cx="5852160" cy="457200"/>
          </a:xfrm>
          <a:prstGeom prst="rect">
            <a:avLst/>
          </a:prstGeom>
          <a:noFill/>
          <a:ln/>
        </p:spPr>
        <p:txBody>
          <a:bodyPr wrap="square" lIns="0" tIns="0" rIns="0" bIns="0" rtlCol="0" anchor="ctr"/>
          <a:lstStyle/>
          <a:p>
            <a:pPr marL="0" indent="0">
              <a:buNone/>
            </a:pPr>
            <a:r>
              <a:rPr lang="en-US" sz="1550" dirty="0">
                <a:solidFill>
                  <a:srgbClr val="2B2539"/>
                </a:solidFill>
                <a:latin typeface="Nunito" pitchFamily="34" charset="0"/>
                <a:ea typeface="Nunito" pitchFamily="34" charset="-122"/>
                <a:cs typeface="Nunito" pitchFamily="34" charset="-120"/>
              </a:rPr>
              <a:t>L'IA démultiplie, elle ne remplace pas</a:t>
            </a:r>
            <a:endParaRPr lang="en-US" sz="1550" dirty="0"/>
          </a:p>
        </p:txBody>
      </p:sp>
      <p:sp>
        <p:nvSpPr>
          <p:cNvPr id="19" name="Shape 16"/>
          <p:cNvSpPr/>
          <p:nvPr/>
        </p:nvSpPr>
        <p:spPr>
          <a:xfrm>
            <a:off x="8138160" y="3200400"/>
            <a:ext cx="3291840" cy="1371600"/>
          </a:xfrm>
          <a:prstGeom prst="roundRect">
            <a:avLst>
              <a:gd name="adj" fmla="val 8000"/>
            </a:avLst>
          </a:prstGeom>
          <a:solidFill>
            <a:srgbClr val="F5F2F9"/>
          </a:solidFill>
          <a:ln w="12700">
            <a:solidFill>
              <a:srgbClr val="E4D3F5"/>
            </a:solidFill>
            <a:prstDash val="solid"/>
          </a:ln>
          <a:effectLst>
            <a:outerShdw blurRad="203200" dist="50800" dir="5400000" algn="bl" rotWithShape="0">
              <a:srgbClr val="B9A9D6">
                <a:alpha val="22000"/>
              </a:srgbClr>
            </a:outerShdw>
          </a:effectLst>
        </p:spPr>
      </p:sp>
      <p:sp>
        <p:nvSpPr>
          <p:cNvPr id="20" name="Text 17"/>
          <p:cNvSpPr/>
          <p:nvPr/>
        </p:nvSpPr>
        <p:spPr>
          <a:xfrm>
            <a:off x="7452360" y="3520440"/>
            <a:ext cx="731520" cy="731520"/>
          </a:xfrm>
          <a:prstGeom prst="rect">
            <a:avLst/>
          </a:prstGeom>
          <a:noFill/>
          <a:ln/>
        </p:spPr>
        <p:txBody>
          <a:bodyPr wrap="square" lIns="0" tIns="0" rIns="0" bIns="0" rtlCol="0" anchor="ctr"/>
          <a:lstStyle/>
          <a:p>
            <a:pPr marL="0" indent="0" algn="ctr">
              <a:buNone/>
            </a:pPr>
            <a:r>
              <a:rPr lang="en-US" sz="3400" b="1" dirty="0">
                <a:solidFill>
                  <a:srgbClr val="7B45C8"/>
                </a:solidFill>
                <a:latin typeface="Quicksand" pitchFamily="34" charset="0"/>
                <a:ea typeface="Quicksand" pitchFamily="34" charset="-122"/>
                <a:cs typeface="Quicksand" pitchFamily="34" charset="-120"/>
              </a:rPr>
              <a:t>→</a:t>
            </a:r>
            <a:endParaRPr lang="en-US" sz="3400" dirty="0"/>
          </a:p>
        </p:txBody>
      </p:sp>
      <p:sp>
        <p:nvSpPr>
          <p:cNvPr id="21" name="Text 18"/>
          <p:cNvSpPr/>
          <p:nvPr/>
        </p:nvSpPr>
        <p:spPr>
          <a:xfrm>
            <a:off x="8138160" y="3200400"/>
            <a:ext cx="3291840" cy="1371600"/>
          </a:xfrm>
          <a:prstGeom prst="rect">
            <a:avLst/>
          </a:prstGeom>
          <a:noFill/>
          <a:ln/>
        </p:spPr>
        <p:txBody>
          <a:bodyPr wrap="square" lIns="0" tIns="0" rIns="0" bIns="0" rtlCol="0" anchor="ctr"/>
          <a:lstStyle/>
          <a:p>
            <a:pPr marL="0" indent="0" algn="ctr">
              <a:lnSpc>
                <a:spcPts val="2400"/>
              </a:lnSpc>
              <a:buNone/>
            </a:pPr>
            <a:r>
              <a:rPr lang="en-US" sz="1600" b="1" dirty="0">
                <a:solidFill>
                  <a:srgbClr val="1B1626"/>
                </a:solidFill>
                <a:latin typeface="Quicksand" pitchFamily="34" charset="0"/>
                <a:ea typeface="Quicksand" pitchFamily="34" charset="-122"/>
                <a:cs typeface="Quicksand" pitchFamily="34" charset="-120"/>
              </a:rPr>
              <a:t>PRODUCT OWNER</a:t>
            </a:r>
            <a:endParaRPr lang="en-US" sz="1600" dirty="0"/>
          </a:p>
          <a:p>
            <a:pPr marL="0" indent="0" algn="ctr">
              <a:lnSpc>
                <a:spcPts val="2400"/>
              </a:lnSpc>
              <a:buNone/>
            </a:pPr>
            <a:r>
              <a:rPr lang="en-US" sz="1600" b="1" dirty="0">
                <a:solidFill>
                  <a:srgbClr val="1B1626"/>
                </a:solidFill>
                <a:latin typeface="Quicksand" pitchFamily="34" charset="0"/>
                <a:ea typeface="Quicksand" pitchFamily="34" charset="-122"/>
                <a:cs typeface="Quicksand" pitchFamily="34" charset="-120"/>
              </a:rPr>
              <a:t>PRODUCT BUILDER</a:t>
            </a:r>
            <a:endParaRPr lang="en-US" sz="1600" dirty="0"/>
          </a:p>
        </p:txBody>
      </p:sp>
      <p:sp>
        <p:nvSpPr>
          <p:cNvPr id="22" name="Text 19"/>
          <p:cNvSpPr/>
          <p:nvPr/>
        </p:nvSpPr>
        <p:spPr>
          <a:xfrm>
            <a:off x="822960" y="6217920"/>
            <a:ext cx="10515600" cy="457200"/>
          </a:xfrm>
          <a:prstGeom prst="rect">
            <a:avLst/>
          </a:prstGeom>
          <a:noFill/>
          <a:ln/>
        </p:spPr>
        <p:txBody>
          <a:bodyPr wrap="square" lIns="0" tIns="0" rIns="0" bIns="0" rtlCol="0" anchor="ctr"/>
          <a:lstStyle/>
          <a:p>
            <a:pPr marL="0" indent="0">
              <a:buNone/>
            </a:pPr>
            <a:r>
              <a:rPr lang="en-US" sz="1450" i="1" dirty="0">
                <a:solidFill>
                  <a:srgbClr val="6A6380"/>
                </a:solidFill>
                <a:latin typeface="Nunito" pitchFamily="34" charset="0"/>
                <a:ea typeface="Nunito" pitchFamily="34" charset="-122"/>
                <a:cs typeface="Nunito" pitchFamily="34" charset="-120"/>
              </a:rPr>
              <a:t>Aucun n'était voulu sur le moment. Mis bout à bout, ils dessinent une seule ligne.</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73152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CE QUE DREAMWEAVE PROUVE</a:t>
            </a:r>
            <a:endParaRPr lang="en-US" sz="1300" dirty="0"/>
          </a:p>
        </p:txBody>
      </p:sp>
      <p:pic>
        <p:nvPicPr>
          <p:cNvPr id="3" name="Image 0" descr="C:\Users\kirit\AppData\Local\Temp\claude\C--Users-kirit-OneDrive-Bureau-DreamWeave\1dfcbb64-69b7-40e1-93a9-2561d034242f\scratchpad\deck-memoire\img\prouve.png"/>
          <p:cNvPicPr>
            <a:picLocks noChangeAspect="1"/>
          </p:cNvPicPr>
          <p:nvPr/>
        </p:nvPicPr>
        <p:blipFill>
          <a:blip r:embed="rId3"/>
          <a:stretch>
            <a:fillRect/>
          </a:stretch>
        </p:blipFill>
        <p:spPr>
          <a:xfrm>
            <a:off x="822960" y="1188720"/>
            <a:ext cx="5681133" cy="914400"/>
          </a:xfrm>
          <a:prstGeom prst="rect">
            <a:avLst/>
          </a:prstGeom>
        </p:spPr>
      </p:pic>
      <p:sp>
        <p:nvSpPr>
          <p:cNvPr id="4" name="Shape 1"/>
          <p:cNvSpPr/>
          <p:nvPr/>
        </p:nvSpPr>
        <p:spPr>
          <a:xfrm>
            <a:off x="1005840" y="3246120"/>
            <a:ext cx="2926080" cy="1280160"/>
          </a:xfrm>
          <a:prstGeom prst="roundRect">
            <a:avLst>
              <a:gd name="adj" fmla="val 8571"/>
            </a:avLst>
          </a:prstGeom>
          <a:solidFill>
            <a:srgbClr val="F5F2F9"/>
          </a:solidFill>
          <a:ln w="12700">
            <a:solidFill>
              <a:srgbClr val="E6E1EF"/>
            </a:solidFill>
            <a:prstDash val="solid"/>
          </a:ln>
          <a:effectLst>
            <a:outerShdw blurRad="203200" dist="50800" dir="5400000" algn="bl" rotWithShape="0">
              <a:srgbClr val="B9A9D6">
                <a:alpha val="22000"/>
              </a:srgbClr>
            </a:outerShdw>
          </a:effectLst>
        </p:spPr>
      </p:sp>
      <p:sp>
        <p:nvSpPr>
          <p:cNvPr id="5" name="Text 2"/>
          <p:cNvSpPr/>
          <p:nvPr/>
        </p:nvSpPr>
        <p:spPr>
          <a:xfrm>
            <a:off x="1005840" y="3657600"/>
            <a:ext cx="2926080" cy="457200"/>
          </a:xfrm>
          <a:prstGeom prst="rect">
            <a:avLst/>
          </a:prstGeom>
          <a:noFill/>
          <a:ln/>
        </p:spPr>
        <p:txBody>
          <a:bodyPr wrap="square" lIns="0" tIns="0" rIns="0" bIns="0" rtlCol="0" anchor="ctr"/>
          <a:lstStyle/>
          <a:p>
            <a:pPr marL="0" indent="0" algn="ctr">
              <a:buNone/>
            </a:pPr>
            <a:r>
              <a:rPr lang="en-US" sz="1800" b="1" dirty="0">
                <a:solidFill>
                  <a:srgbClr val="1B1626"/>
                </a:solidFill>
                <a:latin typeface="Quicksand" pitchFamily="34" charset="0"/>
                <a:ea typeface="Quicksand" pitchFamily="34" charset="-122"/>
                <a:cs typeface="Quicksand" pitchFamily="34" charset="-120"/>
              </a:rPr>
              <a:t>BESOIN</a:t>
            </a:r>
            <a:endParaRPr lang="en-US" sz="1800" dirty="0"/>
          </a:p>
        </p:txBody>
      </p:sp>
      <p:sp>
        <p:nvSpPr>
          <p:cNvPr id="6" name="Text 3"/>
          <p:cNvSpPr/>
          <p:nvPr/>
        </p:nvSpPr>
        <p:spPr>
          <a:xfrm>
            <a:off x="3931920" y="3474720"/>
            <a:ext cx="685800" cy="731520"/>
          </a:xfrm>
          <a:prstGeom prst="rect">
            <a:avLst/>
          </a:prstGeom>
          <a:noFill/>
          <a:ln/>
        </p:spPr>
        <p:txBody>
          <a:bodyPr wrap="square" lIns="0" tIns="0" rIns="0" bIns="0" rtlCol="0" anchor="ctr"/>
          <a:lstStyle/>
          <a:p>
            <a:pPr marL="0" indent="0" algn="ctr">
              <a:buNone/>
            </a:pPr>
            <a:r>
              <a:rPr lang="en-US" sz="3000" b="1" dirty="0">
                <a:solidFill>
                  <a:srgbClr val="7B45C8"/>
                </a:solidFill>
                <a:latin typeface="Quicksand" pitchFamily="34" charset="0"/>
                <a:ea typeface="Quicksand" pitchFamily="34" charset="-122"/>
                <a:cs typeface="Quicksand" pitchFamily="34" charset="-120"/>
              </a:rPr>
              <a:t>→</a:t>
            </a:r>
            <a:endParaRPr lang="en-US" sz="3000" dirty="0"/>
          </a:p>
        </p:txBody>
      </p:sp>
      <p:sp>
        <p:nvSpPr>
          <p:cNvPr id="7" name="Shape 4"/>
          <p:cNvSpPr/>
          <p:nvPr/>
        </p:nvSpPr>
        <p:spPr>
          <a:xfrm>
            <a:off x="4617720" y="3246120"/>
            <a:ext cx="2926080" cy="1280160"/>
          </a:xfrm>
          <a:prstGeom prst="roundRect">
            <a:avLst>
              <a:gd name="adj" fmla="val 8571"/>
            </a:avLst>
          </a:prstGeom>
          <a:solidFill>
            <a:srgbClr val="F5F2F9"/>
          </a:solidFill>
          <a:ln w="12700">
            <a:solidFill>
              <a:srgbClr val="E6E1EF"/>
            </a:solidFill>
            <a:prstDash val="solid"/>
          </a:ln>
          <a:effectLst>
            <a:outerShdw blurRad="203200" dist="50800" dir="5400000" algn="bl" rotWithShape="0">
              <a:srgbClr val="B9A9D6">
                <a:alpha val="22000"/>
              </a:srgbClr>
            </a:outerShdw>
          </a:effectLst>
        </p:spPr>
      </p:sp>
      <p:sp>
        <p:nvSpPr>
          <p:cNvPr id="8" name="Text 5"/>
          <p:cNvSpPr/>
          <p:nvPr/>
        </p:nvSpPr>
        <p:spPr>
          <a:xfrm>
            <a:off x="4617720" y="3657600"/>
            <a:ext cx="2926080" cy="457200"/>
          </a:xfrm>
          <a:prstGeom prst="rect">
            <a:avLst/>
          </a:prstGeom>
          <a:noFill/>
          <a:ln/>
        </p:spPr>
        <p:txBody>
          <a:bodyPr wrap="square" lIns="0" tIns="0" rIns="0" bIns="0" rtlCol="0" anchor="ctr"/>
          <a:lstStyle/>
          <a:p>
            <a:pPr marL="0" indent="0" algn="ctr">
              <a:buNone/>
            </a:pPr>
            <a:r>
              <a:rPr lang="en-US" sz="1800" b="1" dirty="0">
                <a:solidFill>
                  <a:srgbClr val="1B1626"/>
                </a:solidFill>
                <a:latin typeface="Quicksand" pitchFamily="34" charset="0"/>
                <a:ea typeface="Quicksand" pitchFamily="34" charset="-122"/>
                <a:cs typeface="Quicksand" pitchFamily="34" charset="-120"/>
              </a:rPr>
              <a:t>SPÉCIFICATION</a:t>
            </a:r>
            <a:endParaRPr lang="en-US" sz="1800" dirty="0"/>
          </a:p>
        </p:txBody>
      </p:sp>
      <p:sp>
        <p:nvSpPr>
          <p:cNvPr id="9" name="Text 6"/>
          <p:cNvSpPr/>
          <p:nvPr/>
        </p:nvSpPr>
        <p:spPr>
          <a:xfrm>
            <a:off x="7543800" y="3474720"/>
            <a:ext cx="685800" cy="731520"/>
          </a:xfrm>
          <a:prstGeom prst="rect">
            <a:avLst/>
          </a:prstGeom>
          <a:noFill/>
          <a:ln/>
        </p:spPr>
        <p:txBody>
          <a:bodyPr wrap="square" lIns="0" tIns="0" rIns="0" bIns="0" rtlCol="0" anchor="ctr"/>
          <a:lstStyle/>
          <a:p>
            <a:pPr marL="0" indent="0" algn="ctr">
              <a:buNone/>
            </a:pPr>
            <a:r>
              <a:rPr lang="en-US" sz="3000" b="1" dirty="0">
                <a:solidFill>
                  <a:srgbClr val="7B45C8"/>
                </a:solidFill>
                <a:latin typeface="Quicksand" pitchFamily="34" charset="0"/>
                <a:ea typeface="Quicksand" pitchFamily="34" charset="-122"/>
                <a:cs typeface="Quicksand" pitchFamily="34" charset="-120"/>
              </a:rPr>
              <a:t>→</a:t>
            </a:r>
            <a:endParaRPr lang="en-US" sz="3000" dirty="0"/>
          </a:p>
        </p:txBody>
      </p:sp>
      <p:sp>
        <p:nvSpPr>
          <p:cNvPr id="10" name="Shape 7"/>
          <p:cNvSpPr/>
          <p:nvPr/>
        </p:nvSpPr>
        <p:spPr>
          <a:xfrm>
            <a:off x="8229600" y="3246120"/>
            <a:ext cx="2926080" cy="1280160"/>
          </a:xfrm>
          <a:prstGeom prst="roundRect">
            <a:avLst>
              <a:gd name="adj" fmla="val 8571"/>
            </a:avLst>
          </a:prstGeom>
          <a:solidFill>
            <a:srgbClr val="F7F3FD"/>
          </a:solidFill>
          <a:ln w="12700">
            <a:solidFill>
              <a:srgbClr val="E4D3F5"/>
            </a:solidFill>
            <a:prstDash val="solid"/>
          </a:ln>
          <a:effectLst>
            <a:outerShdw blurRad="203200" dist="50800" dir="5400000" algn="bl" rotWithShape="0">
              <a:srgbClr val="B9A9D6">
                <a:alpha val="22000"/>
              </a:srgbClr>
            </a:outerShdw>
          </a:effectLst>
        </p:spPr>
      </p:sp>
      <p:sp>
        <p:nvSpPr>
          <p:cNvPr id="11" name="Text 8"/>
          <p:cNvSpPr/>
          <p:nvPr/>
        </p:nvSpPr>
        <p:spPr>
          <a:xfrm>
            <a:off x="8229600" y="3657600"/>
            <a:ext cx="2926080" cy="457200"/>
          </a:xfrm>
          <a:prstGeom prst="rect">
            <a:avLst/>
          </a:prstGeom>
          <a:noFill/>
          <a:ln/>
        </p:spPr>
        <p:txBody>
          <a:bodyPr wrap="square" lIns="0" tIns="0" rIns="0" bIns="0" rtlCol="0" anchor="ctr"/>
          <a:lstStyle/>
          <a:p>
            <a:pPr marL="0" indent="0" algn="ctr">
              <a:buNone/>
            </a:pPr>
            <a:r>
              <a:rPr lang="en-US" sz="1800" b="1" dirty="0">
                <a:solidFill>
                  <a:srgbClr val="7B45C8"/>
                </a:solidFill>
                <a:latin typeface="Quicksand" pitchFamily="34" charset="0"/>
                <a:ea typeface="Quicksand" pitchFamily="34" charset="-122"/>
                <a:cs typeface="Quicksand" pitchFamily="34" charset="-120"/>
              </a:rPr>
              <a:t>SYSTÈME</a:t>
            </a:r>
            <a:endParaRPr lang="en-US" sz="1800" dirty="0"/>
          </a:p>
        </p:txBody>
      </p:sp>
      <p:sp>
        <p:nvSpPr>
          <p:cNvPr id="12" name="Text 9"/>
          <p:cNvSpPr/>
          <p:nvPr/>
        </p:nvSpPr>
        <p:spPr>
          <a:xfrm>
            <a:off x="3794760" y="5029200"/>
            <a:ext cx="5394960" cy="1280160"/>
          </a:xfrm>
          <a:prstGeom prst="rect">
            <a:avLst/>
          </a:prstGeom>
          <a:noFill/>
          <a:ln/>
        </p:spPr>
        <p:txBody>
          <a:bodyPr wrap="square" lIns="0" tIns="0" rIns="0" bIns="0" rtlCol="0" anchor="ctr"/>
          <a:lstStyle/>
          <a:p>
            <a:pPr marL="228600" indent="-228600" algn="l">
              <a:lnSpc>
                <a:spcPts val="2200"/>
              </a:lnSpc>
              <a:spcAft>
                <a:spcPts val="800"/>
              </a:spcAft>
              <a:buSzPct val="100000"/>
              <a:buChar char="•"/>
            </a:pPr>
            <a:r>
              <a:rPr lang="en-US" sz="1550" dirty="0">
                <a:solidFill>
                  <a:srgbClr val="2B2539"/>
                </a:solidFill>
                <a:latin typeface="Nunito" pitchFamily="34" charset="0"/>
                <a:ea typeface="Nunito" pitchFamily="34" charset="-122"/>
                <a:cs typeface="Nunito" pitchFamily="34" charset="-120"/>
              </a:rPr>
              <a:t>Tenir toute la chaîne, seul.</a:t>
            </a:r>
            <a:endParaRPr lang="en-US" sz="1550" dirty="0"/>
          </a:p>
          <a:p>
            <a:pPr marL="228600" indent="-228600" algn="l">
              <a:lnSpc>
                <a:spcPts val="2200"/>
              </a:lnSpc>
              <a:spcAft>
                <a:spcPts val="800"/>
              </a:spcAft>
              <a:buSzPct val="100000"/>
              <a:buChar char="•"/>
            </a:pPr>
            <a:r>
              <a:rPr lang="en-US" sz="1550" dirty="0">
                <a:solidFill>
                  <a:srgbClr val="2B2539"/>
                </a:solidFill>
                <a:latin typeface="Nunito" pitchFamily="34" charset="0"/>
                <a:ea typeface="Nunito" pitchFamily="34" charset="-122"/>
                <a:cs typeface="Nunito" pitchFamily="34" charset="-120"/>
              </a:rPr>
              <a:t>Faire de l'IA un prolongement de moi, pas une béquille.</a:t>
            </a:r>
            <a:endParaRPr lang="en-US" sz="1550" dirty="0"/>
          </a:p>
          <a:p>
            <a:pPr marL="228600" indent="-228600" algn="l">
              <a:lnSpc>
                <a:spcPts val="2200"/>
              </a:lnSpc>
              <a:buSzPct val="100000"/>
              <a:buChar char="•"/>
            </a:pPr>
            <a:r>
              <a:rPr lang="en-US" sz="1550" dirty="0">
                <a:solidFill>
                  <a:srgbClr val="2B2539"/>
                </a:solidFill>
                <a:latin typeface="Nunito" pitchFamily="34" charset="0"/>
                <a:ea typeface="Nunito" pitchFamily="34" charset="-122"/>
                <a:cs typeface="Nunito" pitchFamily="34" charset="-120"/>
              </a:rPr>
              <a:t>Un produit qui tourne, pas une maquette.</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68580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SANS CONCESSION · BILAN</a:t>
            </a:r>
            <a:endParaRPr lang="en-US" sz="1300" dirty="0"/>
          </a:p>
        </p:txBody>
      </p:sp>
      <p:pic>
        <p:nvPicPr>
          <p:cNvPr id="3" name="Image 0" descr="C:\Users\kirit\AppData\Local\Temp\claude\C--Users-kirit-OneDrive-Bureau-DreamWeave\1dfcbb64-69b7-40e1-93a9-2561d034242f\scratchpad\deck-memoire\img\bilan.png"/>
          <p:cNvPicPr>
            <a:picLocks noChangeAspect="1"/>
          </p:cNvPicPr>
          <p:nvPr/>
        </p:nvPicPr>
        <p:blipFill>
          <a:blip r:embed="rId3"/>
          <a:stretch>
            <a:fillRect/>
          </a:stretch>
        </p:blipFill>
        <p:spPr>
          <a:xfrm>
            <a:off x="822960" y="1143000"/>
            <a:ext cx="6376026" cy="868680"/>
          </a:xfrm>
          <a:prstGeom prst="rect">
            <a:avLst/>
          </a:prstGeom>
        </p:spPr>
      </p:pic>
      <p:sp>
        <p:nvSpPr>
          <p:cNvPr id="4" name="Shape 1"/>
          <p:cNvSpPr/>
          <p:nvPr/>
        </p:nvSpPr>
        <p:spPr>
          <a:xfrm>
            <a:off x="822960" y="2834640"/>
            <a:ext cx="5120640" cy="3154680"/>
          </a:xfrm>
          <a:prstGeom prst="roundRect">
            <a:avLst>
              <a:gd name="adj" fmla="val 3478"/>
            </a:avLst>
          </a:prstGeom>
          <a:solidFill>
            <a:srgbClr val="E9F4F0"/>
          </a:solidFill>
          <a:ln w="12700">
            <a:solidFill>
              <a:srgbClr val="CFE8E0"/>
            </a:solidFill>
            <a:prstDash val="solid"/>
          </a:ln>
          <a:effectLst>
            <a:outerShdw blurRad="203200" dist="50800" dir="5400000" algn="bl" rotWithShape="0">
              <a:srgbClr val="B9A9D6">
                <a:alpha val="22000"/>
              </a:srgbClr>
            </a:outerShdw>
          </a:effectLst>
        </p:spPr>
      </p:sp>
      <p:sp>
        <p:nvSpPr>
          <p:cNvPr id="5" name="Text 2"/>
          <p:cNvSpPr/>
          <p:nvPr/>
        </p:nvSpPr>
        <p:spPr>
          <a:xfrm>
            <a:off x="1143000" y="3108960"/>
            <a:ext cx="4572000" cy="320040"/>
          </a:xfrm>
          <a:prstGeom prst="rect">
            <a:avLst/>
          </a:prstGeom>
          <a:noFill/>
          <a:ln/>
        </p:spPr>
        <p:txBody>
          <a:bodyPr wrap="square" lIns="0" tIns="0" rIns="0" bIns="0" rtlCol="0" anchor="ctr"/>
          <a:lstStyle/>
          <a:p>
            <a:pPr marL="0" indent="0">
              <a:buNone/>
            </a:pPr>
            <a:r>
              <a:rPr lang="en-US" sz="1300" b="1" kern="0" spc="200" dirty="0">
                <a:solidFill>
                  <a:srgbClr val="12977A"/>
                </a:solidFill>
                <a:latin typeface="Quicksand" pitchFamily="34" charset="0"/>
                <a:ea typeface="Quicksand" pitchFamily="34" charset="-122"/>
                <a:cs typeface="Quicksand" pitchFamily="34" charset="-120"/>
              </a:rPr>
              <a:t>CE QUE JE SAIS FAIRE</a:t>
            </a:r>
            <a:endParaRPr lang="en-US" sz="1300" dirty="0"/>
          </a:p>
        </p:txBody>
      </p:sp>
      <p:sp>
        <p:nvSpPr>
          <p:cNvPr id="6" name="Text 3"/>
          <p:cNvSpPr/>
          <p:nvPr/>
        </p:nvSpPr>
        <p:spPr>
          <a:xfrm>
            <a:off x="1143000" y="3566160"/>
            <a:ext cx="4526280" cy="2194560"/>
          </a:xfrm>
          <a:prstGeom prst="rect">
            <a:avLst/>
          </a:prstGeom>
          <a:noFill/>
          <a:ln/>
        </p:spPr>
        <p:txBody>
          <a:bodyPr wrap="square" lIns="0" tIns="0" rIns="0" bIns="0" rtlCol="0" anchor="t"/>
          <a:lstStyle/>
          <a:p>
            <a:pPr marL="0" indent="0">
              <a:lnSpc>
                <a:spcPts val="2400"/>
              </a:lnSpc>
              <a:buNone/>
            </a:pPr>
            <a:r>
              <a:rPr lang="en-US" sz="1650" dirty="0">
                <a:solidFill>
                  <a:srgbClr val="2B2539"/>
                </a:solidFill>
                <a:latin typeface="Nunito" pitchFamily="34" charset="0"/>
                <a:ea typeface="Nunito" pitchFamily="34" charset="-122"/>
                <a:cs typeface="Nunito" pitchFamily="34" charset="-120"/>
              </a:rPr>
              <a:t>Tenir la chaîne du besoin à la spécification jusqu'au système qui fonctionne, de bout en bout, seul.</a:t>
            </a:r>
            <a:endParaRPr lang="en-US" sz="1650" dirty="0"/>
          </a:p>
        </p:txBody>
      </p:sp>
      <p:sp>
        <p:nvSpPr>
          <p:cNvPr id="7" name="Shape 4"/>
          <p:cNvSpPr/>
          <p:nvPr/>
        </p:nvSpPr>
        <p:spPr>
          <a:xfrm>
            <a:off x="6263640" y="2834640"/>
            <a:ext cx="5120640" cy="3154680"/>
          </a:xfrm>
          <a:prstGeom prst="roundRect">
            <a:avLst>
              <a:gd name="adj" fmla="val 3478"/>
            </a:avLst>
          </a:prstGeom>
          <a:solidFill>
            <a:srgbClr val="F7F3FD"/>
          </a:solidFill>
          <a:ln w="12700">
            <a:solidFill>
              <a:srgbClr val="E4D3F5"/>
            </a:solidFill>
            <a:prstDash val="solid"/>
          </a:ln>
          <a:effectLst>
            <a:outerShdw blurRad="203200" dist="50800" dir="5400000" algn="bl" rotWithShape="0">
              <a:srgbClr val="B9A9D6">
                <a:alpha val="22000"/>
              </a:srgbClr>
            </a:outerShdw>
          </a:effectLst>
        </p:spPr>
      </p:sp>
      <p:sp>
        <p:nvSpPr>
          <p:cNvPr id="8" name="Text 5"/>
          <p:cNvSpPr/>
          <p:nvPr/>
        </p:nvSpPr>
        <p:spPr>
          <a:xfrm>
            <a:off x="6583680" y="3108960"/>
            <a:ext cx="4572000" cy="320040"/>
          </a:xfrm>
          <a:prstGeom prst="rect">
            <a:avLst/>
          </a:prstGeom>
          <a:noFill/>
          <a:ln/>
        </p:spPr>
        <p:txBody>
          <a:bodyPr wrap="square" lIns="0" tIns="0" rIns="0" bIns="0" rtlCol="0" anchor="ctr"/>
          <a:lstStyle/>
          <a:p>
            <a:pPr marL="0" indent="0">
              <a:buNone/>
            </a:pPr>
            <a:r>
              <a:rPr lang="en-US" sz="1300" b="1" kern="0" spc="200" dirty="0">
                <a:solidFill>
                  <a:srgbClr val="7B45C8"/>
                </a:solidFill>
                <a:latin typeface="Quicksand" pitchFamily="34" charset="0"/>
                <a:ea typeface="Quicksand" pitchFamily="34" charset="-122"/>
                <a:cs typeface="Quicksand" pitchFamily="34" charset="-120"/>
              </a:rPr>
              <a:t>CE QUE JE NE SAIS PAS ENCORE</a:t>
            </a:r>
            <a:endParaRPr lang="en-US" sz="1300" dirty="0"/>
          </a:p>
        </p:txBody>
      </p:sp>
      <p:sp>
        <p:nvSpPr>
          <p:cNvPr id="9" name="Text 6"/>
          <p:cNvSpPr/>
          <p:nvPr/>
        </p:nvSpPr>
        <p:spPr>
          <a:xfrm>
            <a:off x="6583680" y="3566160"/>
            <a:ext cx="4526280" cy="2194560"/>
          </a:xfrm>
          <a:prstGeom prst="rect">
            <a:avLst/>
          </a:prstGeom>
          <a:noFill/>
          <a:ln/>
        </p:spPr>
        <p:txBody>
          <a:bodyPr wrap="square" lIns="0" tIns="0" rIns="0" bIns="0" rtlCol="0" anchor="t"/>
          <a:lstStyle/>
          <a:p>
            <a:pPr marL="0" indent="0">
              <a:lnSpc>
                <a:spcPts val="2400"/>
              </a:lnSpc>
              <a:buNone/>
            </a:pPr>
            <a:r>
              <a:rPr lang="en-US" sz="1650" b="1" dirty="0">
                <a:solidFill>
                  <a:srgbClr val="2B2539"/>
                </a:solidFill>
                <a:latin typeface="Nunito" pitchFamily="34" charset="0"/>
                <a:ea typeface="Nunito" pitchFamily="34" charset="-122"/>
                <a:cs typeface="Nunito" pitchFamily="34" charset="-120"/>
              </a:rPr>
              <a:t>La décision sans filet</a:t>
            </a:r>
            <a:r>
              <a:rPr lang="en-US" sz="1650" dirty="0">
                <a:solidFill>
                  <a:srgbClr val="2B2539"/>
                </a:solidFill>
                <a:latin typeface="Nunito" pitchFamily="34" charset="0"/>
                <a:ea typeface="Nunito" pitchFamily="34" charset="-122"/>
                <a:cs typeface="Nunito" pitchFamily="34" charset="-120"/>
              </a:rPr>
              <a:t> : porter seul un choix qui coûterait cher s'il était mauvais, sans professeur ni manager au-dessus. Le vrai test viendra quand la supervision disparaîtra.</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68580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CONCLUSION · CE QUE JE VEUX DEVENIR</a:t>
            </a:r>
            <a:endParaRPr lang="en-US" sz="1300" dirty="0"/>
          </a:p>
        </p:txBody>
      </p:sp>
      <p:pic>
        <p:nvPicPr>
          <p:cNvPr id="3" name="Image 0" descr="C:\Users\kirit\AppData\Local\Temp\claude\C--Users-kirit-OneDrive-Bureau-DreamWeave\1dfcbb64-69b7-40e1-93a9-2561d034242f\scratchpad\deck-memoire\img\concl.png"/>
          <p:cNvPicPr>
            <a:picLocks noChangeAspect="1"/>
          </p:cNvPicPr>
          <p:nvPr/>
        </p:nvPicPr>
        <p:blipFill>
          <a:blip r:embed="rId3"/>
          <a:stretch>
            <a:fillRect/>
          </a:stretch>
        </p:blipFill>
        <p:spPr>
          <a:xfrm>
            <a:off x="822960" y="1143000"/>
            <a:ext cx="6554755" cy="914400"/>
          </a:xfrm>
          <a:prstGeom prst="rect">
            <a:avLst/>
          </a:prstGeom>
        </p:spPr>
      </p:pic>
      <p:sp>
        <p:nvSpPr>
          <p:cNvPr id="4" name="Text 1"/>
          <p:cNvSpPr/>
          <p:nvPr/>
        </p:nvSpPr>
        <p:spPr>
          <a:xfrm>
            <a:off x="822960" y="3017520"/>
            <a:ext cx="6035040" cy="2926080"/>
          </a:xfrm>
          <a:prstGeom prst="rect">
            <a:avLst/>
          </a:prstGeom>
          <a:noFill/>
          <a:ln/>
        </p:spPr>
        <p:txBody>
          <a:bodyPr wrap="square" lIns="0" tIns="0" rIns="0" bIns="0" rtlCol="0" anchor="t"/>
          <a:lstStyle/>
          <a:p>
            <a:pPr marL="0" indent="0">
              <a:lnSpc>
                <a:spcPts val="2400"/>
              </a:lnSpc>
              <a:buNone/>
            </a:pPr>
            <a:r>
              <a:rPr lang="en-US" sz="1650" b="1" dirty="0">
                <a:solidFill>
                  <a:srgbClr val="7B45C8"/>
                </a:solidFill>
                <a:latin typeface="Nunito" pitchFamily="34" charset="0"/>
                <a:ea typeface="Nunito" pitchFamily="34" charset="-122"/>
                <a:cs typeface="Nunito" pitchFamily="34" charset="-120"/>
              </a:rPr>
              <a:t>Product Owner</a:t>
            </a:r>
            <a:r>
              <a:rPr lang="en-US" sz="1650" dirty="0">
                <a:solidFill>
                  <a:srgbClr val="2B2539"/>
                </a:solidFill>
                <a:latin typeface="Nunito" pitchFamily="34" charset="0"/>
                <a:ea typeface="Nunito" pitchFamily="34" charset="-122"/>
                <a:cs typeface="Nunito" pitchFamily="34" charset="-120"/>
              </a:rPr>
              <a:t> : là où se rejoignent mes compétences techniques et produit.</a:t>
            </a:r>
            <a:endParaRPr lang="en-US" sz="1650" dirty="0"/>
          </a:p>
          <a:p>
            <a:pPr marL="0" indent="0">
              <a:lnSpc>
                <a:spcPts val="2400"/>
              </a:lnSpc>
              <a:buNone/>
            </a:pPr>
            <a:r>
              <a:rPr lang="en-US" sz="1650" b="1" dirty="0">
                <a:solidFill>
                  <a:srgbClr val="7B45C8"/>
                </a:solidFill>
                <a:latin typeface="Nunito" pitchFamily="34" charset="0"/>
                <a:ea typeface="Nunito" pitchFamily="34" charset="-122"/>
                <a:cs typeface="Nunito" pitchFamily="34" charset="-120"/>
              </a:rPr>
              <a:t>Product Builder</a:t>
            </a:r>
            <a:r>
              <a:rPr lang="en-US" sz="1650" dirty="0">
                <a:solidFill>
                  <a:srgbClr val="2B2539"/>
                </a:solidFill>
                <a:latin typeface="Nunito" pitchFamily="34" charset="0"/>
                <a:ea typeface="Nunito" pitchFamily="34" charset="-122"/>
                <a:cs typeface="Nunito" pitchFamily="34" charset="-120"/>
              </a:rPr>
              <a:t> : penser le produit et me donner les moyens de le construire.</a:t>
            </a:r>
            <a:endParaRPr lang="en-US" sz="1650" dirty="0"/>
          </a:p>
          <a:p>
            <a:pPr marL="0" indent="0">
              <a:lnSpc>
                <a:spcPts val="2400"/>
              </a:lnSpc>
              <a:buNone/>
            </a:pPr>
            <a:r>
              <a:rPr lang="en-US" sz="1650" dirty="0">
                <a:solidFill>
                  <a:srgbClr val="2B2539"/>
                </a:solidFill>
                <a:latin typeface="Nunito" pitchFamily="34" charset="0"/>
                <a:ea typeface="Nunito" pitchFamily="34" charset="-122"/>
                <a:cs typeface="Nunito" pitchFamily="34" charset="-120"/>
              </a:rPr>
              <a:t>L'IA comme prolongement de qui je suis, pas comme béquille.</a:t>
            </a:r>
            <a:endParaRPr lang="en-US" sz="1650" dirty="0"/>
          </a:p>
        </p:txBody>
      </p:sp>
      <p:sp>
        <p:nvSpPr>
          <p:cNvPr id="5" name="Shape 2"/>
          <p:cNvSpPr/>
          <p:nvPr/>
        </p:nvSpPr>
        <p:spPr>
          <a:xfrm>
            <a:off x="7315200" y="2468880"/>
            <a:ext cx="2651760" cy="2651760"/>
          </a:xfrm>
          <a:prstGeom prst="ellipse">
            <a:avLst/>
          </a:prstGeom>
          <a:solidFill>
            <a:srgbClr val="7B45C8">
              <a:alpha val="38000"/>
            </a:srgbClr>
          </a:solidFill>
          <a:ln w="19050">
            <a:solidFill>
              <a:srgbClr val="7B45C8"/>
            </a:solidFill>
            <a:prstDash val="solid"/>
          </a:ln>
        </p:spPr>
      </p:sp>
      <p:sp>
        <p:nvSpPr>
          <p:cNvPr id="6" name="Shape 3"/>
          <p:cNvSpPr/>
          <p:nvPr/>
        </p:nvSpPr>
        <p:spPr>
          <a:xfrm>
            <a:off x="8869680" y="2468880"/>
            <a:ext cx="2651760" cy="2651760"/>
          </a:xfrm>
          <a:prstGeom prst="ellipse">
            <a:avLst/>
          </a:prstGeom>
          <a:solidFill>
            <a:srgbClr val="12977A">
              <a:alpha val="38000"/>
            </a:srgbClr>
          </a:solidFill>
          <a:ln w="19050">
            <a:solidFill>
              <a:srgbClr val="12977A"/>
            </a:solidFill>
            <a:prstDash val="solid"/>
          </a:ln>
        </p:spPr>
      </p:sp>
      <p:sp>
        <p:nvSpPr>
          <p:cNvPr id="7" name="Text 4"/>
          <p:cNvSpPr/>
          <p:nvPr/>
        </p:nvSpPr>
        <p:spPr>
          <a:xfrm>
            <a:off x="7406640" y="3520440"/>
            <a:ext cx="1280160" cy="548640"/>
          </a:xfrm>
          <a:prstGeom prst="rect">
            <a:avLst/>
          </a:prstGeom>
          <a:noFill/>
          <a:ln/>
        </p:spPr>
        <p:txBody>
          <a:bodyPr wrap="square" lIns="0" tIns="0" rIns="0" bIns="0" rtlCol="0" anchor="ctr"/>
          <a:lstStyle/>
          <a:p>
            <a:pPr marL="0" indent="0" algn="ctr">
              <a:buNone/>
            </a:pPr>
            <a:r>
              <a:rPr lang="en-US" sz="2000" b="1" dirty="0">
                <a:solidFill>
                  <a:srgbClr val="7B45C8"/>
                </a:solidFill>
                <a:latin typeface="Quicksand" pitchFamily="34" charset="0"/>
                <a:ea typeface="Quicksand" pitchFamily="34" charset="-122"/>
                <a:cs typeface="Quicksand" pitchFamily="34" charset="-120"/>
              </a:rPr>
              <a:t>PO</a:t>
            </a:r>
            <a:endParaRPr lang="en-US" sz="2000" dirty="0"/>
          </a:p>
        </p:txBody>
      </p:sp>
      <p:sp>
        <p:nvSpPr>
          <p:cNvPr id="8" name="Text 5"/>
          <p:cNvSpPr/>
          <p:nvPr/>
        </p:nvSpPr>
        <p:spPr>
          <a:xfrm>
            <a:off x="10149840" y="3291840"/>
            <a:ext cx="1280160" cy="914400"/>
          </a:xfrm>
          <a:prstGeom prst="rect">
            <a:avLst/>
          </a:prstGeom>
          <a:noFill/>
          <a:ln/>
        </p:spPr>
        <p:txBody>
          <a:bodyPr wrap="square" lIns="0" tIns="0" rIns="0" bIns="0" rtlCol="0" anchor="ctr"/>
          <a:lstStyle/>
          <a:p>
            <a:pPr marL="0" indent="0" algn="ctr">
              <a:lnSpc>
                <a:spcPts val="1800"/>
              </a:lnSpc>
              <a:buNone/>
            </a:pPr>
            <a:r>
              <a:rPr lang="en-US" sz="1500" b="1" dirty="0">
                <a:solidFill>
                  <a:srgbClr val="12977A"/>
                </a:solidFill>
                <a:latin typeface="Quicksand" pitchFamily="34" charset="0"/>
                <a:ea typeface="Quicksand" pitchFamily="34" charset="-122"/>
                <a:cs typeface="Quicksand" pitchFamily="34" charset="-120"/>
              </a:rPr>
              <a:t>Product</a:t>
            </a:r>
            <a:endParaRPr lang="en-US" sz="1500" dirty="0"/>
          </a:p>
          <a:p>
            <a:pPr marL="0" indent="0" algn="ctr">
              <a:lnSpc>
                <a:spcPts val="1800"/>
              </a:lnSpc>
              <a:buNone/>
            </a:pPr>
            <a:r>
              <a:rPr lang="en-US" sz="1500" b="1" dirty="0">
                <a:solidFill>
                  <a:srgbClr val="12977A"/>
                </a:solidFill>
                <a:latin typeface="Quicksand" pitchFamily="34" charset="0"/>
                <a:ea typeface="Quicksand" pitchFamily="34" charset="-122"/>
                <a:cs typeface="Quicksand" pitchFamily="34" charset="-120"/>
              </a:rPr>
              <a:t>Builder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868680"/>
            <a:ext cx="7315200" cy="292608"/>
          </a:xfrm>
          <a:prstGeom prst="rect">
            <a:avLst/>
          </a:prstGeom>
          <a:noFill/>
          <a:ln/>
        </p:spPr>
        <p:txBody>
          <a:bodyPr wrap="square" lIns="0" tIns="0" rIns="0" bIns="0" rtlCol="0" anchor="ctr"/>
          <a:lstStyle/>
          <a:p>
            <a:pPr marL="0" indent="0">
              <a:buNone/>
            </a:pPr>
            <a:r>
              <a:rPr lang="en-US" sz="1300" b="1" kern="0" spc="300" dirty="0">
                <a:solidFill>
                  <a:srgbClr val="C9701E"/>
                </a:solidFill>
                <a:latin typeface="Quicksand" pitchFamily="34" charset="0"/>
                <a:ea typeface="Quicksand" pitchFamily="34" charset="-122"/>
                <a:cs typeface="Quicksand" pitchFamily="34" charset="-120"/>
              </a:rPr>
              <a:t>OUVERTURE</a:t>
            </a:r>
            <a:endParaRPr lang="en-US" sz="1300" dirty="0"/>
          </a:p>
        </p:txBody>
      </p:sp>
      <p:pic>
        <p:nvPicPr>
          <p:cNvPr id="3" name="Image 0" descr="C:\Users\kirit\AppData\Local\Temp\claude\C--Users-kirit-OneDrive-Bureau-DreamWeave\1dfcbb64-69b7-40e1-93a9-2561d034242f\scratchpad\deck-memoire\img\ouv.png"/>
          <p:cNvPicPr>
            <a:picLocks noChangeAspect="1"/>
          </p:cNvPicPr>
          <p:nvPr/>
        </p:nvPicPr>
        <p:blipFill>
          <a:blip r:embed="rId3"/>
          <a:stretch>
            <a:fillRect/>
          </a:stretch>
        </p:blipFill>
        <p:spPr>
          <a:xfrm>
            <a:off x="777240" y="2423160"/>
            <a:ext cx="8263890" cy="1371600"/>
          </a:xfrm>
          <a:prstGeom prst="rect">
            <a:avLst/>
          </a:prstGeom>
        </p:spPr>
      </p:pic>
      <p:pic>
        <p:nvPicPr>
          <p:cNvPr id="4" name="Image 1" descr="C:\Users\kirit\AppData\Local\Temp\claude\C--Users-kirit-OneDrive-Bureau-DreamWeave\1dfcbb64-69b7-40e1-93a9-2561d034242f\scratchpad\deck-memoire\img\rule.png"/>
          <p:cNvPicPr>
            <a:picLocks noChangeAspect="1"/>
          </p:cNvPicPr>
          <p:nvPr/>
        </p:nvPicPr>
        <p:blipFill>
          <a:blip r:embed="rId4"/>
          <a:stretch>
            <a:fillRect/>
          </a:stretch>
        </p:blipFill>
        <p:spPr>
          <a:xfrm>
            <a:off x="822960" y="4206240"/>
            <a:ext cx="2834640" cy="64008"/>
          </a:xfrm>
          <a:prstGeom prst="rect">
            <a:avLst/>
          </a:prstGeom>
        </p:spPr>
      </p:pic>
      <p:sp>
        <p:nvSpPr>
          <p:cNvPr id="5" name="Text 1"/>
          <p:cNvSpPr/>
          <p:nvPr/>
        </p:nvSpPr>
        <p:spPr>
          <a:xfrm>
            <a:off x="822960" y="4480560"/>
            <a:ext cx="9692640" cy="822960"/>
          </a:xfrm>
          <a:prstGeom prst="rect">
            <a:avLst/>
          </a:prstGeom>
          <a:noFill/>
          <a:ln/>
        </p:spPr>
        <p:txBody>
          <a:bodyPr wrap="square" lIns="0" tIns="0" rIns="0" bIns="0" rtlCol="0" anchor="ctr"/>
          <a:lstStyle/>
          <a:p>
            <a:pPr marL="0" indent="0">
              <a:lnSpc>
                <a:spcPts val="2400"/>
              </a:lnSpc>
              <a:buNone/>
            </a:pPr>
            <a:r>
              <a:rPr lang="en-US" sz="1700" i="1" dirty="0">
                <a:solidFill>
                  <a:srgbClr val="6A6380"/>
                </a:solidFill>
                <a:latin typeface="Nunito" pitchFamily="34" charset="0"/>
                <a:ea typeface="Nunito" pitchFamily="34" charset="-122"/>
                <a:cs typeface="Nunito" pitchFamily="34" charset="-120"/>
              </a:rPr>
              <a:t>Ce que ce mémoire m'a fait comprendre, je veux le mettre au service d'un produit et d'une équipe.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C:\Users\kirit\AppData\Local\Temp\claude\C--Users-kirit-OneDrive-Bureau-DreamWeave\1dfcbb64-69b7-40e1-93a9-2561d034242f\scratchpad\deck-memoire\img\merci.png"/>
          <p:cNvPicPr>
            <a:picLocks noChangeAspect="1"/>
          </p:cNvPicPr>
          <p:nvPr/>
        </p:nvPicPr>
        <p:blipFill>
          <a:blip r:embed="rId3"/>
          <a:stretch>
            <a:fillRect/>
          </a:stretch>
        </p:blipFill>
        <p:spPr>
          <a:xfrm>
            <a:off x="777240" y="2468880"/>
            <a:ext cx="5049982" cy="1371600"/>
          </a:xfrm>
          <a:prstGeom prst="rect">
            <a:avLst/>
          </a:prstGeom>
        </p:spPr>
      </p:pic>
      <p:pic>
        <p:nvPicPr>
          <p:cNvPr id="3" name="Image 1" descr="C:\Users\kirit\AppData\Local\Temp\claude\C--Users-kirit-OneDrive-Bureau-DreamWeave\1dfcbb64-69b7-40e1-93a9-2561d034242f\scratchpad\deck-memoire\img\rule.png"/>
          <p:cNvPicPr>
            <a:picLocks noChangeAspect="1"/>
          </p:cNvPicPr>
          <p:nvPr/>
        </p:nvPicPr>
        <p:blipFill>
          <a:blip r:embed="rId4"/>
          <a:stretch>
            <a:fillRect/>
          </a:stretch>
        </p:blipFill>
        <p:spPr>
          <a:xfrm>
            <a:off x="822960" y="3977640"/>
            <a:ext cx="2834640" cy="64008"/>
          </a:xfrm>
          <a:prstGeom prst="rect">
            <a:avLst/>
          </a:prstGeom>
        </p:spPr>
      </p:pic>
      <p:sp>
        <p:nvSpPr>
          <p:cNvPr id="4" name="Text 0"/>
          <p:cNvSpPr/>
          <p:nvPr/>
        </p:nvSpPr>
        <p:spPr>
          <a:xfrm>
            <a:off x="822960" y="4251960"/>
            <a:ext cx="10515600" cy="548640"/>
          </a:xfrm>
          <a:prstGeom prst="rect">
            <a:avLst/>
          </a:prstGeom>
          <a:noFill/>
          <a:ln/>
        </p:spPr>
        <p:txBody>
          <a:bodyPr wrap="square" lIns="0" tIns="0" rIns="0" bIns="0" rtlCol="0" anchor="ctr"/>
          <a:lstStyle/>
          <a:p>
            <a:pPr marL="0" indent="0">
              <a:buNone/>
            </a:pPr>
            <a:r>
              <a:rPr lang="en-US" sz="2000" i="1" dirty="0">
                <a:solidFill>
                  <a:srgbClr val="6A6380"/>
                </a:solidFill>
                <a:latin typeface="Nunito" pitchFamily="34" charset="0"/>
                <a:ea typeface="Nunito" pitchFamily="34" charset="-122"/>
                <a:cs typeface="Nunito" pitchFamily="34" charset="-120"/>
              </a:rPr>
              <a:t>Je suis prêt à répondre à vos questions.</a:t>
            </a:r>
            <a:endParaRPr lang="en-US" sz="2000" dirty="0"/>
          </a:p>
        </p:txBody>
      </p:sp>
      <p:sp>
        <p:nvSpPr>
          <p:cNvPr id="5" name="Text 1"/>
          <p:cNvSpPr/>
          <p:nvPr/>
        </p:nvSpPr>
        <p:spPr>
          <a:xfrm>
            <a:off x="822960" y="6035040"/>
            <a:ext cx="10515600" cy="365760"/>
          </a:xfrm>
          <a:prstGeom prst="rect">
            <a:avLst/>
          </a:prstGeom>
          <a:noFill/>
          <a:ln/>
        </p:spPr>
        <p:txBody>
          <a:bodyPr wrap="square" lIns="0" tIns="0" rIns="0" bIns="0" rtlCol="0" anchor="ctr"/>
          <a:lstStyle/>
          <a:p>
            <a:pPr marL="0" indent="0">
              <a:buNone/>
            </a:pPr>
            <a:r>
              <a:rPr lang="en-US" sz="1400" b="1" dirty="0">
                <a:solidFill>
                  <a:srgbClr val="12977A"/>
                </a:solidFill>
                <a:latin typeface="Quicksand" pitchFamily="34" charset="0"/>
                <a:ea typeface="Quicksand" pitchFamily="34" charset="-122"/>
                <a:cs typeface="Quicksand" pitchFamily="34" charset="-120"/>
              </a:rPr>
              <a:t>Louis Basnier   ·   louis.basnier@naxos.fr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1601</Words>
  <Application>Microsoft Office PowerPoint</Application>
  <PresentationFormat>Grand écran</PresentationFormat>
  <Paragraphs>126</Paragraphs>
  <Slides>15</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Arial</vt:lpstr>
      <vt:lpstr>Nunito</vt:lpstr>
      <vt:lpstr>Quicksand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Mémoire d'expertise — Grandir sans s'en apercevoir</dc:title>
  <dc:subject>PptxGenJS Presentation</dc:subject>
  <dc:creator>Louis Basnier</dc:creator>
  <cp:lastModifiedBy>Viktor Dragnir</cp:lastModifiedBy>
  <cp:revision>2</cp:revision>
  <dcterms:created xsi:type="dcterms:W3CDTF">2026-08-25T18:42:06Z</dcterms:created>
  <dcterms:modified xsi:type="dcterms:W3CDTF">2026-08-25T18:42:30Z</dcterms:modified>
</cp:coreProperties>
</file>