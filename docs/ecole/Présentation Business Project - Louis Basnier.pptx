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DreamWeave, mon business project : un outil qui permet de créer un webtoon complet et cohérent grâce à l'IA, sans savoir dessiner. En 15 minutes je couvre le marché, la solution, le modèle économique et la faisabilité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marché du webtoon croît de 27 % par an et pèsera 45 milliards de dollars en 2030. Mais créer un webtoon reste bloqué par le dessin, ou par un coût de 300 à 1500 € par chapitre. La demande d'outils IA explose : +200 % de recherches en deux ans. C'est cet écart que DreamWeave comble.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webtoon, c'est une bande dessinée verticale qu'on lit en scrollant sur mobile. La plateforme leader compte 170 millions de lecteurs et 24 millions de créateurs. La romance domine avec près de 40 % des revenus. Le public est là, l'économie de créateurs aussi : ce qui manque, ce sont des outils de production accessibles.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personas issus de données publiques. La cible primaire : la créatrice passionnée, qui a des histoires mais ne dessine pas, prête à mettre 8 à 15 € par mois. Autour, l'auteur amateur plus exigeant, l'étudiant très sensible au prix, et l'éditeur indépendant en B2B. Tous partagent le même blocage : produire des visuels cohérents.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regarde le marché à trois niveaux. Le TAM : tous les auteurs de webfiction du monde. Le SAM, plus réaliste : les créateurs bloqués par le dessin, prêts à payer 10 à 30 € par mois. Le SOM, mon objectif à un an : 10 000 inscrits, 600 payants, avec un coût d'acquisition sous 30 € et un ratio valeur-vie sur coût supérieur à 3 pour 1. Volontairement prudent.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Dashtoon a le workflow mais une cohérence faible d'une case à l'autre. Clip Studio est la référence des pros mais refuse l'IA. AI Comic Factory est gratuit mais reste un rendu brut. La place vide, c'est l'intersection cohérence + accessibilité. Ma force : la qualité FLUX.2 Pro pour tous et une mémoire narrative. Ma faiblesse assumée : la dépendance à un fournisseur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en quatre étapes. On fixe un style de référence. On génère les assets, cohérents entre eux. On écrit le scénario, qui se découpe en cases. Et dans l'éditeur, on compose chaque case, on ajoute les bulles, on exporte le chapitre. Le tout produit des visuels cohérents en quelques secondes, sans savoir dessiner.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produit, et mon vrai différenciateur : la cohérence. Le Sheet System, une fiche du personnage sous quatre angles réinjectée à chaque génération. NarraMind, une mémoire narrative qui alerte quand le scénario se contredit. Et FLUX.2 Pro Edit qui génère chaque case à partir de la sheet. Résultat : un personnage qui reste lui-même sur des dizaines de chapitres.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 partenaires : FAL.ai pour l'IA image, Supabase pour le back-end, Vercel pour l'hébergement. Mes ressources clés : les modèles FLUX et surtout mes prompts système propriétaires. Les revenus : abonnements, packs de crédits, marketplace de styles à 30 %, et API B2B. Et l'essentiel des coûts est variable, environ 6 centimes par génération : je ne paie que ce que les utilisateurs consomment.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pricing suit une logique Spotify : la même qualité pour tous, on ne fait payer que le volume. Libre gratuit avec 20 crédits, Créateur à 12,99 € avec 100 crédits, Studio à 29,99 € avec 250 crédits. Toutes les fonctionnalités sont ouvertes, même en gratuit. Un crédit me coûte environ 6 centimes et demi, donc un utilisateur gratuit reste soutenable : c'est ma stratégie d'acquisition.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ça change, chiffré. Un chapitre qui demandait une à quatre semaines se produit en deux à quatre heures. Un coût d'illustration de 300 à 1500 € tombe sous 5 €. La proposition de valeur est massive. Mon objectif financier à un an reste prudent : 600 clients payants, ce qui valide le modèle avant de chercher à grandir.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mise sur le marché en cinq phases. Une bêta avec une dizaine de pilotes pour affiner le produit. Le lancement public du gratuit. Le content marketing, SEO et tutoriels, pour capter la demande qui cherche déjà « AI webtoon maker ». Une phase d'influence avec des créateurs qui montrent le résultat. Et en parallèle, une offre B2B pour les studios. On commence par le freemium, l'acquisition la moins chère.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n'est pas qu'un concept : le prototype fonctionne. Un front React sur Vercel, un back-end Supabase clé en main avec sécurité par utilisateur, l'IA image via FAL.ai et FLUX, l'IA texte via Gemini. Les trois défis que je m'étais fixés sont levés : la cohérence grâce au Sheet System, le coût grâce aux crédits, et une architecture pensée pour passer les 10 000 utilisateurs actifs.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le marché grandit vite, 86 % des créateurs utilisent déjà l'IA, et personne ne résout vraiment la cohérence. DreamWeave arrive au bon moment avec la bonne réponse : de l'idée au chapitre publié, sans savoir dessiner, pour quelques euros. Un produit prouvé par un prototype, avec un modèle soutenable dès le premier utilisateur gratuit.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2.png"/><Relationship Id="rId6" Type="http://schemas.openxmlformats.org/officeDocument/2006/relationships/image" Target="../media/image-7-1.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image" Target="../media/image-12-2.png"/><Relationship Id="rId5" Type="http://schemas.openxmlformats.org/officeDocument/2006/relationships/image" Target="../media/image-12-2.png"/><Relationship Id="rId6" Type="http://schemas.openxmlformats.org/officeDocument/2006/relationships/image" Target="../media/image-12-2.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0E15"/>
        </a:solidFill>
      </p:bgPr>
    </p:bg>
    <p:spTree>
      <p:nvGrpSpPr>
        <p:cNvPr id="1" name=""/>
        <p:cNvGrpSpPr/>
        <p:nvPr/>
      </p:nvGrpSpPr>
      <p:grpSpPr>
        <a:xfrm>
          <a:off x="0" y="0"/>
          <a:ext cx="0" cy="0"/>
          <a:chOff x="0" y="0"/>
          <a:chExt cx="0" cy="0"/>
        </a:xfrm>
      </p:grpSpPr>
      <p:pic>
        <p:nvPicPr>
          <p:cNvPr id="2" name="Image 0" descr="gblob_dark.png">    </p:cNvPr>
          <p:cNvPicPr>
            <a:picLocks noChangeAspect="1"/>
          </p:cNvPicPr>
          <p:nvPr/>
        </p:nvPicPr>
        <p:blipFill>
          <a:blip r:embed="rId1"/>
          <a:stretch>
            <a:fillRect/>
          </a:stretch>
        </p:blipFill>
        <p:spPr>
          <a:xfrm>
            <a:off x="7589520" y="-2377440"/>
            <a:ext cx="6217920" cy="6217920"/>
          </a:xfrm>
          <a:prstGeom prst="rect">
            <a:avLst/>
          </a:prstGeom>
        </p:spPr>
      </p:pic>
      <p:pic>
        <p:nvPicPr>
          <p:cNvPr id="3" name="Image 1" descr="gblob_dark.png">    </p:cNvPr>
          <p:cNvPicPr>
            <a:picLocks noChangeAspect="1"/>
          </p:cNvPicPr>
          <p:nvPr/>
        </p:nvPicPr>
        <p:blipFill>
          <a:blip r:embed="rId2"/>
          <a:stretch>
            <a:fillRect/>
          </a:stretch>
        </p:blipFill>
        <p:spPr>
          <a:xfrm>
            <a:off x="-2377440" y="3566160"/>
            <a:ext cx="5669280" cy="5669280"/>
          </a:xfrm>
          <a:prstGeom prst="rect">
            <a:avLst/>
          </a:prstGeom>
        </p:spPr>
      </p:pic>
      <p:sp>
        <p:nvSpPr>
          <p:cNvPr id="4" name="Text 0"/>
          <p:cNvSpPr/>
          <p:nvPr/>
        </p:nvSpPr>
        <p:spPr>
          <a:xfrm>
            <a:off x="914400" y="1828800"/>
            <a:ext cx="10332720" cy="347472"/>
          </a:xfrm>
          <a:prstGeom prst="rect">
            <a:avLst/>
          </a:prstGeom>
          <a:noFill/>
          <a:ln/>
        </p:spPr>
        <p:txBody>
          <a:bodyPr wrap="square" rtlCol="0" anchor="ctr"/>
          <a:lstStyle/>
          <a:p>
            <a:pPr algn="ctr" indent="0" marL="0">
              <a:buNone/>
            </a:pPr>
            <a:r>
              <a:rPr lang="en-US" sz="1300" b="1" spc="300" kern="0" dirty="0">
                <a:solidFill>
                  <a:srgbClr val="ECB093"/>
                </a:solidFill>
                <a:latin typeface="Quicksand" pitchFamily="34" charset="0"/>
                <a:ea typeface="Quicksand" pitchFamily="34" charset="-122"/>
                <a:cs typeface="Quicksand" pitchFamily="34" charset="-120"/>
              </a:rPr>
              <a:t>BUSINESS PROJECT · WSF5 · PROMOTION 2026</a:t>
            </a:r>
            <a:endParaRPr lang="en-US" sz="1300" dirty="0"/>
          </a:p>
        </p:txBody>
      </p:sp>
      <p:sp>
        <p:nvSpPr>
          <p:cNvPr id="5" name="Text 1"/>
          <p:cNvSpPr/>
          <p:nvPr/>
        </p:nvSpPr>
        <p:spPr>
          <a:xfrm>
            <a:off x="731520" y="2286000"/>
            <a:ext cx="10698480" cy="1554480"/>
          </a:xfrm>
          <a:prstGeom prst="rect">
            <a:avLst/>
          </a:prstGeom>
          <a:noFill/>
          <a:ln/>
        </p:spPr>
        <p:txBody>
          <a:bodyPr wrap="square" rtlCol="0" anchor="ctr"/>
          <a:lstStyle/>
          <a:p>
            <a:pPr algn="ctr" indent="0" marL="0">
              <a:lnSpc>
                <a:spcPct val="102000"/>
              </a:lnSpc>
              <a:buNone/>
            </a:pPr>
            <a:r>
              <a:rPr lang="en-US" sz="4600" b="1" dirty="0">
                <a:solidFill>
                  <a:srgbClr val="C9AEE6"/>
                </a:solidFill>
                <a:latin typeface="Quicksand" pitchFamily="34" charset="0"/>
                <a:ea typeface="Quicksand" pitchFamily="34" charset="-122"/>
                <a:cs typeface="Quicksand" pitchFamily="34" charset="-120"/>
              </a:rPr>
              <a:t>DREAMWEAVE</a:t>
            </a:r>
            <a:endParaRPr lang="en-US" sz="4600" dirty="0"/>
          </a:p>
        </p:txBody>
      </p:sp>
      <p:pic>
        <p:nvPicPr>
          <p:cNvPr id="6" name="Image 2" descr="gbar_dark.png">    </p:cNvPr>
          <p:cNvPicPr>
            <a:picLocks noChangeAspect="1"/>
          </p:cNvPicPr>
          <p:nvPr/>
        </p:nvPicPr>
        <p:blipFill>
          <a:blip r:embed="rId3"/>
          <a:stretch>
            <a:fillRect/>
          </a:stretch>
        </p:blipFill>
        <p:spPr>
          <a:xfrm>
            <a:off x="5303520" y="3977640"/>
            <a:ext cx="1554480" cy="109728"/>
          </a:xfrm>
          <a:prstGeom prst="rect">
            <a:avLst/>
          </a:prstGeom>
        </p:spPr>
      </p:pic>
      <p:sp>
        <p:nvSpPr>
          <p:cNvPr id="7" name="Text 2"/>
          <p:cNvSpPr/>
          <p:nvPr/>
        </p:nvSpPr>
        <p:spPr>
          <a:xfrm>
            <a:off x="1828800" y="4251960"/>
            <a:ext cx="8503920" cy="914400"/>
          </a:xfrm>
          <a:prstGeom prst="rect">
            <a:avLst/>
          </a:prstGeom>
          <a:noFill/>
          <a:ln/>
        </p:spPr>
        <p:txBody>
          <a:bodyPr wrap="square" rtlCol="0" anchor="ctr"/>
          <a:lstStyle/>
          <a:p>
            <a:pPr algn="ctr" indent="0" marL="0">
              <a:lnSpc>
                <a:spcPct val="120000"/>
              </a:lnSpc>
              <a:buNone/>
            </a:pPr>
            <a:r>
              <a:rPr lang="en-US" sz="1600" dirty="0">
                <a:solidFill>
                  <a:srgbClr val="B9AECB"/>
                </a:solidFill>
                <a:latin typeface="Quicksand" pitchFamily="34" charset="0"/>
                <a:ea typeface="Quicksand" pitchFamily="34" charset="-122"/>
                <a:cs typeface="Quicksand" pitchFamily="34" charset="-120"/>
              </a:rPr>
              <a:t>Créer des webtoons professionnels par IA, sans compétences artistiques</a:t>
            </a:r>
            <a:endParaRPr lang="en-US" sz="1600" dirty="0"/>
          </a:p>
        </p:txBody>
      </p:sp>
      <p:sp>
        <p:nvSpPr>
          <p:cNvPr id="8" name="Text 3"/>
          <p:cNvSpPr/>
          <p:nvPr/>
        </p:nvSpPr>
        <p:spPr>
          <a:xfrm>
            <a:off x="914400" y="5440680"/>
            <a:ext cx="10332720" cy="365760"/>
          </a:xfrm>
          <a:prstGeom prst="rect">
            <a:avLst/>
          </a:prstGeom>
          <a:noFill/>
          <a:ln/>
        </p:spPr>
        <p:txBody>
          <a:bodyPr wrap="square" rtlCol="0" anchor="ctr"/>
          <a:lstStyle/>
          <a:p>
            <a:pPr algn="ctr" indent="0" marL="0">
              <a:buNone/>
            </a:pPr>
            <a:r>
              <a:rPr lang="en-US" sz="1700" b="1" dirty="0">
                <a:solidFill>
                  <a:srgbClr val="B3DBD4"/>
                </a:solidFill>
                <a:latin typeface="Quicksand" pitchFamily="34" charset="0"/>
                <a:ea typeface="Quicksand" pitchFamily="34" charset="-122"/>
                <a:cs typeface="Quicksand" pitchFamily="34" charset="-120"/>
              </a:rPr>
              <a:t>Louis Basnier</a:t>
            </a:r>
            <a:endParaRPr lang="en-US" sz="1700" dirty="0"/>
          </a:p>
        </p:txBody>
      </p:sp>
      <p:sp>
        <p:nvSpPr>
          <p:cNvPr id="9" name="Text 4"/>
          <p:cNvSpPr/>
          <p:nvPr/>
        </p:nvSpPr>
        <p:spPr>
          <a:xfrm>
            <a:off x="914400" y="5852160"/>
            <a:ext cx="10332720" cy="320040"/>
          </a:xfrm>
          <a:prstGeom prst="rect">
            <a:avLst/>
          </a:prstGeom>
          <a:noFill/>
          <a:ln/>
        </p:spPr>
        <p:txBody>
          <a:bodyPr wrap="square" rtlCol="0" anchor="ctr"/>
          <a:lstStyle/>
          <a:p>
            <a:pPr algn="ctr" indent="0" marL="0">
              <a:buNone/>
            </a:pPr>
            <a:r>
              <a:rPr lang="en-US" sz="1200" dirty="0">
                <a:solidFill>
                  <a:srgbClr val="B9AECB"/>
                </a:solidFill>
                <a:latin typeface="Quicksand" pitchFamily="34" charset="0"/>
                <a:ea typeface="Quicksand" pitchFamily="34" charset="-122"/>
                <a:cs typeface="Quicksand" pitchFamily="34" charset="-120"/>
              </a:rPr>
              <a:t>Soutenance · 15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LE PROBLÈME</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Un marché qui explose, un goulot d'étranglement</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2057400"/>
            <a:ext cx="338328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+27 %</a:t>
            </a:r>
            <a:endParaRPr lang="en-US" sz="3200" dirty="0"/>
          </a:p>
        </p:txBody>
      </p:sp>
      <p:sp>
        <p:nvSpPr>
          <p:cNvPr id="6" name="Text 3"/>
          <p:cNvSpPr/>
          <p:nvPr/>
        </p:nvSpPr>
        <p:spPr>
          <a:xfrm>
            <a:off x="548640" y="2770632"/>
            <a:ext cx="338328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croissance annuelle du marché webtoon</a:t>
            </a:r>
            <a:endParaRPr lang="en-US" sz="1250" dirty="0"/>
          </a:p>
        </p:txBody>
      </p:sp>
      <p:sp>
        <p:nvSpPr>
          <p:cNvPr id="7" name="Text 4"/>
          <p:cNvSpPr/>
          <p:nvPr/>
        </p:nvSpPr>
        <p:spPr>
          <a:xfrm>
            <a:off x="4389120" y="2057400"/>
            <a:ext cx="338328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45,3 Md$</a:t>
            </a:r>
            <a:endParaRPr lang="en-US" sz="3200" dirty="0"/>
          </a:p>
        </p:txBody>
      </p:sp>
      <p:sp>
        <p:nvSpPr>
          <p:cNvPr id="8" name="Text 5"/>
          <p:cNvSpPr/>
          <p:nvPr/>
        </p:nvSpPr>
        <p:spPr>
          <a:xfrm>
            <a:off x="4389120" y="2770632"/>
            <a:ext cx="338328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marché projeté en 2030 (8,28 en 2023)</a:t>
            </a:r>
            <a:endParaRPr lang="en-US" sz="1250" dirty="0"/>
          </a:p>
        </p:txBody>
      </p:sp>
      <p:sp>
        <p:nvSpPr>
          <p:cNvPr id="9" name="Text 6"/>
          <p:cNvSpPr/>
          <p:nvPr/>
        </p:nvSpPr>
        <p:spPr>
          <a:xfrm>
            <a:off x="8229600" y="2057400"/>
            <a:ext cx="338328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+200 %</a:t>
            </a:r>
            <a:endParaRPr lang="en-US" sz="3200" dirty="0"/>
          </a:p>
        </p:txBody>
      </p:sp>
      <p:sp>
        <p:nvSpPr>
          <p:cNvPr id="10" name="Text 7"/>
          <p:cNvSpPr/>
          <p:nvPr/>
        </p:nvSpPr>
        <p:spPr>
          <a:xfrm>
            <a:off x="8229600" y="2770632"/>
            <a:ext cx="338328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recherches « AI webtoon maker » 2023-2025</a:t>
            </a:r>
            <a:endParaRPr lang="en-US" sz="1250" dirty="0"/>
          </a:p>
        </p:txBody>
      </p:sp>
      <p:sp>
        <p:nvSpPr>
          <p:cNvPr id="11" name="Shape 8"/>
          <p:cNvSpPr/>
          <p:nvPr/>
        </p:nvSpPr>
        <p:spPr>
          <a:xfrm>
            <a:off x="576072" y="4169664"/>
            <a:ext cx="164592" cy="164592"/>
          </a:xfrm>
          <a:prstGeom prst="roundRect">
            <a:avLst>
              <a:gd name="adj" fmla="val 27778"/>
            </a:avLst>
          </a:prstGeom>
          <a:solidFill>
            <a:srgbClr val="B3DBD4"/>
          </a:solidFill>
          <a:ln/>
        </p:spPr>
      </p:sp>
      <p:sp>
        <p:nvSpPr>
          <p:cNvPr id="12" name="Text 9"/>
          <p:cNvSpPr/>
          <p:nvPr/>
        </p:nvSpPr>
        <p:spPr>
          <a:xfrm>
            <a:off x="987552" y="406908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Bloqué par le dessin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la demande explose, mais créer un webtoon reste inaccessible.</a:t>
            </a:r>
            <a:endParaRPr lang="en-US" sz="1450" dirty="0"/>
          </a:p>
        </p:txBody>
      </p:sp>
      <p:sp>
        <p:nvSpPr>
          <p:cNvPr id="13" name="Shape 10"/>
          <p:cNvSpPr/>
          <p:nvPr/>
        </p:nvSpPr>
        <p:spPr>
          <a:xfrm>
            <a:off x="576072" y="4718304"/>
            <a:ext cx="164592" cy="164592"/>
          </a:xfrm>
          <a:prstGeom prst="roundRect">
            <a:avLst>
              <a:gd name="adj" fmla="val 27778"/>
            </a:avLst>
          </a:prstGeom>
          <a:solidFill>
            <a:srgbClr val="ECB093"/>
          </a:solidFill>
          <a:ln/>
        </p:spPr>
      </p:sp>
      <p:sp>
        <p:nvSpPr>
          <p:cNvPr id="14" name="Text 11"/>
          <p:cNvSpPr/>
          <p:nvPr/>
        </p:nvSpPr>
        <p:spPr>
          <a:xfrm>
            <a:off x="987552" y="461772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300 à 1 500 €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le coût d'un chapitre illustré, en 1 à 4 semaines.</a:t>
            </a:r>
            <a:endParaRPr lang="en-US" sz="1450" dirty="0"/>
          </a:p>
        </p:txBody>
      </p:sp>
      <p:sp>
        <p:nvSpPr>
          <p:cNvPr id="15" name="Text 12"/>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16" name="Text 13"/>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02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LE CONTEXTE</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Le webtoon, un format né pour le mobile</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2057400"/>
            <a:ext cx="338328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170 M</a:t>
            </a:r>
            <a:endParaRPr lang="en-US" sz="3200" dirty="0"/>
          </a:p>
        </p:txBody>
      </p:sp>
      <p:sp>
        <p:nvSpPr>
          <p:cNvPr id="6" name="Text 3"/>
          <p:cNvSpPr/>
          <p:nvPr/>
        </p:nvSpPr>
        <p:spPr>
          <a:xfrm>
            <a:off x="548640" y="2770632"/>
            <a:ext cx="338328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lecteurs actifs mensuels (plateforme Webtoon)</a:t>
            </a:r>
            <a:endParaRPr lang="en-US" sz="1250" dirty="0"/>
          </a:p>
        </p:txBody>
      </p:sp>
      <p:sp>
        <p:nvSpPr>
          <p:cNvPr id="7" name="Text 4"/>
          <p:cNvSpPr/>
          <p:nvPr/>
        </p:nvSpPr>
        <p:spPr>
          <a:xfrm>
            <a:off x="4389120" y="2057400"/>
            <a:ext cx="338328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24 M</a:t>
            </a:r>
            <a:endParaRPr lang="en-US" sz="3200" dirty="0"/>
          </a:p>
        </p:txBody>
      </p:sp>
      <p:sp>
        <p:nvSpPr>
          <p:cNvPr id="8" name="Text 5"/>
          <p:cNvSpPr/>
          <p:nvPr/>
        </p:nvSpPr>
        <p:spPr>
          <a:xfrm>
            <a:off x="4389120" y="2770632"/>
            <a:ext cx="338328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créateurs actifs</a:t>
            </a:r>
            <a:endParaRPr lang="en-US" sz="1250" dirty="0"/>
          </a:p>
        </p:txBody>
      </p:sp>
      <p:sp>
        <p:nvSpPr>
          <p:cNvPr id="9" name="Text 6"/>
          <p:cNvSpPr/>
          <p:nvPr/>
        </p:nvSpPr>
        <p:spPr>
          <a:xfrm>
            <a:off x="8229600" y="2057400"/>
            <a:ext cx="338328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38,8 %</a:t>
            </a:r>
            <a:endParaRPr lang="en-US" sz="3200" dirty="0"/>
          </a:p>
        </p:txBody>
      </p:sp>
      <p:sp>
        <p:nvSpPr>
          <p:cNvPr id="10" name="Text 7"/>
          <p:cNvSpPr/>
          <p:nvPr/>
        </p:nvSpPr>
        <p:spPr>
          <a:xfrm>
            <a:off x="8229600" y="2770632"/>
            <a:ext cx="338328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des revenus captés par la romance</a:t>
            </a:r>
            <a:endParaRPr lang="en-US" sz="1250" dirty="0"/>
          </a:p>
        </p:txBody>
      </p:sp>
      <p:sp>
        <p:nvSpPr>
          <p:cNvPr id="11" name="Shape 8"/>
          <p:cNvSpPr/>
          <p:nvPr/>
        </p:nvSpPr>
        <p:spPr>
          <a:xfrm>
            <a:off x="576072" y="4169664"/>
            <a:ext cx="164592" cy="164592"/>
          </a:xfrm>
          <a:prstGeom prst="roundRect">
            <a:avLst>
              <a:gd name="adj" fmla="val 27778"/>
            </a:avLst>
          </a:prstGeom>
          <a:solidFill>
            <a:srgbClr val="B3DBD4"/>
          </a:solidFill>
          <a:ln/>
        </p:spPr>
      </p:sp>
      <p:sp>
        <p:nvSpPr>
          <p:cNvPr id="12" name="Text 9"/>
          <p:cNvSpPr/>
          <p:nvPr/>
        </p:nvSpPr>
        <p:spPr>
          <a:xfrm>
            <a:off x="987552" y="406908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Vertical, en scroll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un format pensé pour le smartphone et la Gen Z.</a:t>
            </a:r>
            <a:endParaRPr lang="en-US" sz="1450" dirty="0"/>
          </a:p>
        </p:txBody>
      </p:sp>
      <p:sp>
        <p:nvSpPr>
          <p:cNvPr id="13" name="Shape 10"/>
          <p:cNvSpPr/>
          <p:nvPr/>
        </p:nvSpPr>
        <p:spPr>
          <a:xfrm>
            <a:off x="576072" y="4718304"/>
            <a:ext cx="164592" cy="164592"/>
          </a:xfrm>
          <a:prstGeom prst="roundRect">
            <a:avLst>
              <a:gd name="adj" fmla="val 27778"/>
            </a:avLst>
          </a:prstGeom>
          <a:solidFill>
            <a:srgbClr val="ECB093"/>
          </a:solidFill>
          <a:ln/>
        </p:spPr>
      </p:sp>
      <p:sp>
        <p:nvSpPr>
          <p:cNvPr id="14" name="Text 11"/>
          <p:cNvSpPr/>
          <p:nvPr/>
        </p:nvSpPr>
        <p:spPr>
          <a:xfrm>
            <a:off x="987552" y="461772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Public massif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une économie de créateurs déjà installée.</a:t>
            </a:r>
            <a:endParaRPr lang="en-US" sz="1450" dirty="0"/>
          </a:p>
        </p:txBody>
      </p:sp>
      <p:sp>
        <p:nvSpPr>
          <p:cNvPr id="15" name="Text 12"/>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16" name="Text 13"/>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03 /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ÉTUDE DE MARCHÉ · CIBLES</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Quatre personas, un même blocage</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48640" y="2011680"/>
            <a:ext cx="2560320" cy="2926080"/>
          </a:xfrm>
          <a:prstGeom prst="roundRect">
            <a:avLst>
              <a:gd name="adj" fmla="val 5714"/>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6" name="Text 3"/>
          <p:cNvSpPr/>
          <p:nvPr/>
        </p:nvSpPr>
        <p:spPr>
          <a:xfrm>
            <a:off x="804672" y="2231136"/>
            <a:ext cx="2048256" cy="457200"/>
          </a:xfrm>
          <a:prstGeom prst="rect">
            <a:avLst/>
          </a:prstGeom>
          <a:noFill/>
          <a:ln/>
        </p:spPr>
        <p:txBody>
          <a:bodyPr wrap="square" lIns="0" tIns="0" rIns="0" bIns="0" rtlCol="0" anchor="ctr"/>
          <a:lstStyle/>
          <a:p>
            <a:pPr algn="l" indent="0" marL="0">
              <a:buNone/>
            </a:pPr>
            <a:r>
              <a:rPr lang="en-US" sz="1450" b="1" dirty="0">
                <a:solidFill>
                  <a:srgbClr val="ECB093"/>
                </a:solidFill>
                <a:latin typeface="Quicksand" pitchFamily="34" charset="0"/>
                <a:ea typeface="Quicksand" pitchFamily="34" charset="-122"/>
                <a:cs typeface="Quicksand" pitchFamily="34" charset="-120"/>
              </a:rPr>
              <a:t>La Créatrice Passionnée</a:t>
            </a:r>
            <a:endParaRPr lang="en-US" sz="1450" dirty="0"/>
          </a:p>
        </p:txBody>
      </p:sp>
      <p:sp>
        <p:nvSpPr>
          <p:cNvPr id="7" name="Text 4"/>
          <p:cNvSpPr/>
          <p:nvPr/>
        </p:nvSpPr>
        <p:spPr>
          <a:xfrm>
            <a:off x="804672" y="2706624"/>
            <a:ext cx="2048256" cy="201168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Cible primaire. Écrit déjà, ne dessine pas. 8-15 €/mois.</a:t>
            </a:r>
            <a:endParaRPr lang="en-US" sz="1300" dirty="0"/>
          </a:p>
        </p:txBody>
      </p:sp>
      <p:sp>
        <p:nvSpPr>
          <p:cNvPr id="8" name="Shape 5"/>
          <p:cNvSpPr/>
          <p:nvPr/>
        </p:nvSpPr>
        <p:spPr>
          <a:xfrm>
            <a:off x="3383280" y="2011680"/>
            <a:ext cx="2560320" cy="2926080"/>
          </a:xfrm>
          <a:prstGeom prst="roundRect">
            <a:avLst>
              <a:gd name="adj" fmla="val 5714"/>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9" name="Text 6"/>
          <p:cNvSpPr/>
          <p:nvPr/>
        </p:nvSpPr>
        <p:spPr>
          <a:xfrm>
            <a:off x="3639312" y="2231136"/>
            <a:ext cx="2048256" cy="457200"/>
          </a:xfrm>
          <a:prstGeom prst="rect">
            <a:avLst/>
          </a:prstGeom>
          <a:noFill/>
          <a:ln/>
        </p:spPr>
        <p:txBody>
          <a:bodyPr wrap="square" lIns="0" tIns="0" rIns="0" bIns="0" rtlCol="0" anchor="ctr"/>
          <a:lstStyle/>
          <a:p>
            <a:pPr algn="l" indent="0" marL="0">
              <a:buNone/>
            </a:pPr>
            <a:r>
              <a:rPr lang="en-US" sz="1450" b="1" dirty="0">
                <a:solidFill>
                  <a:srgbClr val="B3DBD4"/>
                </a:solidFill>
                <a:latin typeface="Quicksand" pitchFamily="34" charset="0"/>
                <a:ea typeface="Quicksand" pitchFamily="34" charset="-122"/>
                <a:cs typeface="Quicksand" pitchFamily="34" charset="-120"/>
              </a:rPr>
              <a:t>L'Auteur Amateur</a:t>
            </a:r>
            <a:endParaRPr lang="en-US" sz="1450" dirty="0"/>
          </a:p>
        </p:txBody>
      </p:sp>
      <p:sp>
        <p:nvSpPr>
          <p:cNvPr id="10" name="Text 7"/>
          <p:cNvSpPr/>
          <p:nvPr/>
        </p:nvSpPr>
        <p:spPr>
          <a:xfrm>
            <a:off x="3639312" y="2706624"/>
            <a:ext cx="2048256" cy="201168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Veut publier vite. Prêt à payer si gain &gt; 10 h/sem. 15-25 €/mois.</a:t>
            </a:r>
            <a:endParaRPr lang="en-US" sz="1300" dirty="0"/>
          </a:p>
        </p:txBody>
      </p:sp>
      <p:sp>
        <p:nvSpPr>
          <p:cNvPr id="11" name="Shape 8"/>
          <p:cNvSpPr/>
          <p:nvPr/>
        </p:nvSpPr>
        <p:spPr>
          <a:xfrm>
            <a:off x="6217920" y="2011680"/>
            <a:ext cx="2560320" cy="2926080"/>
          </a:xfrm>
          <a:prstGeom prst="roundRect">
            <a:avLst>
              <a:gd name="adj" fmla="val 5714"/>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2" name="Text 9"/>
          <p:cNvSpPr/>
          <p:nvPr/>
        </p:nvSpPr>
        <p:spPr>
          <a:xfrm>
            <a:off x="6473952" y="2231136"/>
            <a:ext cx="2048256" cy="457200"/>
          </a:xfrm>
          <a:prstGeom prst="rect">
            <a:avLst/>
          </a:prstGeom>
          <a:noFill/>
          <a:ln/>
        </p:spPr>
        <p:txBody>
          <a:bodyPr wrap="square" lIns="0" tIns="0" rIns="0" bIns="0" rtlCol="0" anchor="ctr"/>
          <a:lstStyle/>
          <a:p>
            <a:pPr algn="l" indent="0" marL="0">
              <a:buNone/>
            </a:pPr>
            <a:r>
              <a:rPr lang="en-US" sz="1450" b="1" dirty="0">
                <a:solidFill>
                  <a:srgbClr val="C9AEE6"/>
                </a:solidFill>
                <a:latin typeface="Quicksand" pitchFamily="34" charset="0"/>
                <a:ea typeface="Quicksand" pitchFamily="34" charset="-122"/>
                <a:cs typeface="Quicksand" pitchFamily="34" charset="-120"/>
              </a:rPr>
              <a:t>L'Étudiant</a:t>
            </a:r>
            <a:endParaRPr lang="en-US" sz="1450" dirty="0"/>
          </a:p>
        </p:txBody>
      </p:sp>
      <p:sp>
        <p:nvSpPr>
          <p:cNvPr id="13" name="Text 10"/>
          <p:cNvSpPr/>
          <p:nvPr/>
        </p:nvSpPr>
        <p:spPr>
          <a:xfrm>
            <a:off x="6473952" y="2706624"/>
            <a:ext cx="2048256" cy="201168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Storytelling, budget contraint, sensible au prix. 0-10 €/mois.</a:t>
            </a:r>
            <a:endParaRPr lang="en-US" sz="1300" dirty="0"/>
          </a:p>
        </p:txBody>
      </p:sp>
      <p:sp>
        <p:nvSpPr>
          <p:cNvPr id="14" name="Shape 11"/>
          <p:cNvSpPr/>
          <p:nvPr/>
        </p:nvSpPr>
        <p:spPr>
          <a:xfrm>
            <a:off x="9052560" y="2011680"/>
            <a:ext cx="2560320" cy="2926080"/>
          </a:xfrm>
          <a:prstGeom prst="roundRect">
            <a:avLst>
              <a:gd name="adj" fmla="val 5714"/>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5" name="Text 12"/>
          <p:cNvSpPr/>
          <p:nvPr/>
        </p:nvSpPr>
        <p:spPr>
          <a:xfrm>
            <a:off x="9308592" y="2231136"/>
            <a:ext cx="2048256" cy="457200"/>
          </a:xfrm>
          <a:prstGeom prst="rect">
            <a:avLst/>
          </a:prstGeom>
          <a:noFill/>
          <a:ln/>
        </p:spPr>
        <p:txBody>
          <a:bodyPr wrap="square" lIns="0" tIns="0" rIns="0" bIns="0" rtlCol="0" anchor="ctr"/>
          <a:lstStyle/>
          <a:p>
            <a:pPr algn="l" indent="0" marL="0">
              <a:buNone/>
            </a:pPr>
            <a:r>
              <a:rPr lang="en-US" sz="1450" b="1" dirty="0">
                <a:solidFill>
                  <a:srgbClr val="E394C0"/>
                </a:solidFill>
                <a:latin typeface="Quicksand" pitchFamily="34" charset="0"/>
                <a:ea typeface="Quicksand" pitchFamily="34" charset="-122"/>
                <a:cs typeface="Quicksand" pitchFamily="34" charset="-120"/>
              </a:rPr>
              <a:t>L'Éditeur indépendant</a:t>
            </a:r>
            <a:endParaRPr lang="en-US" sz="1450" dirty="0"/>
          </a:p>
        </p:txBody>
      </p:sp>
      <p:sp>
        <p:nvSpPr>
          <p:cNvPr id="16" name="Text 13"/>
          <p:cNvSpPr/>
          <p:nvPr/>
        </p:nvSpPr>
        <p:spPr>
          <a:xfrm>
            <a:off x="9308592" y="2706624"/>
            <a:ext cx="2048256" cy="201168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Cible B2B, volume et cohérence. 49-150 €/mois.</a:t>
            </a:r>
            <a:endParaRPr lang="en-US" sz="1300" dirty="0"/>
          </a:p>
        </p:txBody>
      </p:sp>
      <p:sp>
        <p:nvSpPr>
          <p:cNvPr id="17" name="Text 14"/>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18" name="Text 15"/>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04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ÉTUDE DE MARCHÉ · TAILLE</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TAM / SAM / SOM</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4864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6" name="Text 3"/>
          <p:cNvSpPr/>
          <p:nvPr/>
        </p:nvSpPr>
        <p:spPr>
          <a:xfrm>
            <a:off x="804672" y="2231136"/>
            <a:ext cx="2993136" cy="457200"/>
          </a:xfrm>
          <a:prstGeom prst="rect">
            <a:avLst/>
          </a:prstGeom>
          <a:noFill/>
          <a:ln/>
        </p:spPr>
        <p:txBody>
          <a:bodyPr wrap="square" lIns="0" tIns="0" rIns="0" bIns="0" rtlCol="0" anchor="ctr"/>
          <a:lstStyle/>
          <a:p>
            <a:pPr algn="l" indent="0" marL="0">
              <a:buNone/>
            </a:pPr>
            <a:r>
              <a:rPr lang="en-US" sz="1450" b="1" dirty="0">
                <a:solidFill>
                  <a:srgbClr val="ECB093"/>
                </a:solidFill>
                <a:latin typeface="Quicksand" pitchFamily="34" charset="0"/>
                <a:ea typeface="Quicksand" pitchFamily="34" charset="-122"/>
                <a:cs typeface="Quicksand" pitchFamily="34" charset="-120"/>
              </a:rPr>
              <a:t>TAM · marché total</a:t>
            </a:r>
            <a:endParaRPr lang="en-US" sz="1450" dirty="0"/>
          </a:p>
        </p:txBody>
      </p:sp>
      <p:sp>
        <p:nvSpPr>
          <p:cNvPr id="7" name="Text 4"/>
          <p:cNvSpPr/>
          <p:nvPr/>
        </p:nvSpPr>
        <p:spPr>
          <a:xfrm>
            <a:off x="804672" y="2706624"/>
            <a:ext cx="2993136" cy="118872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Tous les auteurs de webfiction dans le monde qui pourraient produire un webtoon.</a:t>
            </a:r>
            <a:endParaRPr lang="en-US" sz="1300" dirty="0"/>
          </a:p>
        </p:txBody>
      </p:sp>
      <p:sp>
        <p:nvSpPr>
          <p:cNvPr id="8" name="Shape 5"/>
          <p:cNvSpPr/>
          <p:nvPr/>
        </p:nvSpPr>
        <p:spPr>
          <a:xfrm>
            <a:off x="432816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9" name="Text 6"/>
          <p:cNvSpPr/>
          <p:nvPr/>
        </p:nvSpPr>
        <p:spPr>
          <a:xfrm>
            <a:off x="4584192" y="2231136"/>
            <a:ext cx="2993136" cy="457200"/>
          </a:xfrm>
          <a:prstGeom prst="rect">
            <a:avLst/>
          </a:prstGeom>
          <a:noFill/>
          <a:ln/>
        </p:spPr>
        <p:txBody>
          <a:bodyPr wrap="square" lIns="0" tIns="0" rIns="0" bIns="0" rtlCol="0" anchor="ctr"/>
          <a:lstStyle/>
          <a:p>
            <a:pPr algn="l" indent="0" marL="0">
              <a:buNone/>
            </a:pPr>
            <a:r>
              <a:rPr lang="en-US" sz="1450" b="1" dirty="0">
                <a:solidFill>
                  <a:srgbClr val="B3DBD4"/>
                </a:solidFill>
                <a:latin typeface="Quicksand" pitchFamily="34" charset="0"/>
                <a:ea typeface="Quicksand" pitchFamily="34" charset="-122"/>
                <a:cs typeface="Quicksand" pitchFamily="34" charset="-120"/>
              </a:rPr>
              <a:t>SAM · adressable</a:t>
            </a:r>
            <a:endParaRPr lang="en-US" sz="1450" dirty="0"/>
          </a:p>
        </p:txBody>
      </p:sp>
      <p:sp>
        <p:nvSpPr>
          <p:cNvPr id="10" name="Text 7"/>
          <p:cNvSpPr/>
          <p:nvPr/>
        </p:nvSpPr>
        <p:spPr>
          <a:xfrm>
            <a:off x="4584192" y="2706624"/>
            <a:ext cx="2993136" cy="118872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Les créateurs bloqués par le dessin, prêts à payer 10-30 €/mois.</a:t>
            </a:r>
            <a:endParaRPr lang="en-US" sz="1300" dirty="0"/>
          </a:p>
        </p:txBody>
      </p:sp>
      <p:sp>
        <p:nvSpPr>
          <p:cNvPr id="11" name="Shape 8"/>
          <p:cNvSpPr/>
          <p:nvPr/>
        </p:nvSpPr>
        <p:spPr>
          <a:xfrm>
            <a:off x="810768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2" name="Text 9"/>
          <p:cNvSpPr/>
          <p:nvPr/>
        </p:nvSpPr>
        <p:spPr>
          <a:xfrm>
            <a:off x="8363712" y="2231136"/>
            <a:ext cx="2993136" cy="457200"/>
          </a:xfrm>
          <a:prstGeom prst="rect">
            <a:avLst/>
          </a:prstGeom>
          <a:noFill/>
          <a:ln/>
        </p:spPr>
        <p:txBody>
          <a:bodyPr wrap="square" lIns="0" tIns="0" rIns="0" bIns="0" rtlCol="0" anchor="ctr"/>
          <a:lstStyle/>
          <a:p>
            <a:pPr algn="l" indent="0" marL="0">
              <a:buNone/>
            </a:pPr>
            <a:r>
              <a:rPr lang="en-US" sz="1450" b="1" dirty="0">
                <a:solidFill>
                  <a:srgbClr val="C9AEE6"/>
                </a:solidFill>
                <a:latin typeface="Quicksand" pitchFamily="34" charset="0"/>
                <a:ea typeface="Quicksand" pitchFamily="34" charset="-122"/>
                <a:cs typeface="Quicksand" pitchFamily="34" charset="-120"/>
              </a:rPr>
              <a:t>SOM · court terme</a:t>
            </a:r>
            <a:endParaRPr lang="en-US" sz="1450" dirty="0"/>
          </a:p>
        </p:txBody>
      </p:sp>
      <p:sp>
        <p:nvSpPr>
          <p:cNvPr id="13" name="Text 10"/>
          <p:cNvSpPr/>
          <p:nvPr/>
        </p:nvSpPr>
        <p:spPr>
          <a:xfrm>
            <a:off x="8363712" y="2706624"/>
            <a:ext cx="2993136" cy="118872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10 000 inscrits et 600 payants visés à M12.</a:t>
            </a:r>
            <a:endParaRPr lang="en-US" sz="1300" dirty="0"/>
          </a:p>
        </p:txBody>
      </p:sp>
      <p:sp>
        <p:nvSpPr>
          <p:cNvPr id="14" name="Shape 11"/>
          <p:cNvSpPr/>
          <p:nvPr/>
        </p:nvSpPr>
        <p:spPr>
          <a:xfrm>
            <a:off x="576072" y="4535424"/>
            <a:ext cx="164592" cy="164592"/>
          </a:xfrm>
          <a:prstGeom prst="roundRect">
            <a:avLst>
              <a:gd name="adj" fmla="val 27778"/>
            </a:avLst>
          </a:prstGeom>
          <a:solidFill>
            <a:srgbClr val="B3DBD4"/>
          </a:solidFill>
          <a:ln/>
        </p:spPr>
      </p:sp>
      <p:sp>
        <p:nvSpPr>
          <p:cNvPr id="15" name="Text 12"/>
          <p:cNvSpPr/>
          <p:nvPr/>
        </p:nvSpPr>
        <p:spPr>
          <a:xfrm>
            <a:off x="987552" y="443484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Objectif M12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conversion &gt; 5 %, CAC &lt; 30 €, LTV/CAC &gt; 3:1.</a:t>
            </a:r>
            <a:endParaRPr lang="en-US" sz="1450" dirty="0"/>
          </a:p>
        </p:txBody>
      </p:sp>
      <p:sp>
        <p:nvSpPr>
          <p:cNvPr id="16" name="Text 13"/>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17" name="Text 14"/>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05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CONCURRENCE · SWOT</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Une place vide : cohérence + accessibilité</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4864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6" name="Text 3"/>
          <p:cNvSpPr/>
          <p:nvPr/>
        </p:nvSpPr>
        <p:spPr>
          <a:xfrm>
            <a:off x="804672" y="2231136"/>
            <a:ext cx="2993136" cy="457200"/>
          </a:xfrm>
          <a:prstGeom prst="rect">
            <a:avLst/>
          </a:prstGeom>
          <a:noFill/>
          <a:ln/>
        </p:spPr>
        <p:txBody>
          <a:bodyPr wrap="square" lIns="0" tIns="0" rIns="0" bIns="0" rtlCol="0" anchor="ctr"/>
          <a:lstStyle/>
          <a:p>
            <a:pPr algn="l" indent="0" marL="0">
              <a:buNone/>
            </a:pPr>
            <a:r>
              <a:rPr lang="en-US" sz="1450" b="1" dirty="0">
                <a:solidFill>
                  <a:srgbClr val="ECB093"/>
                </a:solidFill>
                <a:latin typeface="Quicksand" pitchFamily="34" charset="0"/>
                <a:ea typeface="Quicksand" pitchFamily="34" charset="-122"/>
                <a:cs typeface="Quicksand" pitchFamily="34" charset="-120"/>
              </a:rPr>
              <a:t>Dashtoon</a:t>
            </a:r>
            <a:endParaRPr lang="en-US" sz="1450" dirty="0"/>
          </a:p>
        </p:txBody>
      </p:sp>
      <p:sp>
        <p:nvSpPr>
          <p:cNvPr id="7" name="Text 4"/>
          <p:cNvSpPr/>
          <p:nvPr/>
        </p:nvSpPr>
        <p:spPr>
          <a:xfrm>
            <a:off x="804672" y="2706624"/>
            <a:ext cx="2993136" cy="118872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Bon workflow IA, mais cohérence faible entre les cases.</a:t>
            </a:r>
            <a:endParaRPr lang="en-US" sz="1300" dirty="0"/>
          </a:p>
        </p:txBody>
      </p:sp>
      <p:sp>
        <p:nvSpPr>
          <p:cNvPr id="8" name="Shape 5"/>
          <p:cNvSpPr/>
          <p:nvPr/>
        </p:nvSpPr>
        <p:spPr>
          <a:xfrm>
            <a:off x="432816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9" name="Text 6"/>
          <p:cNvSpPr/>
          <p:nvPr/>
        </p:nvSpPr>
        <p:spPr>
          <a:xfrm>
            <a:off x="4584192" y="2231136"/>
            <a:ext cx="2993136" cy="457200"/>
          </a:xfrm>
          <a:prstGeom prst="rect">
            <a:avLst/>
          </a:prstGeom>
          <a:noFill/>
          <a:ln/>
        </p:spPr>
        <p:txBody>
          <a:bodyPr wrap="square" lIns="0" tIns="0" rIns="0" bIns="0" rtlCol="0" anchor="ctr"/>
          <a:lstStyle/>
          <a:p>
            <a:pPr algn="l" indent="0" marL="0">
              <a:buNone/>
            </a:pPr>
            <a:r>
              <a:rPr lang="en-US" sz="1450" b="1" dirty="0">
                <a:solidFill>
                  <a:srgbClr val="B3DBD4"/>
                </a:solidFill>
                <a:latin typeface="Quicksand" pitchFamily="34" charset="0"/>
                <a:ea typeface="Quicksand" pitchFamily="34" charset="-122"/>
                <a:cs typeface="Quicksand" pitchFamily="34" charset="-120"/>
              </a:rPr>
              <a:t>Clip Studio Paint</a:t>
            </a:r>
            <a:endParaRPr lang="en-US" sz="1450" dirty="0"/>
          </a:p>
        </p:txBody>
      </p:sp>
      <p:sp>
        <p:nvSpPr>
          <p:cNvPr id="10" name="Text 7"/>
          <p:cNvSpPr/>
          <p:nvPr/>
        </p:nvSpPr>
        <p:spPr>
          <a:xfrm>
            <a:off x="4584192" y="2706624"/>
            <a:ext cx="2993136" cy="118872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Référence des pros, mais refuse l'IA et exige de dessiner.</a:t>
            </a:r>
            <a:endParaRPr lang="en-US" sz="1300" dirty="0"/>
          </a:p>
        </p:txBody>
      </p:sp>
      <p:sp>
        <p:nvSpPr>
          <p:cNvPr id="11" name="Shape 8"/>
          <p:cNvSpPr/>
          <p:nvPr/>
        </p:nvSpPr>
        <p:spPr>
          <a:xfrm>
            <a:off x="810768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2" name="Text 9"/>
          <p:cNvSpPr/>
          <p:nvPr/>
        </p:nvSpPr>
        <p:spPr>
          <a:xfrm>
            <a:off x="8363712" y="2231136"/>
            <a:ext cx="2993136" cy="457200"/>
          </a:xfrm>
          <a:prstGeom prst="rect">
            <a:avLst/>
          </a:prstGeom>
          <a:noFill/>
          <a:ln/>
        </p:spPr>
        <p:txBody>
          <a:bodyPr wrap="square" lIns="0" tIns="0" rIns="0" bIns="0" rtlCol="0" anchor="ctr"/>
          <a:lstStyle/>
          <a:p>
            <a:pPr algn="l" indent="0" marL="0">
              <a:buNone/>
            </a:pPr>
            <a:r>
              <a:rPr lang="en-US" sz="1450" b="1" dirty="0">
                <a:solidFill>
                  <a:srgbClr val="C9AEE6"/>
                </a:solidFill>
                <a:latin typeface="Quicksand" pitchFamily="34" charset="0"/>
                <a:ea typeface="Quicksand" pitchFamily="34" charset="-122"/>
                <a:cs typeface="Quicksand" pitchFamily="34" charset="-120"/>
              </a:rPr>
              <a:t>AI Comic Factory</a:t>
            </a:r>
            <a:endParaRPr lang="en-US" sz="1450" dirty="0"/>
          </a:p>
        </p:txBody>
      </p:sp>
      <p:sp>
        <p:nvSpPr>
          <p:cNvPr id="13" name="Text 10"/>
          <p:cNvSpPr/>
          <p:nvPr/>
        </p:nvSpPr>
        <p:spPr>
          <a:xfrm>
            <a:off x="8363712" y="2706624"/>
            <a:ext cx="2993136" cy="118872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Open source, gratuit, mais rendu brut, pas de produit.</a:t>
            </a:r>
            <a:endParaRPr lang="en-US" sz="1300" dirty="0"/>
          </a:p>
        </p:txBody>
      </p:sp>
      <p:sp>
        <p:nvSpPr>
          <p:cNvPr id="14" name="Shape 11"/>
          <p:cNvSpPr/>
          <p:nvPr/>
        </p:nvSpPr>
        <p:spPr>
          <a:xfrm>
            <a:off x="576072" y="4535424"/>
            <a:ext cx="164592" cy="164592"/>
          </a:xfrm>
          <a:prstGeom prst="roundRect">
            <a:avLst>
              <a:gd name="adj" fmla="val 27778"/>
            </a:avLst>
          </a:prstGeom>
          <a:solidFill>
            <a:srgbClr val="B3DBD4"/>
          </a:solidFill>
          <a:ln/>
        </p:spPr>
      </p:sp>
      <p:sp>
        <p:nvSpPr>
          <p:cNvPr id="15" name="Text 12"/>
          <p:cNvSpPr/>
          <p:nvPr/>
        </p:nvSpPr>
        <p:spPr>
          <a:xfrm>
            <a:off x="987552" y="443484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Force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freemium FLUX.2 Pro pour tous + mémoire narrative NarraMind.</a:t>
            </a:r>
            <a:endParaRPr lang="en-US" sz="1450" dirty="0"/>
          </a:p>
        </p:txBody>
      </p:sp>
      <p:sp>
        <p:nvSpPr>
          <p:cNvPr id="16" name="Shape 13"/>
          <p:cNvSpPr/>
          <p:nvPr/>
        </p:nvSpPr>
        <p:spPr>
          <a:xfrm>
            <a:off x="576072" y="5084064"/>
            <a:ext cx="164592" cy="164592"/>
          </a:xfrm>
          <a:prstGeom prst="roundRect">
            <a:avLst>
              <a:gd name="adj" fmla="val 27778"/>
            </a:avLst>
          </a:prstGeom>
          <a:solidFill>
            <a:srgbClr val="ECB093"/>
          </a:solidFill>
          <a:ln/>
        </p:spPr>
      </p:sp>
      <p:sp>
        <p:nvSpPr>
          <p:cNvPr id="17" name="Text 14"/>
          <p:cNvSpPr/>
          <p:nvPr/>
        </p:nvSpPr>
        <p:spPr>
          <a:xfrm>
            <a:off x="987552" y="498348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Faiblesse assumée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dépendance à un fournisseur d'IA (FAL.ai).</a:t>
            </a:r>
            <a:endParaRPr lang="en-US" sz="1450" dirty="0"/>
          </a:p>
        </p:txBody>
      </p:sp>
      <p:sp>
        <p:nvSpPr>
          <p:cNvPr id="18" name="Text 15"/>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19" name="Text 16"/>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06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LA SOLUTION</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Un parcours en quatre étapes</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48640" y="2331720"/>
            <a:ext cx="2526030" cy="2148840"/>
          </a:xfrm>
          <a:prstGeom prst="roundRect">
            <a:avLst>
              <a:gd name="adj" fmla="val 6809"/>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pic>
        <p:nvPicPr>
          <p:cNvPr id="6" name="Image 1" descr="gcirc_dark.png">    </p:cNvPr>
          <p:cNvPicPr>
            <a:picLocks noChangeAspect="1"/>
          </p:cNvPicPr>
          <p:nvPr/>
        </p:nvPicPr>
        <p:blipFill>
          <a:blip r:embed="rId2"/>
          <a:stretch>
            <a:fillRect/>
          </a:stretch>
        </p:blipFill>
        <p:spPr>
          <a:xfrm>
            <a:off x="1555623" y="2606040"/>
            <a:ext cx="512064" cy="512064"/>
          </a:xfrm>
          <a:prstGeom prst="rect">
            <a:avLst/>
          </a:prstGeom>
        </p:spPr>
      </p:pic>
      <p:sp>
        <p:nvSpPr>
          <p:cNvPr id="7" name="Text 3"/>
          <p:cNvSpPr/>
          <p:nvPr/>
        </p:nvSpPr>
        <p:spPr>
          <a:xfrm>
            <a:off x="1555623" y="2606040"/>
            <a:ext cx="512064" cy="512064"/>
          </a:xfrm>
          <a:prstGeom prst="rect">
            <a:avLst/>
          </a:prstGeom>
          <a:noFill/>
          <a:ln/>
        </p:spPr>
        <p:txBody>
          <a:bodyPr wrap="square" lIns="0" tIns="0" rIns="0" bIns="0" rtlCol="0" anchor="ctr"/>
          <a:lstStyle/>
          <a:p>
            <a:pPr algn="ctr" indent="0" marL="0">
              <a:buNone/>
            </a:pPr>
            <a:r>
              <a:rPr lang="en-US" sz="1800" b="1" dirty="0">
                <a:solidFill>
                  <a:srgbClr val="120E15"/>
                </a:solidFill>
                <a:latin typeface="Quicksand" pitchFamily="34" charset="0"/>
                <a:ea typeface="Quicksand" pitchFamily="34" charset="-122"/>
                <a:cs typeface="Quicksand" pitchFamily="34" charset="-120"/>
              </a:rPr>
              <a:t>1</a:t>
            </a:r>
            <a:endParaRPr lang="en-US" sz="1800" dirty="0"/>
          </a:p>
        </p:txBody>
      </p:sp>
      <p:sp>
        <p:nvSpPr>
          <p:cNvPr id="8" name="Text 4"/>
          <p:cNvSpPr/>
          <p:nvPr/>
        </p:nvSpPr>
        <p:spPr>
          <a:xfrm>
            <a:off x="685800" y="3300984"/>
            <a:ext cx="2251710" cy="457200"/>
          </a:xfrm>
          <a:prstGeom prst="rect">
            <a:avLst/>
          </a:prstGeom>
          <a:noFill/>
          <a:ln/>
        </p:spPr>
        <p:txBody>
          <a:bodyPr wrap="square" lIns="0" tIns="0" rIns="0" bIns="0" rtlCol="0" anchor="ctr"/>
          <a:lstStyle/>
          <a:p>
            <a:pPr algn="ctr" indent="0" marL="0">
              <a:buNone/>
            </a:pPr>
            <a:r>
              <a:rPr lang="en-US" sz="1450" b="1" dirty="0">
                <a:solidFill>
                  <a:srgbClr val="F7F2EA"/>
                </a:solidFill>
                <a:latin typeface="Quicksand" pitchFamily="34" charset="0"/>
                <a:ea typeface="Quicksand" pitchFamily="34" charset="-122"/>
                <a:cs typeface="Quicksand" pitchFamily="34" charset="-120"/>
              </a:rPr>
              <a:t>Style</a:t>
            </a:r>
            <a:endParaRPr lang="en-US" sz="1450" dirty="0"/>
          </a:p>
        </p:txBody>
      </p:sp>
      <p:sp>
        <p:nvSpPr>
          <p:cNvPr id="9" name="Text 5"/>
          <p:cNvSpPr/>
          <p:nvPr/>
        </p:nvSpPr>
        <p:spPr>
          <a:xfrm>
            <a:off x="685800" y="3703320"/>
            <a:ext cx="2251710" cy="685800"/>
          </a:xfrm>
          <a:prstGeom prst="rect">
            <a:avLst/>
          </a:prstGeom>
          <a:noFill/>
          <a:ln/>
        </p:spPr>
        <p:txBody>
          <a:bodyPr wrap="square" lIns="0" tIns="0" rIns="0" bIns="0" rtlCol="0" anchor="t"/>
          <a:lstStyle/>
          <a:p>
            <a:pPr algn="ctr" indent="0" marL="0">
              <a:lnSpc>
                <a:spcPct val="115000"/>
              </a:lnSpc>
              <a:buNone/>
            </a:pPr>
            <a:r>
              <a:rPr lang="en-US" sz="1200" dirty="0">
                <a:solidFill>
                  <a:srgbClr val="B9AECB"/>
                </a:solidFill>
                <a:latin typeface="Quicksand" pitchFamily="34" charset="0"/>
                <a:ea typeface="Quicksand" pitchFamily="34" charset="-122"/>
                <a:cs typeface="Quicksand" pitchFamily="34" charset="-120"/>
              </a:rPr>
              <a:t>Une direction artistique de référence</a:t>
            </a:r>
            <a:endParaRPr lang="en-US" sz="1200" dirty="0"/>
          </a:p>
        </p:txBody>
      </p:sp>
      <p:sp>
        <p:nvSpPr>
          <p:cNvPr id="10" name="Shape 6"/>
          <p:cNvSpPr/>
          <p:nvPr/>
        </p:nvSpPr>
        <p:spPr>
          <a:xfrm>
            <a:off x="3394710" y="2331720"/>
            <a:ext cx="2526030" cy="2148840"/>
          </a:xfrm>
          <a:prstGeom prst="roundRect">
            <a:avLst>
              <a:gd name="adj" fmla="val 6809"/>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pic>
        <p:nvPicPr>
          <p:cNvPr id="11" name="Image 2" descr="gcirc_dark.png">    </p:cNvPr>
          <p:cNvPicPr>
            <a:picLocks noChangeAspect="1"/>
          </p:cNvPicPr>
          <p:nvPr/>
        </p:nvPicPr>
        <p:blipFill>
          <a:blip r:embed="rId3"/>
          <a:stretch>
            <a:fillRect/>
          </a:stretch>
        </p:blipFill>
        <p:spPr>
          <a:xfrm>
            <a:off x="4401693" y="2606040"/>
            <a:ext cx="512064" cy="512064"/>
          </a:xfrm>
          <a:prstGeom prst="rect">
            <a:avLst/>
          </a:prstGeom>
        </p:spPr>
      </p:pic>
      <p:sp>
        <p:nvSpPr>
          <p:cNvPr id="12" name="Text 7"/>
          <p:cNvSpPr/>
          <p:nvPr/>
        </p:nvSpPr>
        <p:spPr>
          <a:xfrm>
            <a:off x="4401693" y="2606040"/>
            <a:ext cx="512064" cy="512064"/>
          </a:xfrm>
          <a:prstGeom prst="rect">
            <a:avLst/>
          </a:prstGeom>
          <a:noFill/>
          <a:ln/>
        </p:spPr>
        <p:txBody>
          <a:bodyPr wrap="square" lIns="0" tIns="0" rIns="0" bIns="0" rtlCol="0" anchor="ctr"/>
          <a:lstStyle/>
          <a:p>
            <a:pPr algn="ctr" indent="0" marL="0">
              <a:buNone/>
            </a:pPr>
            <a:r>
              <a:rPr lang="en-US" sz="1800" b="1" dirty="0">
                <a:solidFill>
                  <a:srgbClr val="120E15"/>
                </a:solidFill>
                <a:latin typeface="Quicksand" pitchFamily="34" charset="0"/>
                <a:ea typeface="Quicksand" pitchFamily="34" charset="-122"/>
                <a:cs typeface="Quicksand" pitchFamily="34" charset="-120"/>
              </a:rPr>
              <a:t>2</a:t>
            </a:r>
            <a:endParaRPr lang="en-US" sz="1800" dirty="0"/>
          </a:p>
        </p:txBody>
      </p:sp>
      <p:sp>
        <p:nvSpPr>
          <p:cNvPr id="13" name="Text 8"/>
          <p:cNvSpPr/>
          <p:nvPr/>
        </p:nvSpPr>
        <p:spPr>
          <a:xfrm>
            <a:off x="3531870" y="3300984"/>
            <a:ext cx="2251710" cy="457200"/>
          </a:xfrm>
          <a:prstGeom prst="rect">
            <a:avLst/>
          </a:prstGeom>
          <a:noFill/>
          <a:ln/>
        </p:spPr>
        <p:txBody>
          <a:bodyPr wrap="square" lIns="0" tIns="0" rIns="0" bIns="0" rtlCol="0" anchor="ctr"/>
          <a:lstStyle/>
          <a:p>
            <a:pPr algn="ctr" indent="0" marL="0">
              <a:buNone/>
            </a:pPr>
            <a:r>
              <a:rPr lang="en-US" sz="1450" b="1" dirty="0">
                <a:solidFill>
                  <a:srgbClr val="F7F2EA"/>
                </a:solidFill>
                <a:latin typeface="Quicksand" pitchFamily="34" charset="0"/>
                <a:ea typeface="Quicksand" pitchFamily="34" charset="-122"/>
                <a:cs typeface="Quicksand" pitchFamily="34" charset="-120"/>
              </a:rPr>
              <a:t>Assets</a:t>
            </a:r>
            <a:endParaRPr lang="en-US" sz="1450" dirty="0"/>
          </a:p>
        </p:txBody>
      </p:sp>
      <p:sp>
        <p:nvSpPr>
          <p:cNvPr id="14" name="Text 9"/>
          <p:cNvSpPr/>
          <p:nvPr/>
        </p:nvSpPr>
        <p:spPr>
          <a:xfrm>
            <a:off x="3531870" y="3703320"/>
            <a:ext cx="2251710" cy="685800"/>
          </a:xfrm>
          <a:prstGeom prst="rect">
            <a:avLst/>
          </a:prstGeom>
          <a:noFill/>
          <a:ln/>
        </p:spPr>
        <p:txBody>
          <a:bodyPr wrap="square" lIns="0" tIns="0" rIns="0" bIns="0" rtlCol="0" anchor="t"/>
          <a:lstStyle/>
          <a:p>
            <a:pPr algn="ctr" indent="0" marL="0">
              <a:lnSpc>
                <a:spcPct val="115000"/>
              </a:lnSpc>
              <a:buNone/>
            </a:pPr>
            <a:r>
              <a:rPr lang="en-US" sz="1200" dirty="0">
                <a:solidFill>
                  <a:srgbClr val="B9AECB"/>
                </a:solidFill>
                <a:latin typeface="Quicksand" pitchFamily="34" charset="0"/>
                <a:ea typeface="Quicksand" pitchFamily="34" charset="-122"/>
                <a:cs typeface="Quicksand" pitchFamily="34" charset="-120"/>
              </a:rPr>
              <a:t>Personnages, décors, cohérents entre eux</a:t>
            </a:r>
            <a:endParaRPr lang="en-US" sz="1200" dirty="0"/>
          </a:p>
        </p:txBody>
      </p:sp>
      <p:sp>
        <p:nvSpPr>
          <p:cNvPr id="15" name="Shape 10"/>
          <p:cNvSpPr/>
          <p:nvPr/>
        </p:nvSpPr>
        <p:spPr>
          <a:xfrm>
            <a:off x="6240780" y="2331720"/>
            <a:ext cx="2526030" cy="2148840"/>
          </a:xfrm>
          <a:prstGeom prst="roundRect">
            <a:avLst>
              <a:gd name="adj" fmla="val 6809"/>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pic>
        <p:nvPicPr>
          <p:cNvPr id="16" name="Image 3" descr="gcirc_dark.png">    </p:cNvPr>
          <p:cNvPicPr>
            <a:picLocks noChangeAspect="1"/>
          </p:cNvPicPr>
          <p:nvPr/>
        </p:nvPicPr>
        <p:blipFill>
          <a:blip r:embed="rId4"/>
          <a:stretch>
            <a:fillRect/>
          </a:stretch>
        </p:blipFill>
        <p:spPr>
          <a:xfrm>
            <a:off x="7247763" y="2606040"/>
            <a:ext cx="512064" cy="512064"/>
          </a:xfrm>
          <a:prstGeom prst="rect">
            <a:avLst/>
          </a:prstGeom>
        </p:spPr>
      </p:pic>
      <p:sp>
        <p:nvSpPr>
          <p:cNvPr id="17" name="Text 11"/>
          <p:cNvSpPr/>
          <p:nvPr/>
        </p:nvSpPr>
        <p:spPr>
          <a:xfrm>
            <a:off x="7247763" y="2606040"/>
            <a:ext cx="512064" cy="512064"/>
          </a:xfrm>
          <a:prstGeom prst="rect">
            <a:avLst/>
          </a:prstGeom>
          <a:noFill/>
          <a:ln/>
        </p:spPr>
        <p:txBody>
          <a:bodyPr wrap="square" lIns="0" tIns="0" rIns="0" bIns="0" rtlCol="0" anchor="ctr"/>
          <a:lstStyle/>
          <a:p>
            <a:pPr algn="ctr" indent="0" marL="0">
              <a:buNone/>
            </a:pPr>
            <a:r>
              <a:rPr lang="en-US" sz="1800" b="1" dirty="0">
                <a:solidFill>
                  <a:srgbClr val="120E15"/>
                </a:solidFill>
                <a:latin typeface="Quicksand" pitchFamily="34" charset="0"/>
                <a:ea typeface="Quicksand" pitchFamily="34" charset="-122"/>
                <a:cs typeface="Quicksand" pitchFamily="34" charset="-120"/>
              </a:rPr>
              <a:t>3</a:t>
            </a:r>
            <a:endParaRPr lang="en-US" sz="1800" dirty="0"/>
          </a:p>
        </p:txBody>
      </p:sp>
      <p:sp>
        <p:nvSpPr>
          <p:cNvPr id="18" name="Text 12"/>
          <p:cNvSpPr/>
          <p:nvPr/>
        </p:nvSpPr>
        <p:spPr>
          <a:xfrm>
            <a:off x="6377940" y="3300984"/>
            <a:ext cx="2251710" cy="457200"/>
          </a:xfrm>
          <a:prstGeom prst="rect">
            <a:avLst/>
          </a:prstGeom>
          <a:noFill/>
          <a:ln/>
        </p:spPr>
        <p:txBody>
          <a:bodyPr wrap="square" lIns="0" tIns="0" rIns="0" bIns="0" rtlCol="0" anchor="ctr"/>
          <a:lstStyle/>
          <a:p>
            <a:pPr algn="ctr" indent="0" marL="0">
              <a:buNone/>
            </a:pPr>
            <a:r>
              <a:rPr lang="en-US" sz="1450" b="1" dirty="0">
                <a:solidFill>
                  <a:srgbClr val="F7F2EA"/>
                </a:solidFill>
                <a:latin typeface="Quicksand" pitchFamily="34" charset="0"/>
                <a:ea typeface="Quicksand" pitchFamily="34" charset="-122"/>
                <a:cs typeface="Quicksand" pitchFamily="34" charset="-120"/>
              </a:rPr>
              <a:t>Scénario</a:t>
            </a:r>
            <a:endParaRPr lang="en-US" sz="1450" dirty="0"/>
          </a:p>
        </p:txBody>
      </p:sp>
      <p:sp>
        <p:nvSpPr>
          <p:cNvPr id="19" name="Text 13"/>
          <p:cNvSpPr/>
          <p:nvPr/>
        </p:nvSpPr>
        <p:spPr>
          <a:xfrm>
            <a:off x="6377940" y="3703320"/>
            <a:ext cx="2251710" cy="685800"/>
          </a:xfrm>
          <a:prstGeom prst="rect">
            <a:avLst/>
          </a:prstGeom>
          <a:noFill/>
          <a:ln/>
        </p:spPr>
        <p:txBody>
          <a:bodyPr wrap="square" lIns="0" tIns="0" rIns="0" bIns="0" rtlCol="0" anchor="t"/>
          <a:lstStyle/>
          <a:p>
            <a:pPr algn="ctr" indent="0" marL="0">
              <a:lnSpc>
                <a:spcPct val="115000"/>
              </a:lnSpc>
              <a:buNone/>
            </a:pPr>
            <a:r>
              <a:rPr lang="en-US" sz="1200" dirty="0">
                <a:solidFill>
                  <a:srgbClr val="B9AECB"/>
                </a:solidFill>
                <a:latin typeface="Quicksand" pitchFamily="34" charset="0"/>
                <a:ea typeface="Quicksand" pitchFamily="34" charset="-122"/>
                <a:cs typeface="Quicksand" pitchFamily="34" charset="-120"/>
              </a:rPr>
              <a:t>Écriture assistée, découpage en cases</a:t>
            </a:r>
            <a:endParaRPr lang="en-US" sz="1200" dirty="0"/>
          </a:p>
        </p:txBody>
      </p:sp>
      <p:sp>
        <p:nvSpPr>
          <p:cNvPr id="20" name="Shape 14"/>
          <p:cNvSpPr/>
          <p:nvPr/>
        </p:nvSpPr>
        <p:spPr>
          <a:xfrm>
            <a:off x="9086850" y="2331720"/>
            <a:ext cx="2526030" cy="2148840"/>
          </a:xfrm>
          <a:prstGeom prst="roundRect">
            <a:avLst>
              <a:gd name="adj" fmla="val 6809"/>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pic>
        <p:nvPicPr>
          <p:cNvPr id="21" name="Image 4" descr="gcirc_dark.png">    </p:cNvPr>
          <p:cNvPicPr>
            <a:picLocks noChangeAspect="1"/>
          </p:cNvPicPr>
          <p:nvPr/>
        </p:nvPicPr>
        <p:blipFill>
          <a:blip r:embed="rId5"/>
          <a:stretch>
            <a:fillRect/>
          </a:stretch>
        </p:blipFill>
        <p:spPr>
          <a:xfrm>
            <a:off x="10093833" y="2606040"/>
            <a:ext cx="512064" cy="512064"/>
          </a:xfrm>
          <a:prstGeom prst="rect">
            <a:avLst/>
          </a:prstGeom>
        </p:spPr>
      </p:pic>
      <p:sp>
        <p:nvSpPr>
          <p:cNvPr id="22" name="Text 15"/>
          <p:cNvSpPr/>
          <p:nvPr/>
        </p:nvSpPr>
        <p:spPr>
          <a:xfrm>
            <a:off x="10093833" y="2606040"/>
            <a:ext cx="512064" cy="512064"/>
          </a:xfrm>
          <a:prstGeom prst="rect">
            <a:avLst/>
          </a:prstGeom>
          <a:noFill/>
          <a:ln/>
        </p:spPr>
        <p:txBody>
          <a:bodyPr wrap="square" lIns="0" tIns="0" rIns="0" bIns="0" rtlCol="0" anchor="ctr"/>
          <a:lstStyle/>
          <a:p>
            <a:pPr algn="ctr" indent="0" marL="0">
              <a:buNone/>
            </a:pPr>
            <a:r>
              <a:rPr lang="en-US" sz="1800" b="1" dirty="0">
                <a:solidFill>
                  <a:srgbClr val="120E15"/>
                </a:solidFill>
                <a:latin typeface="Quicksand" pitchFamily="34" charset="0"/>
                <a:ea typeface="Quicksand" pitchFamily="34" charset="-122"/>
                <a:cs typeface="Quicksand" pitchFamily="34" charset="-120"/>
              </a:rPr>
              <a:t>4</a:t>
            </a:r>
            <a:endParaRPr lang="en-US" sz="1800" dirty="0"/>
          </a:p>
        </p:txBody>
      </p:sp>
      <p:sp>
        <p:nvSpPr>
          <p:cNvPr id="23" name="Text 16"/>
          <p:cNvSpPr/>
          <p:nvPr/>
        </p:nvSpPr>
        <p:spPr>
          <a:xfrm>
            <a:off x="9224010" y="3300984"/>
            <a:ext cx="2251710" cy="457200"/>
          </a:xfrm>
          <a:prstGeom prst="rect">
            <a:avLst/>
          </a:prstGeom>
          <a:noFill/>
          <a:ln/>
        </p:spPr>
        <p:txBody>
          <a:bodyPr wrap="square" lIns="0" tIns="0" rIns="0" bIns="0" rtlCol="0" anchor="ctr"/>
          <a:lstStyle/>
          <a:p>
            <a:pPr algn="ctr" indent="0" marL="0">
              <a:buNone/>
            </a:pPr>
            <a:r>
              <a:rPr lang="en-US" sz="1450" b="1" dirty="0">
                <a:solidFill>
                  <a:srgbClr val="F7F2EA"/>
                </a:solidFill>
                <a:latin typeface="Quicksand" pitchFamily="34" charset="0"/>
                <a:ea typeface="Quicksand" pitchFamily="34" charset="-122"/>
                <a:cs typeface="Quicksand" pitchFamily="34" charset="-120"/>
              </a:rPr>
              <a:t>Éditeur</a:t>
            </a:r>
            <a:endParaRPr lang="en-US" sz="1450" dirty="0"/>
          </a:p>
        </p:txBody>
      </p:sp>
      <p:sp>
        <p:nvSpPr>
          <p:cNvPr id="24" name="Text 17"/>
          <p:cNvSpPr/>
          <p:nvPr/>
        </p:nvSpPr>
        <p:spPr>
          <a:xfrm>
            <a:off x="9224010" y="3703320"/>
            <a:ext cx="2251710" cy="685800"/>
          </a:xfrm>
          <a:prstGeom prst="rect">
            <a:avLst/>
          </a:prstGeom>
          <a:noFill/>
          <a:ln/>
        </p:spPr>
        <p:txBody>
          <a:bodyPr wrap="square" lIns="0" tIns="0" rIns="0" bIns="0" rtlCol="0" anchor="t"/>
          <a:lstStyle/>
          <a:p>
            <a:pPr algn="ctr" indent="0" marL="0">
              <a:lnSpc>
                <a:spcPct val="115000"/>
              </a:lnSpc>
              <a:buNone/>
            </a:pPr>
            <a:r>
              <a:rPr lang="en-US" sz="1200" dirty="0">
                <a:solidFill>
                  <a:srgbClr val="B9AECB"/>
                </a:solidFill>
                <a:latin typeface="Quicksand" pitchFamily="34" charset="0"/>
                <a:ea typeface="Quicksand" pitchFamily="34" charset="-122"/>
                <a:cs typeface="Quicksand" pitchFamily="34" charset="-120"/>
              </a:rPr>
              <a:t>Composition, bulles, export du chapitre</a:t>
            </a:r>
            <a:endParaRPr lang="en-US" sz="1200" dirty="0"/>
          </a:p>
        </p:txBody>
      </p:sp>
      <p:sp>
        <p:nvSpPr>
          <p:cNvPr id="25" name="Shape 18"/>
          <p:cNvSpPr/>
          <p:nvPr/>
        </p:nvSpPr>
        <p:spPr>
          <a:xfrm>
            <a:off x="548640" y="5074920"/>
            <a:ext cx="11064240" cy="777240"/>
          </a:xfrm>
          <a:prstGeom prst="roundRect">
            <a:avLst>
              <a:gd name="adj" fmla="val 14118"/>
            </a:avLst>
          </a:prstGeom>
          <a:solidFill>
            <a:srgbClr val="221A30"/>
          </a:solidFill>
          <a:ln w="12700">
            <a:solidFill>
              <a:srgbClr val="3A2E52"/>
            </a:solidFill>
            <a:prstDash val="solid"/>
          </a:ln>
        </p:spPr>
      </p:sp>
      <p:pic>
        <p:nvPicPr>
          <p:cNvPr id="26" name="Image 5" descr="gbar_dark.png">    </p:cNvPr>
          <p:cNvPicPr>
            <a:picLocks noChangeAspect="1"/>
          </p:cNvPicPr>
          <p:nvPr/>
        </p:nvPicPr>
        <p:blipFill>
          <a:blip r:embed="rId6"/>
          <a:stretch>
            <a:fillRect/>
          </a:stretch>
        </p:blipFill>
        <p:spPr>
          <a:xfrm>
            <a:off x="786384" y="5221224"/>
            <a:ext cx="64008" cy="484632"/>
          </a:xfrm>
          <a:prstGeom prst="rect">
            <a:avLst/>
          </a:prstGeom>
        </p:spPr>
      </p:pic>
      <p:sp>
        <p:nvSpPr>
          <p:cNvPr id="27" name="Text 19"/>
          <p:cNvSpPr/>
          <p:nvPr/>
        </p:nvSpPr>
        <p:spPr>
          <a:xfrm>
            <a:off x="1024128" y="5120640"/>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D8C2EE"/>
                </a:solidFill>
                <a:latin typeface="Quicksand" pitchFamily="34" charset="0"/>
                <a:ea typeface="Quicksand" pitchFamily="34" charset="-122"/>
                <a:cs typeface="Quicksand" pitchFamily="34" charset="-120"/>
              </a:rPr>
              <a:t>Des visuels cohérents en secondes, sans compétence en illustration.</a:t>
            </a:r>
            <a:endParaRPr lang="en-US" sz="1450" dirty="0"/>
          </a:p>
        </p:txBody>
      </p:sp>
      <p:sp>
        <p:nvSpPr>
          <p:cNvPr id="28" name="Text 20"/>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29" name="Text 21"/>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07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LE CŒUR TECHNIQUE</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Comment on garantit la cohérence</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4864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6" name="Text 3"/>
          <p:cNvSpPr/>
          <p:nvPr/>
        </p:nvSpPr>
        <p:spPr>
          <a:xfrm>
            <a:off x="804672" y="2231136"/>
            <a:ext cx="2993136" cy="457200"/>
          </a:xfrm>
          <a:prstGeom prst="rect">
            <a:avLst/>
          </a:prstGeom>
          <a:noFill/>
          <a:ln/>
        </p:spPr>
        <p:txBody>
          <a:bodyPr wrap="square" lIns="0" tIns="0" rIns="0" bIns="0" rtlCol="0" anchor="ctr"/>
          <a:lstStyle/>
          <a:p>
            <a:pPr algn="l" indent="0" marL="0">
              <a:buNone/>
            </a:pPr>
            <a:r>
              <a:rPr lang="en-US" sz="1450" b="1" dirty="0">
                <a:solidFill>
                  <a:srgbClr val="ECB093"/>
                </a:solidFill>
                <a:latin typeface="Quicksand" pitchFamily="34" charset="0"/>
                <a:ea typeface="Quicksand" pitchFamily="34" charset="-122"/>
                <a:cs typeface="Quicksand" pitchFamily="34" charset="-120"/>
              </a:rPr>
              <a:t>Sheet System</a:t>
            </a:r>
            <a:endParaRPr lang="en-US" sz="1450" dirty="0"/>
          </a:p>
        </p:txBody>
      </p:sp>
      <p:sp>
        <p:nvSpPr>
          <p:cNvPr id="7" name="Text 4"/>
          <p:cNvSpPr/>
          <p:nvPr/>
        </p:nvSpPr>
        <p:spPr>
          <a:xfrm>
            <a:off x="804672" y="2706624"/>
            <a:ext cx="2993136" cy="118872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Une fiche 4 angles du personnage, injectée à chaque génération.</a:t>
            </a:r>
            <a:endParaRPr lang="en-US" sz="1300" dirty="0"/>
          </a:p>
        </p:txBody>
      </p:sp>
      <p:sp>
        <p:nvSpPr>
          <p:cNvPr id="8" name="Shape 5"/>
          <p:cNvSpPr/>
          <p:nvPr/>
        </p:nvSpPr>
        <p:spPr>
          <a:xfrm>
            <a:off x="432816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9" name="Text 6"/>
          <p:cNvSpPr/>
          <p:nvPr/>
        </p:nvSpPr>
        <p:spPr>
          <a:xfrm>
            <a:off x="4584192" y="2231136"/>
            <a:ext cx="2993136" cy="457200"/>
          </a:xfrm>
          <a:prstGeom prst="rect">
            <a:avLst/>
          </a:prstGeom>
          <a:noFill/>
          <a:ln/>
        </p:spPr>
        <p:txBody>
          <a:bodyPr wrap="square" lIns="0" tIns="0" rIns="0" bIns="0" rtlCol="0" anchor="ctr"/>
          <a:lstStyle/>
          <a:p>
            <a:pPr algn="l" indent="0" marL="0">
              <a:buNone/>
            </a:pPr>
            <a:r>
              <a:rPr lang="en-US" sz="1450" b="1" dirty="0">
                <a:solidFill>
                  <a:srgbClr val="B3DBD4"/>
                </a:solidFill>
                <a:latin typeface="Quicksand" pitchFamily="34" charset="0"/>
                <a:ea typeface="Quicksand" pitchFamily="34" charset="-122"/>
                <a:cs typeface="Quicksand" pitchFamily="34" charset="-120"/>
              </a:rPr>
              <a:t>NarraMind + Ariane</a:t>
            </a:r>
            <a:endParaRPr lang="en-US" sz="1450" dirty="0"/>
          </a:p>
        </p:txBody>
      </p:sp>
      <p:sp>
        <p:nvSpPr>
          <p:cNvPr id="10" name="Text 7"/>
          <p:cNvSpPr/>
          <p:nvPr/>
        </p:nvSpPr>
        <p:spPr>
          <a:xfrm>
            <a:off x="4584192" y="2706624"/>
            <a:ext cx="2993136" cy="118872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Mémoire narrative : alerte les incohérences du scénario.</a:t>
            </a:r>
            <a:endParaRPr lang="en-US" sz="1300" dirty="0"/>
          </a:p>
        </p:txBody>
      </p:sp>
      <p:sp>
        <p:nvSpPr>
          <p:cNvPr id="11" name="Shape 8"/>
          <p:cNvSpPr/>
          <p:nvPr/>
        </p:nvSpPr>
        <p:spPr>
          <a:xfrm>
            <a:off x="810768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2" name="Text 9"/>
          <p:cNvSpPr/>
          <p:nvPr/>
        </p:nvSpPr>
        <p:spPr>
          <a:xfrm>
            <a:off x="8363712" y="2231136"/>
            <a:ext cx="2993136" cy="457200"/>
          </a:xfrm>
          <a:prstGeom prst="rect">
            <a:avLst/>
          </a:prstGeom>
          <a:noFill/>
          <a:ln/>
        </p:spPr>
        <p:txBody>
          <a:bodyPr wrap="square" lIns="0" tIns="0" rIns="0" bIns="0" rtlCol="0" anchor="ctr"/>
          <a:lstStyle/>
          <a:p>
            <a:pPr algn="l" indent="0" marL="0">
              <a:buNone/>
            </a:pPr>
            <a:r>
              <a:rPr lang="en-US" sz="1450" b="1" dirty="0">
                <a:solidFill>
                  <a:srgbClr val="C9AEE6"/>
                </a:solidFill>
                <a:latin typeface="Quicksand" pitchFamily="34" charset="0"/>
                <a:ea typeface="Quicksand" pitchFamily="34" charset="-122"/>
                <a:cs typeface="Quicksand" pitchFamily="34" charset="-120"/>
              </a:rPr>
              <a:t>FLUX.2 Pro Edit</a:t>
            </a:r>
            <a:endParaRPr lang="en-US" sz="1450" dirty="0"/>
          </a:p>
        </p:txBody>
      </p:sp>
      <p:sp>
        <p:nvSpPr>
          <p:cNvPr id="13" name="Text 10"/>
          <p:cNvSpPr/>
          <p:nvPr/>
        </p:nvSpPr>
        <p:spPr>
          <a:xfrm>
            <a:off x="8363712" y="2706624"/>
            <a:ext cx="2993136" cy="1188720"/>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Édition par bloc à partir de la sheet : cohérence garantie.</a:t>
            </a:r>
            <a:endParaRPr lang="en-US" sz="1300" dirty="0"/>
          </a:p>
        </p:txBody>
      </p:sp>
      <p:sp>
        <p:nvSpPr>
          <p:cNvPr id="14" name="Shape 11"/>
          <p:cNvSpPr/>
          <p:nvPr/>
        </p:nvSpPr>
        <p:spPr>
          <a:xfrm>
            <a:off x="548640" y="4434840"/>
            <a:ext cx="11064240" cy="777240"/>
          </a:xfrm>
          <a:prstGeom prst="roundRect">
            <a:avLst>
              <a:gd name="adj" fmla="val 14118"/>
            </a:avLst>
          </a:prstGeom>
          <a:solidFill>
            <a:srgbClr val="221A30"/>
          </a:solidFill>
          <a:ln w="12700">
            <a:solidFill>
              <a:srgbClr val="3A2E52"/>
            </a:solidFill>
            <a:prstDash val="solid"/>
          </a:ln>
        </p:spPr>
      </p:sp>
      <p:pic>
        <p:nvPicPr>
          <p:cNvPr id="15" name="Image 1" descr="gbar_dark.png">    </p:cNvPr>
          <p:cNvPicPr>
            <a:picLocks noChangeAspect="1"/>
          </p:cNvPicPr>
          <p:nvPr/>
        </p:nvPicPr>
        <p:blipFill>
          <a:blip r:embed="rId2"/>
          <a:stretch>
            <a:fillRect/>
          </a:stretch>
        </p:blipFill>
        <p:spPr>
          <a:xfrm>
            <a:off x="786384" y="4581144"/>
            <a:ext cx="64008" cy="484632"/>
          </a:xfrm>
          <a:prstGeom prst="rect">
            <a:avLst/>
          </a:prstGeom>
        </p:spPr>
      </p:pic>
      <p:sp>
        <p:nvSpPr>
          <p:cNvPr id="16" name="Text 12"/>
          <p:cNvSpPr/>
          <p:nvPr/>
        </p:nvSpPr>
        <p:spPr>
          <a:xfrm>
            <a:off x="1024128" y="4480560"/>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D8C2EE"/>
                </a:solidFill>
                <a:latin typeface="Quicksand" pitchFamily="34" charset="0"/>
                <a:ea typeface="Quicksand" pitchFamily="34" charset="-122"/>
                <a:cs typeface="Quicksand" pitchFamily="34" charset="-120"/>
              </a:rPr>
              <a:t>Le vrai différenciateur : rester cohérent sur des dizaines de chapitres.</a:t>
            </a:r>
            <a:endParaRPr lang="en-US" sz="1450" dirty="0"/>
          </a:p>
        </p:txBody>
      </p:sp>
      <p:sp>
        <p:nvSpPr>
          <p:cNvPr id="17" name="Text 13"/>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18" name="Text 14"/>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08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BUSINESS MODEL CANVAS</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Le modèle en une vue</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48640" y="2057400"/>
            <a:ext cx="5303520" cy="1051560"/>
          </a:xfrm>
          <a:prstGeom prst="roundRect">
            <a:avLst>
              <a:gd name="adj" fmla="val 10435"/>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6" name="Text 3"/>
          <p:cNvSpPr/>
          <p:nvPr/>
        </p:nvSpPr>
        <p:spPr>
          <a:xfrm>
            <a:off x="804672" y="2203704"/>
            <a:ext cx="4791456" cy="292608"/>
          </a:xfrm>
          <a:prstGeom prst="rect">
            <a:avLst/>
          </a:prstGeom>
          <a:noFill/>
          <a:ln/>
        </p:spPr>
        <p:txBody>
          <a:bodyPr wrap="square" lIns="0" tIns="0" rIns="0" bIns="0" rtlCol="0" anchor="ctr"/>
          <a:lstStyle/>
          <a:p>
            <a:pPr algn="l" indent="0" marL="0">
              <a:buNone/>
            </a:pPr>
            <a:r>
              <a:rPr lang="en-US" sz="1150" b="1" spc="100" kern="0" dirty="0">
                <a:solidFill>
                  <a:srgbClr val="ECB093"/>
                </a:solidFill>
                <a:latin typeface="Quicksand" pitchFamily="34" charset="0"/>
                <a:ea typeface="Quicksand" pitchFamily="34" charset="-122"/>
                <a:cs typeface="Quicksand" pitchFamily="34" charset="-120"/>
              </a:rPr>
              <a:t>Partenaires clés</a:t>
            </a:r>
            <a:endParaRPr lang="en-US" sz="1150" dirty="0"/>
          </a:p>
        </p:txBody>
      </p:sp>
      <p:sp>
        <p:nvSpPr>
          <p:cNvPr id="7" name="Text 4"/>
          <p:cNvSpPr/>
          <p:nvPr/>
        </p:nvSpPr>
        <p:spPr>
          <a:xfrm>
            <a:off x="804672" y="2514600"/>
            <a:ext cx="4791456" cy="502920"/>
          </a:xfrm>
          <a:prstGeom prst="rect">
            <a:avLst/>
          </a:prstGeom>
          <a:noFill/>
          <a:ln/>
        </p:spPr>
        <p:txBody>
          <a:bodyPr wrap="square" lIns="0" tIns="0" rIns="0" bIns="0" rtlCol="0" anchor="t"/>
          <a:lstStyle/>
          <a:p>
            <a:pPr algn="l" indent="0" marL="0">
              <a:lnSpc>
                <a:spcPct val="118000"/>
              </a:lnSpc>
              <a:buNone/>
            </a:pPr>
            <a:r>
              <a:rPr lang="en-US" sz="1250" dirty="0">
                <a:solidFill>
                  <a:srgbClr val="F7F2EA"/>
                </a:solidFill>
                <a:latin typeface="Quicksand" pitchFamily="34" charset="0"/>
                <a:ea typeface="Quicksand" pitchFamily="34" charset="-122"/>
                <a:cs typeface="Quicksand" pitchFamily="34" charset="-120"/>
              </a:rPr>
              <a:t>FAL.ai (FLUX.2 Pro), Supabase, Vercel</a:t>
            </a:r>
            <a:endParaRPr lang="en-US" sz="1250" dirty="0"/>
          </a:p>
        </p:txBody>
      </p:sp>
      <p:sp>
        <p:nvSpPr>
          <p:cNvPr id="8" name="Shape 5"/>
          <p:cNvSpPr/>
          <p:nvPr/>
        </p:nvSpPr>
        <p:spPr>
          <a:xfrm>
            <a:off x="6309360" y="2057400"/>
            <a:ext cx="5303520" cy="1051560"/>
          </a:xfrm>
          <a:prstGeom prst="roundRect">
            <a:avLst>
              <a:gd name="adj" fmla="val 10435"/>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9" name="Text 6"/>
          <p:cNvSpPr/>
          <p:nvPr/>
        </p:nvSpPr>
        <p:spPr>
          <a:xfrm>
            <a:off x="6565392" y="2203704"/>
            <a:ext cx="4791456" cy="292608"/>
          </a:xfrm>
          <a:prstGeom prst="rect">
            <a:avLst/>
          </a:prstGeom>
          <a:noFill/>
          <a:ln/>
        </p:spPr>
        <p:txBody>
          <a:bodyPr wrap="square" lIns="0" tIns="0" rIns="0" bIns="0" rtlCol="0" anchor="ctr"/>
          <a:lstStyle/>
          <a:p>
            <a:pPr algn="l" indent="0" marL="0">
              <a:buNone/>
            </a:pPr>
            <a:r>
              <a:rPr lang="en-US" sz="1150" b="1" spc="100" kern="0" dirty="0">
                <a:solidFill>
                  <a:srgbClr val="ECB093"/>
                </a:solidFill>
                <a:latin typeface="Quicksand" pitchFamily="34" charset="0"/>
                <a:ea typeface="Quicksand" pitchFamily="34" charset="-122"/>
                <a:cs typeface="Quicksand" pitchFamily="34" charset="-120"/>
              </a:rPr>
              <a:t>Ressources clés</a:t>
            </a:r>
            <a:endParaRPr lang="en-US" sz="1150" dirty="0"/>
          </a:p>
        </p:txBody>
      </p:sp>
      <p:sp>
        <p:nvSpPr>
          <p:cNvPr id="10" name="Text 7"/>
          <p:cNvSpPr/>
          <p:nvPr/>
        </p:nvSpPr>
        <p:spPr>
          <a:xfrm>
            <a:off x="6565392" y="2514600"/>
            <a:ext cx="4791456" cy="502920"/>
          </a:xfrm>
          <a:prstGeom prst="rect">
            <a:avLst/>
          </a:prstGeom>
          <a:noFill/>
          <a:ln/>
        </p:spPr>
        <p:txBody>
          <a:bodyPr wrap="square" lIns="0" tIns="0" rIns="0" bIns="0" rtlCol="0" anchor="t"/>
          <a:lstStyle/>
          <a:p>
            <a:pPr algn="l" indent="0" marL="0">
              <a:lnSpc>
                <a:spcPct val="118000"/>
              </a:lnSpc>
              <a:buNone/>
            </a:pPr>
            <a:r>
              <a:rPr lang="en-US" sz="1250" dirty="0">
                <a:solidFill>
                  <a:srgbClr val="F7F2EA"/>
                </a:solidFill>
                <a:latin typeface="Quicksand" pitchFamily="34" charset="0"/>
                <a:ea typeface="Quicksand" pitchFamily="34" charset="-122"/>
                <a:cs typeface="Quicksand" pitchFamily="34" charset="-120"/>
              </a:rPr>
              <a:t>Modèles FLUX.2 Pro, prompts système propriétaires, NarraMind</a:t>
            </a:r>
            <a:endParaRPr lang="en-US" sz="1250" dirty="0"/>
          </a:p>
        </p:txBody>
      </p:sp>
      <p:sp>
        <p:nvSpPr>
          <p:cNvPr id="11" name="Shape 8"/>
          <p:cNvSpPr/>
          <p:nvPr/>
        </p:nvSpPr>
        <p:spPr>
          <a:xfrm>
            <a:off x="548640" y="3337560"/>
            <a:ext cx="5303520" cy="1051560"/>
          </a:xfrm>
          <a:prstGeom prst="roundRect">
            <a:avLst>
              <a:gd name="adj" fmla="val 10435"/>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2" name="Text 9"/>
          <p:cNvSpPr/>
          <p:nvPr/>
        </p:nvSpPr>
        <p:spPr>
          <a:xfrm>
            <a:off x="804672" y="3483864"/>
            <a:ext cx="4791456" cy="292608"/>
          </a:xfrm>
          <a:prstGeom prst="rect">
            <a:avLst/>
          </a:prstGeom>
          <a:noFill/>
          <a:ln/>
        </p:spPr>
        <p:txBody>
          <a:bodyPr wrap="square" lIns="0" tIns="0" rIns="0" bIns="0" rtlCol="0" anchor="ctr"/>
          <a:lstStyle/>
          <a:p>
            <a:pPr algn="l" indent="0" marL="0">
              <a:buNone/>
            </a:pPr>
            <a:r>
              <a:rPr lang="en-US" sz="1150" b="1" spc="100" kern="0" dirty="0">
                <a:solidFill>
                  <a:srgbClr val="ECB093"/>
                </a:solidFill>
                <a:latin typeface="Quicksand" pitchFamily="34" charset="0"/>
                <a:ea typeface="Quicksand" pitchFamily="34" charset="-122"/>
                <a:cs typeface="Quicksand" pitchFamily="34" charset="-120"/>
              </a:rPr>
              <a:t>Sources de revenus</a:t>
            </a:r>
            <a:endParaRPr lang="en-US" sz="1150" dirty="0"/>
          </a:p>
        </p:txBody>
      </p:sp>
      <p:sp>
        <p:nvSpPr>
          <p:cNvPr id="13" name="Text 10"/>
          <p:cNvSpPr/>
          <p:nvPr/>
        </p:nvSpPr>
        <p:spPr>
          <a:xfrm>
            <a:off x="804672" y="3794760"/>
            <a:ext cx="4791456" cy="502920"/>
          </a:xfrm>
          <a:prstGeom prst="rect">
            <a:avLst/>
          </a:prstGeom>
          <a:noFill/>
          <a:ln/>
        </p:spPr>
        <p:txBody>
          <a:bodyPr wrap="square" lIns="0" tIns="0" rIns="0" bIns="0" rtlCol="0" anchor="t"/>
          <a:lstStyle/>
          <a:p>
            <a:pPr algn="l" indent="0" marL="0">
              <a:lnSpc>
                <a:spcPct val="118000"/>
              </a:lnSpc>
              <a:buNone/>
            </a:pPr>
            <a:r>
              <a:rPr lang="en-US" sz="1250" dirty="0">
                <a:solidFill>
                  <a:srgbClr val="F7F2EA"/>
                </a:solidFill>
                <a:latin typeface="Quicksand" pitchFamily="34" charset="0"/>
                <a:ea typeface="Quicksand" pitchFamily="34" charset="-122"/>
                <a:cs typeface="Quicksand" pitchFamily="34" charset="-120"/>
              </a:rPr>
              <a:t>Abonnements, packs de crédits, marketplace de styles (30 %), API B2B</a:t>
            </a:r>
            <a:endParaRPr lang="en-US" sz="1250" dirty="0"/>
          </a:p>
        </p:txBody>
      </p:sp>
      <p:sp>
        <p:nvSpPr>
          <p:cNvPr id="14" name="Shape 11"/>
          <p:cNvSpPr/>
          <p:nvPr/>
        </p:nvSpPr>
        <p:spPr>
          <a:xfrm>
            <a:off x="6309360" y="3337560"/>
            <a:ext cx="5303520" cy="1051560"/>
          </a:xfrm>
          <a:prstGeom prst="roundRect">
            <a:avLst>
              <a:gd name="adj" fmla="val 10435"/>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5" name="Text 12"/>
          <p:cNvSpPr/>
          <p:nvPr/>
        </p:nvSpPr>
        <p:spPr>
          <a:xfrm>
            <a:off x="6565392" y="3483864"/>
            <a:ext cx="4791456" cy="292608"/>
          </a:xfrm>
          <a:prstGeom prst="rect">
            <a:avLst/>
          </a:prstGeom>
          <a:noFill/>
          <a:ln/>
        </p:spPr>
        <p:txBody>
          <a:bodyPr wrap="square" lIns="0" tIns="0" rIns="0" bIns="0" rtlCol="0" anchor="ctr"/>
          <a:lstStyle/>
          <a:p>
            <a:pPr algn="l" indent="0" marL="0">
              <a:buNone/>
            </a:pPr>
            <a:r>
              <a:rPr lang="en-US" sz="1150" b="1" spc="100" kern="0" dirty="0">
                <a:solidFill>
                  <a:srgbClr val="ECB093"/>
                </a:solidFill>
                <a:latin typeface="Quicksand" pitchFamily="34" charset="0"/>
                <a:ea typeface="Quicksand" pitchFamily="34" charset="-122"/>
                <a:cs typeface="Quicksand" pitchFamily="34" charset="-120"/>
              </a:rPr>
              <a:t>Structure de coûts</a:t>
            </a:r>
            <a:endParaRPr lang="en-US" sz="1150" dirty="0"/>
          </a:p>
        </p:txBody>
      </p:sp>
      <p:sp>
        <p:nvSpPr>
          <p:cNvPr id="16" name="Text 13"/>
          <p:cNvSpPr/>
          <p:nvPr/>
        </p:nvSpPr>
        <p:spPr>
          <a:xfrm>
            <a:off x="6565392" y="3794760"/>
            <a:ext cx="4791456" cy="502920"/>
          </a:xfrm>
          <a:prstGeom prst="rect">
            <a:avLst/>
          </a:prstGeom>
          <a:noFill/>
          <a:ln/>
        </p:spPr>
        <p:txBody>
          <a:bodyPr wrap="square" lIns="0" tIns="0" rIns="0" bIns="0" rtlCol="0" anchor="t"/>
          <a:lstStyle/>
          <a:p>
            <a:pPr algn="l" indent="0" marL="0">
              <a:lnSpc>
                <a:spcPct val="118000"/>
              </a:lnSpc>
              <a:buNone/>
            </a:pPr>
            <a:r>
              <a:rPr lang="en-US" sz="1250" dirty="0">
                <a:solidFill>
                  <a:srgbClr val="F7F2EA"/>
                </a:solidFill>
                <a:latin typeface="Quicksand" pitchFamily="34" charset="0"/>
                <a:ea typeface="Quicksand" pitchFamily="34" charset="-122"/>
                <a:cs typeface="Quicksand" pitchFamily="34" charset="-120"/>
              </a:rPr>
              <a:t>Fixes ~60 €/mois · Variables ~0,06 €/génération</a:t>
            </a:r>
            <a:endParaRPr lang="en-US" sz="1250" dirty="0"/>
          </a:p>
        </p:txBody>
      </p:sp>
      <p:sp>
        <p:nvSpPr>
          <p:cNvPr id="17" name="Shape 14"/>
          <p:cNvSpPr/>
          <p:nvPr/>
        </p:nvSpPr>
        <p:spPr>
          <a:xfrm>
            <a:off x="548640" y="4709160"/>
            <a:ext cx="11064240" cy="777240"/>
          </a:xfrm>
          <a:prstGeom prst="roundRect">
            <a:avLst>
              <a:gd name="adj" fmla="val 14118"/>
            </a:avLst>
          </a:prstGeom>
          <a:solidFill>
            <a:srgbClr val="221A30"/>
          </a:solidFill>
          <a:ln w="12700">
            <a:solidFill>
              <a:srgbClr val="3A2E52"/>
            </a:solidFill>
            <a:prstDash val="solid"/>
          </a:ln>
        </p:spPr>
      </p:sp>
      <p:pic>
        <p:nvPicPr>
          <p:cNvPr id="18" name="Image 1" descr="gbar_dark.png">    </p:cNvPr>
          <p:cNvPicPr>
            <a:picLocks noChangeAspect="1"/>
          </p:cNvPicPr>
          <p:nvPr/>
        </p:nvPicPr>
        <p:blipFill>
          <a:blip r:embed="rId2"/>
          <a:stretch>
            <a:fillRect/>
          </a:stretch>
        </p:blipFill>
        <p:spPr>
          <a:xfrm>
            <a:off x="786384" y="4855464"/>
            <a:ext cx="64008" cy="484632"/>
          </a:xfrm>
          <a:prstGeom prst="rect">
            <a:avLst/>
          </a:prstGeom>
        </p:spPr>
      </p:pic>
      <p:sp>
        <p:nvSpPr>
          <p:cNvPr id="19" name="Text 15"/>
          <p:cNvSpPr/>
          <p:nvPr/>
        </p:nvSpPr>
        <p:spPr>
          <a:xfrm>
            <a:off x="1024128" y="4754880"/>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D8C2EE"/>
                </a:solidFill>
                <a:latin typeface="Quicksand" pitchFamily="34" charset="0"/>
                <a:ea typeface="Quicksand" pitchFamily="34" charset="-122"/>
                <a:cs typeface="Quicksand" pitchFamily="34" charset="-120"/>
              </a:rPr>
              <a:t>Coûts majoritairement variables : le modèle passe à l'échelle sans exploser.</a:t>
            </a:r>
            <a:endParaRPr lang="en-US" sz="1450" dirty="0"/>
          </a:p>
        </p:txBody>
      </p:sp>
      <p:sp>
        <p:nvSpPr>
          <p:cNvPr id="20" name="Text 16"/>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21" name="Text 17"/>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09 / 15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PRICING · LOGIQUE SPOTIFY</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Trois plans, une seule qualité</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4864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6" name="Text 3"/>
          <p:cNvSpPr/>
          <p:nvPr/>
        </p:nvSpPr>
        <p:spPr>
          <a:xfrm>
            <a:off x="804672" y="2231136"/>
            <a:ext cx="2993136" cy="457200"/>
          </a:xfrm>
          <a:prstGeom prst="rect">
            <a:avLst/>
          </a:prstGeom>
          <a:noFill/>
          <a:ln/>
        </p:spPr>
        <p:txBody>
          <a:bodyPr wrap="square" lIns="0" tIns="0" rIns="0" bIns="0" rtlCol="0" anchor="ctr"/>
          <a:lstStyle/>
          <a:p>
            <a:pPr algn="l" indent="0" marL="0">
              <a:buNone/>
            </a:pPr>
            <a:r>
              <a:rPr lang="en-US" sz="1450" b="1" dirty="0">
                <a:solidFill>
                  <a:srgbClr val="ECB093"/>
                </a:solidFill>
                <a:latin typeface="Quicksand" pitchFamily="34" charset="0"/>
                <a:ea typeface="Quicksand" pitchFamily="34" charset="-122"/>
                <a:cs typeface="Quicksand" pitchFamily="34" charset="-120"/>
              </a:rPr>
              <a:t>Libre</a:t>
            </a:r>
            <a:endParaRPr lang="en-US" sz="1450" dirty="0"/>
          </a:p>
        </p:txBody>
      </p:sp>
      <p:sp>
        <p:nvSpPr>
          <p:cNvPr id="7" name="Text 4"/>
          <p:cNvSpPr/>
          <p:nvPr/>
        </p:nvSpPr>
        <p:spPr>
          <a:xfrm>
            <a:off x="804672" y="2633472"/>
            <a:ext cx="2993136" cy="548640"/>
          </a:xfrm>
          <a:prstGeom prst="rect">
            <a:avLst/>
          </a:prstGeom>
          <a:noFill/>
          <a:ln/>
        </p:spPr>
        <p:txBody>
          <a:bodyPr wrap="square" lIns="0" tIns="0" rIns="0" bIns="0" rtlCol="0" anchor="ctr"/>
          <a:lstStyle/>
          <a:p>
            <a:pPr algn="l" indent="0" marL="0">
              <a:buNone/>
            </a:pPr>
            <a:r>
              <a:rPr lang="en-US" sz="2600" b="1" dirty="0">
                <a:solidFill>
                  <a:srgbClr val="F7F2EA"/>
                </a:solidFill>
                <a:latin typeface="Quicksand" pitchFamily="34" charset="0"/>
                <a:ea typeface="Quicksand" pitchFamily="34" charset="-122"/>
                <a:cs typeface="Quicksand" pitchFamily="34" charset="-120"/>
              </a:rPr>
              <a:t>0 €</a:t>
            </a:r>
            <a:endParaRPr lang="en-US" sz="2600" dirty="0"/>
          </a:p>
        </p:txBody>
      </p:sp>
      <p:sp>
        <p:nvSpPr>
          <p:cNvPr id="8" name="Text 5"/>
          <p:cNvSpPr/>
          <p:nvPr/>
        </p:nvSpPr>
        <p:spPr>
          <a:xfrm>
            <a:off x="804672" y="3337560"/>
            <a:ext cx="2993136" cy="557784"/>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20 crédits / mois · FLUX.2 Pro</a:t>
            </a:r>
            <a:endParaRPr lang="en-US" sz="1300" dirty="0"/>
          </a:p>
        </p:txBody>
      </p:sp>
      <p:sp>
        <p:nvSpPr>
          <p:cNvPr id="9" name="Shape 6"/>
          <p:cNvSpPr/>
          <p:nvPr/>
        </p:nvSpPr>
        <p:spPr>
          <a:xfrm>
            <a:off x="432816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0" name="Text 7"/>
          <p:cNvSpPr/>
          <p:nvPr/>
        </p:nvSpPr>
        <p:spPr>
          <a:xfrm>
            <a:off x="4584192" y="2231136"/>
            <a:ext cx="2993136" cy="457200"/>
          </a:xfrm>
          <a:prstGeom prst="rect">
            <a:avLst/>
          </a:prstGeom>
          <a:noFill/>
          <a:ln/>
        </p:spPr>
        <p:txBody>
          <a:bodyPr wrap="square" lIns="0" tIns="0" rIns="0" bIns="0" rtlCol="0" anchor="ctr"/>
          <a:lstStyle/>
          <a:p>
            <a:pPr algn="l" indent="0" marL="0">
              <a:buNone/>
            </a:pPr>
            <a:r>
              <a:rPr lang="en-US" sz="1450" b="1" dirty="0">
                <a:solidFill>
                  <a:srgbClr val="B3DBD4"/>
                </a:solidFill>
                <a:latin typeface="Quicksand" pitchFamily="34" charset="0"/>
                <a:ea typeface="Quicksand" pitchFamily="34" charset="-122"/>
                <a:cs typeface="Quicksand" pitchFamily="34" charset="-120"/>
              </a:rPr>
              <a:t>Créateur</a:t>
            </a:r>
            <a:endParaRPr lang="en-US" sz="1450" dirty="0"/>
          </a:p>
        </p:txBody>
      </p:sp>
      <p:sp>
        <p:nvSpPr>
          <p:cNvPr id="11" name="Text 8"/>
          <p:cNvSpPr/>
          <p:nvPr/>
        </p:nvSpPr>
        <p:spPr>
          <a:xfrm>
            <a:off x="4584192" y="2633472"/>
            <a:ext cx="2993136" cy="548640"/>
          </a:xfrm>
          <a:prstGeom prst="rect">
            <a:avLst/>
          </a:prstGeom>
          <a:noFill/>
          <a:ln/>
        </p:spPr>
        <p:txBody>
          <a:bodyPr wrap="square" lIns="0" tIns="0" rIns="0" bIns="0" rtlCol="0" anchor="ctr"/>
          <a:lstStyle/>
          <a:p>
            <a:pPr algn="l" indent="0" marL="0">
              <a:buNone/>
            </a:pPr>
            <a:r>
              <a:rPr lang="en-US" sz="2600" b="1" dirty="0">
                <a:solidFill>
                  <a:srgbClr val="F7F2EA"/>
                </a:solidFill>
                <a:latin typeface="Quicksand" pitchFamily="34" charset="0"/>
                <a:ea typeface="Quicksand" pitchFamily="34" charset="-122"/>
                <a:cs typeface="Quicksand" pitchFamily="34" charset="-120"/>
              </a:rPr>
              <a:t>12,99 €</a:t>
            </a:r>
            <a:endParaRPr lang="en-US" sz="2600" dirty="0"/>
          </a:p>
        </p:txBody>
      </p:sp>
      <p:sp>
        <p:nvSpPr>
          <p:cNvPr id="12" name="Text 9"/>
          <p:cNvSpPr/>
          <p:nvPr/>
        </p:nvSpPr>
        <p:spPr>
          <a:xfrm>
            <a:off x="4584192" y="3337560"/>
            <a:ext cx="2993136" cy="557784"/>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100 crédits / mois · FLUX.2 Pro</a:t>
            </a:r>
            <a:endParaRPr lang="en-US" sz="1300" dirty="0"/>
          </a:p>
        </p:txBody>
      </p:sp>
      <p:sp>
        <p:nvSpPr>
          <p:cNvPr id="13" name="Shape 10"/>
          <p:cNvSpPr/>
          <p:nvPr/>
        </p:nvSpPr>
        <p:spPr>
          <a:xfrm>
            <a:off x="8107680" y="2011680"/>
            <a:ext cx="3505200" cy="2103120"/>
          </a:xfrm>
          <a:prstGeom prst="roundRect">
            <a:avLst>
              <a:gd name="adj" fmla="val 6957"/>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4" name="Text 11"/>
          <p:cNvSpPr/>
          <p:nvPr/>
        </p:nvSpPr>
        <p:spPr>
          <a:xfrm>
            <a:off x="8363712" y="2231136"/>
            <a:ext cx="2993136" cy="457200"/>
          </a:xfrm>
          <a:prstGeom prst="rect">
            <a:avLst/>
          </a:prstGeom>
          <a:noFill/>
          <a:ln/>
        </p:spPr>
        <p:txBody>
          <a:bodyPr wrap="square" lIns="0" tIns="0" rIns="0" bIns="0" rtlCol="0" anchor="ctr"/>
          <a:lstStyle/>
          <a:p>
            <a:pPr algn="l" indent="0" marL="0">
              <a:buNone/>
            </a:pPr>
            <a:r>
              <a:rPr lang="en-US" sz="1450" b="1" dirty="0">
                <a:solidFill>
                  <a:srgbClr val="C9AEE6"/>
                </a:solidFill>
                <a:latin typeface="Quicksand" pitchFamily="34" charset="0"/>
                <a:ea typeface="Quicksand" pitchFamily="34" charset="-122"/>
                <a:cs typeface="Quicksand" pitchFamily="34" charset="-120"/>
              </a:rPr>
              <a:t>Studio</a:t>
            </a:r>
            <a:endParaRPr lang="en-US" sz="1450" dirty="0"/>
          </a:p>
        </p:txBody>
      </p:sp>
      <p:sp>
        <p:nvSpPr>
          <p:cNvPr id="15" name="Text 12"/>
          <p:cNvSpPr/>
          <p:nvPr/>
        </p:nvSpPr>
        <p:spPr>
          <a:xfrm>
            <a:off x="8363712" y="2633472"/>
            <a:ext cx="2993136" cy="548640"/>
          </a:xfrm>
          <a:prstGeom prst="rect">
            <a:avLst/>
          </a:prstGeom>
          <a:noFill/>
          <a:ln/>
        </p:spPr>
        <p:txBody>
          <a:bodyPr wrap="square" lIns="0" tIns="0" rIns="0" bIns="0" rtlCol="0" anchor="ctr"/>
          <a:lstStyle/>
          <a:p>
            <a:pPr algn="l" indent="0" marL="0">
              <a:buNone/>
            </a:pPr>
            <a:r>
              <a:rPr lang="en-US" sz="2600" b="1" dirty="0">
                <a:solidFill>
                  <a:srgbClr val="F7F2EA"/>
                </a:solidFill>
                <a:latin typeface="Quicksand" pitchFamily="34" charset="0"/>
                <a:ea typeface="Quicksand" pitchFamily="34" charset="-122"/>
                <a:cs typeface="Quicksand" pitchFamily="34" charset="-120"/>
              </a:rPr>
              <a:t>29,99 €</a:t>
            </a:r>
            <a:endParaRPr lang="en-US" sz="2600" dirty="0"/>
          </a:p>
        </p:txBody>
      </p:sp>
      <p:sp>
        <p:nvSpPr>
          <p:cNvPr id="16" name="Text 13"/>
          <p:cNvSpPr/>
          <p:nvPr/>
        </p:nvSpPr>
        <p:spPr>
          <a:xfrm>
            <a:off x="8363712" y="3337560"/>
            <a:ext cx="2993136" cy="557784"/>
          </a:xfrm>
          <a:prstGeom prst="rect">
            <a:avLst/>
          </a:prstGeom>
          <a:noFill/>
          <a:ln/>
        </p:spPr>
        <p:txBody>
          <a:bodyPr wrap="square" lIns="0" tIns="0" rIns="0" bIns="0" rtlCol="0" anchor="t"/>
          <a:lstStyle/>
          <a:p>
            <a:pPr algn="l" indent="0" marL="0">
              <a:lnSpc>
                <a:spcPct val="122000"/>
              </a:lnSpc>
              <a:buNone/>
            </a:pPr>
            <a:r>
              <a:rPr lang="en-US" sz="1300" dirty="0">
                <a:solidFill>
                  <a:srgbClr val="F7F2EA"/>
                </a:solidFill>
                <a:latin typeface="Quicksand" pitchFamily="34" charset="0"/>
                <a:ea typeface="Quicksand" pitchFamily="34" charset="-122"/>
                <a:cs typeface="Quicksand" pitchFamily="34" charset="-120"/>
              </a:rPr>
              <a:t>250 crédits / mois · FLUX.2 Pro</a:t>
            </a:r>
            <a:endParaRPr lang="en-US" sz="1300" dirty="0"/>
          </a:p>
        </p:txBody>
      </p:sp>
      <p:sp>
        <p:nvSpPr>
          <p:cNvPr id="17" name="Shape 14"/>
          <p:cNvSpPr/>
          <p:nvPr/>
        </p:nvSpPr>
        <p:spPr>
          <a:xfrm>
            <a:off x="576072" y="4535424"/>
            <a:ext cx="164592" cy="164592"/>
          </a:xfrm>
          <a:prstGeom prst="roundRect">
            <a:avLst>
              <a:gd name="adj" fmla="val 27778"/>
            </a:avLst>
          </a:prstGeom>
          <a:solidFill>
            <a:srgbClr val="B3DBD4"/>
          </a:solidFill>
          <a:ln/>
        </p:spPr>
      </p:sp>
      <p:sp>
        <p:nvSpPr>
          <p:cNvPr id="18" name="Text 15"/>
          <p:cNvSpPr/>
          <p:nvPr/>
        </p:nvSpPr>
        <p:spPr>
          <a:xfrm>
            <a:off x="987552" y="443484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Même FLUX.2 Pro pour tous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seul le volume de générations change (1 crédit ≈ 0,065 €).</a:t>
            </a:r>
            <a:endParaRPr lang="en-US" sz="1450" dirty="0"/>
          </a:p>
        </p:txBody>
      </p:sp>
      <p:sp>
        <p:nvSpPr>
          <p:cNvPr id="19" name="Text 16"/>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20" name="Text 17"/>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PROJECTIONS · ANNÉE 1</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La proposition de valeur, chiffrée</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2057400"/>
            <a:ext cx="338328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1-4 sem.</a:t>
            </a:r>
            <a:endParaRPr lang="en-US" sz="3200" dirty="0"/>
          </a:p>
        </p:txBody>
      </p:sp>
      <p:sp>
        <p:nvSpPr>
          <p:cNvPr id="6" name="Text 3"/>
          <p:cNvSpPr/>
          <p:nvPr/>
        </p:nvSpPr>
        <p:spPr>
          <a:xfrm>
            <a:off x="548640" y="2770632"/>
            <a:ext cx="338328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deviennent 2 à 4 heures</a:t>
            </a:r>
            <a:endParaRPr lang="en-US" sz="1250" dirty="0"/>
          </a:p>
        </p:txBody>
      </p:sp>
      <p:sp>
        <p:nvSpPr>
          <p:cNvPr id="7" name="Text 4"/>
          <p:cNvSpPr/>
          <p:nvPr/>
        </p:nvSpPr>
        <p:spPr>
          <a:xfrm>
            <a:off x="4389120" y="2057400"/>
            <a:ext cx="338328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300-1500 €</a:t>
            </a:r>
            <a:endParaRPr lang="en-US" sz="3200" dirty="0"/>
          </a:p>
        </p:txBody>
      </p:sp>
      <p:sp>
        <p:nvSpPr>
          <p:cNvPr id="8" name="Text 5"/>
          <p:cNvSpPr/>
          <p:nvPr/>
        </p:nvSpPr>
        <p:spPr>
          <a:xfrm>
            <a:off x="4389120" y="2770632"/>
            <a:ext cx="338328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deviennent &lt; 5 € par chapitre</a:t>
            </a:r>
            <a:endParaRPr lang="en-US" sz="1250" dirty="0"/>
          </a:p>
        </p:txBody>
      </p:sp>
      <p:sp>
        <p:nvSpPr>
          <p:cNvPr id="9" name="Text 6"/>
          <p:cNvSpPr/>
          <p:nvPr/>
        </p:nvSpPr>
        <p:spPr>
          <a:xfrm>
            <a:off x="8229600" y="2057400"/>
            <a:ext cx="338328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600</a:t>
            </a:r>
            <a:endParaRPr lang="en-US" sz="3200" dirty="0"/>
          </a:p>
        </p:txBody>
      </p:sp>
      <p:sp>
        <p:nvSpPr>
          <p:cNvPr id="10" name="Text 7"/>
          <p:cNvSpPr/>
          <p:nvPr/>
        </p:nvSpPr>
        <p:spPr>
          <a:xfrm>
            <a:off x="8229600" y="2770632"/>
            <a:ext cx="338328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clients payants visés à M12</a:t>
            </a:r>
            <a:endParaRPr lang="en-US" sz="1250" dirty="0"/>
          </a:p>
        </p:txBody>
      </p:sp>
      <p:sp>
        <p:nvSpPr>
          <p:cNvPr id="11" name="Shape 8"/>
          <p:cNvSpPr/>
          <p:nvPr/>
        </p:nvSpPr>
        <p:spPr>
          <a:xfrm>
            <a:off x="576072" y="4169664"/>
            <a:ext cx="164592" cy="164592"/>
          </a:xfrm>
          <a:prstGeom prst="roundRect">
            <a:avLst>
              <a:gd name="adj" fmla="val 27778"/>
            </a:avLst>
          </a:prstGeom>
          <a:solidFill>
            <a:srgbClr val="B3DBD4"/>
          </a:solidFill>
          <a:ln/>
        </p:spPr>
      </p:sp>
      <p:sp>
        <p:nvSpPr>
          <p:cNvPr id="12" name="Text 9"/>
          <p:cNvSpPr/>
          <p:nvPr/>
        </p:nvSpPr>
        <p:spPr>
          <a:xfrm>
            <a:off x="987552" y="406908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Un chapitre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passe de plusieurs semaines et centaines d'euros à une soirée et quelques euros.</a:t>
            </a:r>
            <a:endParaRPr lang="en-US" sz="1450" dirty="0"/>
          </a:p>
        </p:txBody>
      </p:sp>
      <p:sp>
        <p:nvSpPr>
          <p:cNvPr id="13" name="Text 10"/>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14" name="Text 11"/>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11 / 15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GO TO MARKET</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Un lancement en cinq phases</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pic>
        <p:nvPicPr>
          <p:cNvPr id="5" name="Image 1" descr="gcirc_dark.png">    </p:cNvPr>
          <p:cNvPicPr>
            <a:picLocks noChangeAspect="1"/>
          </p:cNvPicPr>
          <p:nvPr/>
        </p:nvPicPr>
        <p:blipFill>
          <a:blip r:embed="rId2"/>
          <a:stretch>
            <a:fillRect/>
          </a:stretch>
        </p:blipFill>
        <p:spPr>
          <a:xfrm>
            <a:off x="566928" y="2103120"/>
            <a:ext cx="274320" cy="274320"/>
          </a:xfrm>
          <a:prstGeom prst="rect">
            <a:avLst/>
          </a:prstGeom>
        </p:spPr>
      </p:pic>
      <p:sp>
        <p:nvSpPr>
          <p:cNvPr id="6" name="Text 2"/>
          <p:cNvSpPr/>
          <p:nvPr/>
        </p:nvSpPr>
        <p:spPr>
          <a:xfrm>
            <a:off x="566928" y="2103120"/>
            <a:ext cx="274320" cy="274320"/>
          </a:xfrm>
          <a:prstGeom prst="rect">
            <a:avLst/>
          </a:prstGeom>
          <a:noFill/>
          <a:ln/>
        </p:spPr>
        <p:txBody>
          <a:bodyPr wrap="square" lIns="0" tIns="0" rIns="0" bIns="0" rtlCol="0" anchor="ctr"/>
          <a:lstStyle/>
          <a:p>
            <a:pPr algn="ctr" indent="0" marL="0">
              <a:buNone/>
            </a:pPr>
            <a:r>
              <a:rPr lang="en-US" sz="1200" b="1" dirty="0">
                <a:solidFill>
                  <a:srgbClr val="120E15"/>
                </a:solidFill>
                <a:latin typeface="Quicksand" pitchFamily="34" charset="0"/>
                <a:ea typeface="Quicksand" pitchFamily="34" charset="-122"/>
                <a:cs typeface="Quicksand" pitchFamily="34" charset="-120"/>
              </a:rPr>
              <a:t>0</a:t>
            </a:r>
            <a:endParaRPr lang="en-US" sz="1200" dirty="0"/>
          </a:p>
        </p:txBody>
      </p:sp>
      <p:sp>
        <p:nvSpPr>
          <p:cNvPr id="7" name="Text 3"/>
          <p:cNvSpPr/>
          <p:nvPr/>
        </p:nvSpPr>
        <p:spPr>
          <a:xfrm>
            <a:off x="987552" y="205740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Bêta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premiers créateurs, retours produit, 10 pilotes.</a:t>
            </a:r>
            <a:endParaRPr lang="en-US" sz="1450" dirty="0"/>
          </a:p>
        </p:txBody>
      </p:sp>
      <p:pic>
        <p:nvPicPr>
          <p:cNvPr id="8" name="Image 2" descr="gcirc_dark.png">    </p:cNvPr>
          <p:cNvPicPr>
            <a:picLocks noChangeAspect="1"/>
          </p:cNvPicPr>
          <p:nvPr/>
        </p:nvPicPr>
        <p:blipFill>
          <a:blip r:embed="rId3"/>
          <a:stretch>
            <a:fillRect/>
          </a:stretch>
        </p:blipFill>
        <p:spPr>
          <a:xfrm>
            <a:off x="566928" y="2651760"/>
            <a:ext cx="274320" cy="274320"/>
          </a:xfrm>
          <a:prstGeom prst="rect">
            <a:avLst/>
          </a:prstGeom>
        </p:spPr>
      </p:pic>
      <p:sp>
        <p:nvSpPr>
          <p:cNvPr id="9" name="Text 4"/>
          <p:cNvSpPr/>
          <p:nvPr/>
        </p:nvSpPr>
        <p:spPr>
          <a:xfrm>
            <a:off x="566928" y="2651760"/>
            <a:ext cx="274320" cy="274320"/>
          </a:xfrm>
          <a:prstGeom prst="rect">
            <a:avLst/>
          </a:prstGeom>
          <a:noFill/>
          <a:ln/>
        </p:spPr>
        <p:txBody>
          <a:bodyPr wrap="square" lIns="0" tIns="0" rIns="0" bIns="0" rtlCol="0" anchor="ctr"/>
          <a:lstStyle/>
          <a:p>
            <a:pPr algn="ctr" indent="0" marL="0">
              <a:buNone/>
            </a:pPr>
            <a:r>
              <a:rPr lang="en-US" sz="1200" b="1" dirty="0">
                <a:solidFill>
                  <a:srgbClr val="120E15"/>
                </a:solidFill>
                <a:latin typeface="Quicksand" pitchFamily="34" charset="0"/>
                <a:ea typeface="Quicksand" pitchFamily="34" charset="-122"/>
                <a:cs typeface="Quicksand" pitchFamily="34" charset="-120"/>
              </a:rPr>
              <a:t>1</a:t>
            </a:r>
            <a:endParaRPr lang="en-US" sz="1200" dirty="0"/>
          </a:p>
        </p:txBody>
      </p:sp>
      <p:sp>
        <p:nvSpPr>
          <p:cNvPr id="10" name="Text 5"/>
          <p:cNvSpPr/>
          <p:nvPr/>
        </p:nvSpPr>
        <p:spPr>
          <a:xfrm>
            <a:off x="987552" y="260604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Lancement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ouverture publique du freemium.</a:t>
            </a:r>
            <a:endParaRPr lang="en-US" sz="1450" dirty="0"/>
          </a:p>
        </p:txBody>
      </p:sp>
      <p:pic>
        <p:nvPicPr>
          <p:cNvPr id="11" name="Image 3" descr="gcirc_dark.png">    </p:cNvPr>
          <p:cNvPicPr>
            <a:picLocks noChangeAspect="1"/>
          </p:cNvPicPr>
          <p:nvPr/>
        </p:nvPicPr>
        <p:blipFill>
          <a:blip r:embed="rId4"/>
          <a:stretch>
            <a:fillRect/>
          </a:stretch>
        </p:blipFill>
        <p:spPr>
          <a:xfrm>
            <a:off x="566928" y="3200400"/>
            <a:ext cx="274320" cy="274320"/>
          </a:xfrm>
          <a:prstGeom prst="rect">
            <a:avLst/>
          </a:prstGeom>
        </p:spPr>
      </p:pic>
      <p:sp>
        <p:nvSpPr>
          <p:cNvPr id="12" name="Text 6"/>
          <p:cNvSpPr/>
          <p:nvPr/>
        </p:nvSpPr>
        <p:spPr>
          <a:xfrm>
            <a:off x="566928" y="3200400"/>
            <a:ext cx="274320" cy="274320"/>
          </a:xfrm>
          <a:prstGeom prst="rect">
            <a:avLst/>
          </a:prstGeom>
          <a:noFill/>
          <a:ln/>
        </p:spPr>
        <p:txBody>
          <a:bodyPr wrap="square" lIns="0" tIns="0" rIns="0" bIns="0" rtlCol="0" anchor="ctr"/>
          <a:lstStyle/>
          <a:p>
            <a:pPr algn="ctr" indent="0" marL="0">
              <a:buNone/>
            </a:pPr>
            <a:r>
              <a:rPr lang="en-US" sz="1200" b="1" dirty="0">
                <a:solidFill>
                  <a:srgbClr val="120E15"/>
                </a:solidFill>
                <a:latin typeface="Quicksand" pitchFamily="34" charset="0"/>
                <a:ea typeface="Quicksand" pitchFamily="34" charset="-122"/>
                <a:cs typeface="Quicksand" pitchFamily="34" charset="-120"/>
              </a:rPr>
              <a:t>2</a:t>
            </a:r>
            <a:endParaRPr lang="en-US" sz="1200" dirty="0"/>
          </a:p>
        </p:txBody>
      </p:sp>
      <p:sp>
        <p:nvSpPr>
          <p:cNvPr id="13" name="Text 7"/>
          <p:cNvSpPr/>
          <p:nvPr/>
        </p:nvSpPr>
        <p:spPr>
          <a:xfrm>
            <a:off x="987552" y="315468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Content marketing (Q4 2026)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SEO, tutoriels, démonstrations.</a:t>
            </a:r>
            <a:endParaRPr lang="en-US" sz="1450" dirty="0"/>
          </a:p>
        </p:txBody>
      </p:sp>
      <p:pic>
        <p:nvPicPr>
          <p:cNvPr id="14" name="Image 4" descr="gcirc_dark.png">    </p:cNvPr>
          <p:cNvPicPr>
            <a:picLocks noChangeAspect="1"/>
          </p:cNvPicPr>
          <p:nvPr/>
        </p:nvPicPr>
        <p:blipFill>
          <a:blip r:embed="rId5"/>
          <a:stretch>
            <a:fillRect/>
          </a:stretch>
        </p:blipFill>
        <p:spPr>
          <a:xfrm>
            <a:off x="566928" y="3749040"/>
            <a:ext cx="274320" cy="274320"/>
          </a:xfrm>
          <a:prstGeom prst="rect">
            <a:avLst/>
          </a:prstGeom>
        </p:spPr>
      </p:pic>
      <p:sp>
        <p:nvSpPr>
          <p:cNvPr id="15" name="Text 8"/>
          <p:cNvSpPr/>
          <p:nvPr/>
        </p:nvSpPr>
        <p:spPr>
          <a:xfrm>
            <a:off x="566928" y="3749040"/>
            <a:ext cx="274320" cy="274320"/>
          </a:xfrm>
          <a:prstGeom prst="rect">
            <a:avLst/>
          </a:prstGeom>
          <a:noFill/>
          <a:ln/>
        </p:spPr>
        <p:txBody>
          <a:bodyPr wrap="square" lIns="0" tIns="0" rIns="0" bIns="0" rtlCol="0" anchor="ctr"/>
          <a:lstStyle/>
          <a:p>
            <a:pPr algn="ctr" indent="0" marL="0">
              <a:buNone/>
            </a:pPr>
            <a:r>
              <a:rPr lang="en-US" sz="1200" b="1" dirty="0">
                <a:solidFill>
                  <a:srgbClr val="120E15"/>
                </a:solidFill>
                <a:latin typeface="Quicksand" pitchFamily="34" charset="0"/>
                <a:ea typeface="Quicksand" pitchFamily="34" charset="-122"/>
                <a:cs typeface="Quicksand" pitchFamily="34" charset="-120"/>
              </a:rPr>
              <a:t>3</a:t>
            </a:r>
            <a:endParaRPr lang="en-US" sz="1200" dirty="0"/>
          </a:p>
        </p:txBody>
      </p:sp>
      <p:sp>
        <p:nvSpPr>
          <p:cNvPr id="16" name="Text 9"/>
          <p:cNvSpPr/>
          <p:nvPr/>
        </p:nvSpPr>
        <p:spPr>
          <a:xfrm>
            <a:off x="987552" y="370332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Influence (Q4 2026-Q1 2027)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créateurs webtoon, preuve par l'exemple.</a:t>
            </a:r>
            <a:endParaRPr lang="en-US" sz="1450" dirty="0"/>
          </a:p>
        </p:txBody>
      </p:sp>
      <p:pic>
        <p:nvPicPr>
          <p:cNvPr id="17" name="Image 5" descr="gcirc_dark.png">    </p:cNvPr>
          <p:cNvPicPr>
            <a:picLocks noChangeAspect="1"/>
          </p:cNvPicPr>
          <p:nvPr/>
        </p:nvPicPr>
        <p:blipFill>
          <a:blip r:embed="rId6"/>
          <a:stretch>
            <a:fillRect/>
          </a:stretch>
        </p:blipFill>
        <p:spPr>
          <a:xfrm>
            <a:off x="566928" y="4297680"/>
            <a:ext cx="274320" cy="274320"/>
          </a:xfrm>
          <a:prstGeom prst="rect">
            <a:avLst/>
          </a:prstGeom>
        </p:spPr>
      </p:pic>
      <p:sp>
        <p:nvSpPr>
          <p:cNvPr id="18" name="Text 10"/>
          <p:cNvSpPr/>
          <p:nvPr/>
        </p:nvSpPr>
        <p:spPr>
          <a:xfrm>
            <a:off x="566928" y="4297680"/>
            <a:ext cx="274320" cy="274320"/>
          </a:xfrm>
          <a:prstGeom prst="rect">
            <a:avLst/>
          </a:prstGeom>
          <a:noFill/>
          <a:ln/>
        </p:spPr>
        <p:txBody>
          <a:bodyPr wrap="square" lIns="0" tIns="0" rIns="0" bIns="0" rtlCol="0" anchor="ctr"/>
          <a:lstStyle/>
          <a:p>
            <a:pPr algn="ctr" indent="0" marL="0">
              <a:buNone/>
            </a:pPr>
            <a:r>
              <a:rPr lang="en-US" sz="1200" b="1" dirty="0">
                <a:solidFill>
                  <a:srgbClr val="120E15"/>
                </a:solidFill>
                <a:latin typeface="Quicksand" pitchFamily="34" charset="0"/>
                <a:ea typeface="Quicksand" pitchFamily="34" charset="-122"/>
                <a:cs typeface="Quicksand" pitchFamily="34" charset="-120"/>
              </a:rPr>
              <a:t>4</a:t>
            </a:r>
            <a:endParaRPr lang="en-US" sz="1200" dirty="0"/>
          </a:p>
        </p:txBody>
      </p:sp>
      <p:sp>
        <p:nvSpPr>
          <p:cNvPr id="19" name="Text 11"/>
          <p:cNvSpPr/>
          <p:nvPr/>
        </p:nvSpPr>
        <p:spPr>
          <a:xfrm>
            <a:off x="987552" y="4251960"/>
            <a:ext cx="10515600" cy="548640"/>
          </a:xfrm>
          <a:prstGeom prst="rect">
            <a:avLst/>
          </a:prstGeom>
          <a:noFill/>
          <a:ln/>
        </p:spPr>
        <p:txBody>
          <a:bodyPr wrap="square" lIns="0" tIns="0" rIns="0" bIns="0" rtlCol="0" anchor="ctr"/>
          <a:lstStyle/>
          <a:p>
            <a:pPr algn="l" indent="0" marL="0">
              <a:lnSpc>
                <a:spcPct val="105000"/>
              </a:lnSpc>
              <a:buNone/>
            </a:pPr>
            <a:r>
              <a:rPr lang="en-US" sz="1450" b="1" dirty="0">
                <a:solidFill>
                  <a:srgbClr val="C9AEE6"/>
                </a:solidFill>
                <a:latin typeface="Quicksand" pitchFamily="34" charset="0"/>
                <a:ea typeface="Quicksand" pitchFamily="34" charset="-122"/>
                <a:cs typeface="Quicksand" pitchFamily="34" charset="-120"/>
              </a:rPr>
              <a:t>B2B studios (dès T3 2026) —  </a:t>
            </a:r>
            <a:pPr algn="l" indent="0" marL="0">
              <a:lnSpc>
                <a:spcPct val="105000"/>
              </a:lnSpc>
              <a:buNone/>
            </a:pPr>
            <a:r>
              <a:rPr lang="en-US" sz="1450" dirty="0">
                <a:solidFill>
                  <a:srgbClr val="F7F2EA"/>
                </a:solidFill>
                <a:latin typeface="Quicksand" pitchFamily="34" charset="0"/>
                <a:ea typeface="Quicksand" pitchFamily="34" charset="-122"/>
                <a:cs typeface="Quicksand" pitchFamily="34" charset="-120"/>
              </a:rPr>
              <a:t>offre entreprise sur devis.</a:t>
            </a:r>
            <a:endParaRPr lang="en-US" sz="1450" dirty="0"/>
          </a:p>
        </p:txBody>
      </p:sp>
      <p:sp>
        <p:nvSpPr>
          <p:cNvPr id="20" name="Text 12"/>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21" name="Text 13"/>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FAISABILITÉ TECHNIQUE</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Une architecture prouvée par le POC</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Shape 2"/>
          <p:cNvSpPr/>
          <p:nvPr/>
        </p:nvSpPr>
        <p:spPr>
          <a:xfrm>
            <a:off x="548640" y="2057400"/>
            <a:ext cx="5303520" cy="1051560"/>
          </a:xfrm>
          <a:prstGeom prst="roundRect">
            <a:avLst>
              <a:gd name="adj" fmla="val 10435"/>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6" name="Text 3"/>
          <p:cNvSpPr/>
          <p:nvPr/>
        </p:nvSpPr>
        <p:spPr>
          <a:xfrm>
            <a:off x="804672" y="2203704"/>
            <a:ext cx="4791456" cy="292608"/>
          </a:xfrm>
          <a:prstGeom prst="rect">
            <a:avLst/>
          </a:prstGeom>
          <a:noFill/>
          <a:ln/>
        </p:spPr>
        <p:txBody>
          <a:bodyPr wrap="square" lIns="0" tIns="0" rIns="0" bIns="0" rtlCol="0" anchor="ctr"/>
          <a:lstStyle/>
          <a:p>
            <a:pPr algn="l" indent="0" marL="0">
              <a:buNone/>
            </a:pPr>
            <a:r>
              <a:rPr lang="en-US" sz="1150" b="1" spc="100" kern="0" dirty="0">
                <a:solidFill>
                  <a:srgbClr val="ECB093"/>
                </a:solidFill>
                <a:latin typeface="Quicksand" pitchFamily="34" charset="0"/>
                <a:ea typeface="Quicksand" pitchFamily="34" charset="-122"/>
                <a:cs typeface="Quicksand" pitchFamily="34" charset="-120"/>
              </a:rPr>
              <a:t>Front</a:t>
            </a:r>
            <a:endParaRPr lang="en-US" sz="1150" dirty="0"/>
          </a:p>
        </p:txBody>
      </p:sp>
      <p:sp>
        <p:nvSpPr>
          <p:cNvPr id="7" name="Text 4"/>
          <p:cNvSpPr/>
          <p:nvPr/>
        </p:nvSpPr>
        <p:spPr>
          <a:xfrm>
            <a:off x="804672" y="2514600"/>
            <a:ext cx="4791456" cy="502920"/>
          </a:xfrm>
          <a:prstGeom prst="rect">
            <a:avLst/>
          </a:prstGeom>
          <a:noFill/>
          <a:ln/>
        </p:spPr>
        <p:txBody>
          <a:bodyPr wrap="square" lIns="0" tIns="0" rIns="0" bIns="0" rtlCol="0" anchor="t"/>
          <a:lstStyle/>
          <a:p>
            <a:pPr algn="l" indent="0" marL="0">
              <a:lnSpc>
                <a:spcPct val="118000"/>
              </a:lnSpc>
              <a:buNone/>
            </a:pPr>
            <a:r>
              <a:rPr lang="en-US" sz="1250" dirty="0">
                <a:solidFill>
                  <a:srgbClr val="F7F2EA"/>
                </a:solidFill>
                <a:latin typeface="Quicksand" pitchFamily="34" charset="0"/>
                <a:ea typeface="Quicksand" pitchFamily="34" charset="-122"/>
                <a:cs typeface="Quicksand" pitchFamily="34" charset="-120"/>
              </a:rPr>
              <a:t>React + Vite, JAMstack, hébergé sur Vercel</a:t>
            </a:r>
            <a:endParaRPr lang="en-US" sz="1250" dirty="0"/>
          </a:p>
        </p:txBody>
      </p:sp>
      <p:sp>
        <p:nvSpPr>
          <p:cNvPr id="8" name="Shape 5"/>
          <p:cNvSpPr/>
          <p:nvPr/>
        </p:nvSpPr>
        <p:spPr>
          <a:xfrm>
            <a:off x="6309360" y="2057400"/>
            <a:ext cx="5303520" cy="1051560"/>
          </a:xfrm>
          <a:prstGeom prst="roundRect">
            <a:avLst>
              <a:gd name="adj" fmla="val 10435"/>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9" name="Text 6"/>
          <p:cNvSpPr/>
          <p:nvPr/>
        </p:nvSpPr>
        <p:spPr>
          <a:xfrm>
            <a:off x="6565392" y="2203704"/>
            <a:ext cx="4791456" cy="292608"/>
          </a:xfrm>
          <a:prstGeom prst="rect">
            <a:avLst/>
          </a:prstGeom>
          <a:noFill/>
          <a:ln/>
        </p:spPr>
        <p:txBody>
          <a:bodyPr wrap="square" lIns="0" tIns="0" rIns="0" bIns="0" rtlCol="0" anchor="ctr"/>
          <a:lstStyle/>
          <a:p>
            <a:pPr algn="l" indent="0" marL="0">
              <a:buNone/>
            </a:pPr>
            <a:r>
              <a:rPr lang="en-US" sz="1150" b="1" spc="100" kern="0" dirty="0">
                <a:solidFill>
                  <a:srgbClr val="ECB093"/>
                </a:solidFill>
                <a:latin typeface="Quicksand" pitchFamily="34" charset="0"/>
                <a:ea typeface="Quicksand" pitchFamily="34" charset="-122"/>
                <a:cs typeface="Quicksand" pitchFamily="34" charset="-120"/>
              </a:rPr>
              <a:t>Back</a:t>
            </a:r>
            <a:endParaRPr lang="en-US" sz="1150" dirty="0"/>
          </a:p>
        </p:txBody>
      </p:sp>
      <p:sp>
        <p:nvSpPr>
          <p:cNvPr id="10" name="Text 7"/>
          <p:cNvSpPr/>
          <p:nvPr/>
        </p:nvSpPr>
        <p:spPr>
          <a:xfrm>
            <a:off x="6565392" y="2514600"/>
            <a:ext cx="4791456" cy="502920"/>
          </a:xfrm>
          <a:prstGeom prst="rect">
            <a:avLst/>
          </a:prstGeom>
          <a:noFill/>
          <a:ln/>
        </p:spPr>
        <p:txBody>
          <a:bodyPr wrap="square" lIns="0" tIns="0" rIns="0" bIns="0" rtlCol="0" anchor="t"/>
          <a:lstStyle/>
          <a:p>
            <a:pPr algn="l" indent="0" marL="0">
              <a:lnSpc>
                <a:spcPct val="118000"/>
              </a:lnSpc>
              <a:buNone/>
            </a:pPr>
            <a:r>
              <a:rPr lang="en-US" sz="1250" dirty="0">
                <a:solidFill>
                  <a:srgbClr val="F7F2EA"/>
                </a:solidFill>
                <a:latin typeface="Quicksand" pitchFamily="34" charset="0"/>
                <a:ea typeface="Quicksand" pitchFamily="34" charset="-122"/>
                <a:cs typeface="Quicksand" pitchFamily="34" charset="-120"/>
              </a:rPr>
              <a:t>Supabase : Auth, Postgres (RLS), Storage, Edge Functions</a:t>
            </a:r>
            <a:endParaRPr lang="en-US" sz="1250" dirty="0"/>
          </a:p>
        </p:txBody>
      </p:sp>
      <p:sp>
        <p:nvSpPr>
          <p:cNvPr id="11" name="Shape 8"/>
          <p:cNvSpPr/>
          <p:nvPr/>
        </p:nvSpPr>
        <p:spPr>
          <a:xfrm>
            <a:off x="548640" y="3337560"/>
            <a:ext cx="5303520" cy="1051560"/>
          </a:xfrm>
          <a:prstGeom prst="roundRect">
            <a:avLst>
              <a:gd name="adj" fmla="val 10435"/>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2" name="Text 9"/>
          <p:cNvSpPr/>
          <p:nvPr/>
        </p:nvSpPr>
        <p:spPr>
          <a:xfrm>
            <a:off x="804672" y="3483864"/>
            <a:ext cx="4791456" cy="292608"/>
          </a:xfrm>
          <a:prstGeom prst="rect">
            <a:avLst/>
          </a:prstGeom>
          <a:noFill/>
          <a:ln/>
        </p:spPr>
        <p:txBody>
          <a:bodyPr wrap="square" lIns="0" tIns="0" rIns="0" bIns="0" rtlCol="0" anchor="ctr"/>
          <a:lstStyle/>
          <a:p>
            <a:pPr algn="l" indent="0" marL="0">
              <a:buNone/>
            </a:pPr>
            <a:r>
              <a:rPr lang="en-US" sz="1150" b="1" spc="100" kern="0" dirty="0">
                <a:solidFill>
                  <a:srgbClr val="ECB093"/>
                </a:solidFill>
                <a:latin typeface="Quicksand" pitchFamily="34" charset="0"/>
                <a:ea typeface="Quicksand" pitchFamily="34" charset="-122"/>
                <a:cs typeface="Quicksand" pitchFamily="34" charset="-120"/>
              </a:rPr>
              <a:t>IA image</a:t>
            </a:r>
            <a:endParaRPr lang="en-US" sz="1150" dirty="0"/>
          </a:p>
        </p:txBody>
      </p:sp>
      <p:sp>
        <p:nvSpPr>
          <p:cNvPr id="13" name="Text 10"/>
          <p:cNvSpPr/>
          <p:nvPr/>
        </p:nvSpPr>
        <p:spPr>
          <a:xfrm>
            <a:off x="804672" y="3794760"/>
            <a:ext cx="4791456" cy="502920"/>
          </a:xfrm>
          <a:prstGeom prst="rect">
            <a:avLst/>
          </a:prstGeom>
          <a:noFill/>
          <a:ln/>
        </p:spPr>
        <p:txBody>
          <a:bodyPr wrap="square" lIns="0" tIns="0" rIns="0" bIns="0" rtlCol="0" anchor="t"/>
          <a:lstStyle/>
          <a:p>
            <a:pPr algn="l" indent="0" marL="0">
              <a:lnSpc>
                <a:spcPct val="118000"/>
              </a:lnSpc>
              <a:buNone/>
            </a:pPr>
            <a:r>
              <a:rPr lang="en-US" sz="1250" dirty="0">
                <a:solidFill>
                  <a:srgbClr val="F7F2EA"/>
                </a:solidFill>
                <a:latin typeface="Quicksand" pitchFamily="34" charset="0"/>
                <a:ea typeface="Quicksand" pitchFamily="34" charset="-122"/>
                <a:cs typeface="Quicksand" pitchFamily="34" charset="-120"/>
              </a:rPr>
              <a:t>FAL.ai — FLUX.2 Pro / FLUX.2 Pro Edit</a:t>
            </a:r>
            <a:endParaRPr lang="en-US" sz="1250" dirty="0"/>
          </a:p>
        </p:txBody>
      </p:sp>
      <p:sp>
        <p:nvSpPr>
          <p:cNvPr id="14" name="Shape 11"/>
          <p:cNvSpPr/>
          <p:nvPr/>
        </p:nvSpPr>
        <p:spPr>
          <a:xfrm>
            <a:off x="6309360" y="3337560"/>
            <a:ext cx="5303520" cy="1051560"/>
          </a:xfrm>
          <a:prstGeom prst="roundRect">
            <a:avLst>
              <a:gd name="adj" fmla="val 10435"/>
            </a:avLst>
          </a:prstGeom>
          <a:solidFill>
            <a:srgbClr val="1E1728"/>
          </a:solidFill>
          <a:ln w="12700">
            <a:solidFill>
              <a:srgbClr val="3A2E52"/>
            </a:solidFill>
            <a:prstDash val="solid"/>
          </a:ln>
          <a:effectLst>
            <a:outerShdw sx="100000" sy="100000" kx="0" ky="0" algn="bl" rotWithShape="0" blurRad="127000" dist="38100" dir="5400000">
              <a:srgbClr val="3B2A55">
                <a:alpha val="12000"/>
              </a:srgbClr>
            </a:outerShdw>
          </a:effectLst>
        </p:spPr>
      </p:sp>
      <p:sp>
        <p:nvSpPr>
          <p:cNvPr id="15" name="Text 12"/>
          <p:cNvSpPr/>
          <p:nvPr/>
        </p:nvSpPr>
        <p:spPr>
          <a:xfrm>
            <a:off x="6565392" y="3483864"/>
            <a:ext cx="4791456" cy="292608"/>
          </a:xfrm>
          <a:prstGeom prst="rect">
            <a:avLst/>
          </a:prstGeom>
          <a:noFill/>
          <a:ln/>
        </p:spPr>
        <p:txBody>
          <a:bodyPr wrap="square" lIns="0" tIns="0" rIns="0" bIns="0" rtlCol="0" anchor="ctr"/>
          <a:lstStyle/>
          <a:p>
            <a:pPr algn="l" indent="0" marL="0">
              <a:buNone/>
            </a:pPr>
            <a:r>
              <a:rPr lang="en-US" sz="1150" b="1" spc="100" kern="0" dirty="0">
                <a:solidFill>
                  <a:srgbClr val="ECB093"/>
                </a:solidFill>
                <a:latin typeface="Quicksand" pitchFamily="34" charset="0"/>
                <a:ea typeface="Quicksand" pitchFamily="34" charset="-122"/>
                <a:cs typeface="Quicksand" pitchFamily="34" charset="-120"/>
              </a:rPr>
              <a:t>IA texte</a:t>
            </a:r>
            <a:endParaRPr lang="en-US" sz="1150" dirty="0"/>
          </a:p>
        </p:txBody>
      </p:sp>
      <p:sp>
        <p:nvSpPr>
          <p:cNvPr id="16" name="Text 13"/>
          <p:cNvSpPr/>
          <p:nvPr/>
        </p:nvSpPr>
        <p:spPr>
          <a:xfrm>
            <a:off x="6565392" y="3794760"/>
            <a:ext cx="4791456" cy="502920"/>
          </a:xfrm>
          <a:prstGeom prst="rect">
            <a:avLst/>
          </a:prstGeom>
          <a:noFill/>
          <a:ln/>
        </p:spPr>
        <p:txBody>
          <a:bodyPr wrap="square" lIns="0" tIns="0" rIns="0" bIns="0" rtlCol="0" anchor="t"/>
          <a:lstStyle/>
          <a:p>
            <a:pPr algn="l" indent="0" marL="0">
              <a:lnSpc>
                <a:spcPct val="118000"/>
              </a:lnSpc>
              <a:buNone/>
            </a:pPr>
            <a:r>
              <a:rPr lang="en-US" sz="1250" dirty="0">
                <a:solidFill>
                  <a:srgbClr val="F7F2EA"/>
                </a:solidFill>
                <a:latin typeface="Quicksand" pitchFamily="34" charset="0"/>
                <a:ea typeface="Quicksand" pitchFamily="34" charset="-122"/>
                <a:cs typeface="Quicksand" pitchFamily="34" charset="-120"/>
              </a:rPr>
              <a:t>Gemini Flash (scénario) · pgvector (mémoire)</a:t>
            </a:r>
            <a:endParaRPr lang="en-US" sz="1250" dirty="0"/>
          </a:p>
        </p:txBody>
      </p:sp>
      <p:sp>
        <p:nvSpPr>
          <p:cNvPr id="17" name="Shape 14"/>
          <p:cNvSpPr/>
          <p:nvPr/>
        </p:nvSpPr>
        <p:spPr>
          <a:xfrm>
            <a:off x="548640" y="4709160"/>
            <a:ext cx="11064240" cy="777240"/>
          </a:xfrm>
          <a:prstGeom prst="roundRect">
            <a:avLst>
              <a:gd name="adj" fmla="val 14118"/>
            </a:avLst>
          </a:prstGeom>
          <a:solidFill>
            <a:srgbClr val="221A30"/>
          </a:solidFill>
          <a:ln w="12700">
            <a:solidFill>
              <a:srgbClr val="3A2E52"/>
            </a:solidFill>
            <a:prstDash val="solid"/>
          </a:ln>
        </p:spPr>
      </p:sp>
      <p:pic>
        <p:nvPicPr>
          <p:cNvPr id="18" name="Image 1" descr="gbar_dark.png">    </p:cNvPr>
          <p:cNvPicPr>
            <a:picLocks noChangeAspect="1"/>
          </p:cNvPicPr>
          <p:nvPr/>
        </p:nvPicPr>
        <p:blipFill>
          <a:blip r:embed="rId2"/>
          <a:stretch>
            <a:fillRect/>
          </a:stretch>
        </p:blipFill>
        <p:spPr>
          <a:xfrm>
            <a:off x="786384" y="4855464"/>
            <a:ext cx="64008" cy="484632"/>
          </a:xfrm>
          <a:prstGeom prst="rect">
            <a:avLst/>
          </a:prstGeom>
        </p:spPr>
      </p:pic>
      <p:sp>
        <p:nvSpPr>
          <p:cNvPr id="19" name="Text 15"/>
          <p:cNvSpPr/>
          <p:nvPr/>
        </p:nvSpPr>
        <p:spPr>
          <a:xfrm>
            <a:off x="1024128" y="4754880"/>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D8C2EE"/>
                </a:solidFill>
                <a:latin typeface="Quicksand" pitchFamily="34" charset="0"/>
                <a:ea typeface="Quicksand" pitchFamily="34" charset="-122"/>
                <a:cs typeface="Quicksand" pitchFamily="34" charset="-120"/>
              </a:rPr>
              <a:t>Défis levés : cohérence (Sheet + NarraMind), coût (crédits), scale (&gt; 10 000 MAU).</a:t>
            </a:r>
            <a:endParaRPr lang="en-US" sz="1450" dirty="0"/>
          </a:p>
        </p:txBody>
      </p:sp>
      <p:sp>
        <p:nvSpPr>
          <p:cNvPr id="20" name="Text 16"/>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21" name="Text 17"/>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0E15"/>
        </a:solidFill>
      </p:bgPr>
    </p:bg>
    <p:spTree>
      <p:nvGrpSpPr>
        <p:cNvPr id="1" name=""/>
        <p:cNvGrpSpPr/>
        <p:nvPr/>
      </p:nvGrpSpPr>
      <p:grpSpPr>
        <a:xfrm>
          <a:off x="0" y="0"/>
          <a:ext cx="0" cy="0"/>
          <a:chOff x="0" y="0"/>
          <a:chExt cx="0" cy="0"/>
        </a:xfrm>
      </p:grpSpPr>
      <p:sp>
        <p:nvSpPr>
          <p:cNvPr id="2" name="Text 0"/>
          <p:cNvSpPr/>
          <p:nvPr/>
        </p:nvSpPr>
        <p:spPr>
          <a:xfrm>
            <a:off x="548640" y="502920"/>
            <a:ext cx="11064240" cy="292608"/>
          </a:xfrm>
          <a:prstGeom prst="rect">
            <a:avLst/>
          </a:prstGeom>
          <a:noFill/>
          <a:ln/>
        </p:spPr>
        <p:txBody>
          <a:bodyPr wrap="square" rtlCol="0" anchor="ctr"/>
          <a:lstStyle/>
          <a:p>
            <a:pPr algn="l" indent="0" marL="0">
              <a:buNone/>
            </a:pPr>
            <a:r>
              <a:rPr lang="en-US" sz="1150" b="1" spc="250" kern="0" dirty="0">
                <a:solidFill>
                  <a:srgbClr val="ECB093"/>
                </a:solidFill>
                <a:latin typeface="Quicksand" pitchFamily="34" charset="0"/>
                <a:ea typeface="Quicksand" pitchFamily="34" charset="-122"/>
                <a:cs typeface="Quicksand" pitchFamily="34" charset="-120"/>
              </a:rPr>
              <a:t>CONCLUSION</a:t>
            </a:r>
            <a:endParaRPr lang="en-US" sz="1150" dirty="0"/>
          </a:p>
        </p:txBody>
      </p:sp>
      <p:sp>
        <p:nvSpPr>
          <p:cNvPr id="3" name="Text 1"/>
          <p:cNvSpPr/>
          <p:nvPr/>
        </p:nvSpPr>
        <p:spPr>
          <a:xfrm>
            <a:off x="548640" y="786384"/>
            <a:ext cx="11064240" cy="731520"/>
          </a:xfrm>
          <a:prstGeom prst="rect">
            <a:avLst/>
          </a:prstGeom>
          <a:noFill/>
          <a:ln/>
        </p:spPr>
        <p:txBody>
          <a:bodyPr wrap="square" rtlCol="0" anchor="ctr"/>
          <a:lstStyle/>
          <a:p>
            <a:pPr algn="l" indent="0" marL="0">
              <a:lnSpc>
                <a:spcPct val="100000"/>
              </a:lnSpc>
              <a:buNone/>
            </a:pPr>
            <a:r>
              <a:rPr lang="en-US" sz="2600" b="1" dirty="0">
                <a:solidFill>
                  <a:srgbClr val="F7F2EA"/>
                </a:solidFill>
                <a:latin typeface="Quicksand" pitchFamily="34" charset="0"/>
                <a:ea typeface="Quicksand" pitchFamily="34" charset="-122"/>
                <a:cs typeface="Quicksand" pitchFamily="34" charset="-120"/>
              </a:rPr>
              <a:t>Le bon produit, au bon moment</a:t>
            </a:r>
            <a:endParaRPr lang="en-US" sz="2600" dirty="0"/>
          </a:p>
        </p:txBody>
      </p:sp>
      <p:pic>
        <p:nvPicPr>
          <p:cNvPr id="4" name="Image 0" descr="gbar_dark.png">    </p:cNvPr>
          <p:cNvPicPr>
            <a:picLocks noChangeAspect="1"/>
          </p:cNvPicPr>
          <p:nvPr/>
        </p:nvPicPr>
        <p:blipFill>
          <a:blip r:embed="rId1"/>
          <a:stretch>
            <a:fillRect/>
          </a:stretch>
        </p:blipFill>
        <p:spPr>
          <a:xfrm>
            <a:off x="548640" y="1499616"/>
            <a:ext cx="868680" cy="77724"/>
          </a:xfrm>
          <a:prstGeom prst="rect">
            <a:avLst/>
          </a:prstGeom>
        </p:spPr>
      </p:pic>
      <p:sp>
        <p:nvSpPr>
          <p:cNvPr id="5" name="Text 2"/>
          <p:cNvSpPr/>
          <p:nvPr/>
        </p:nvSpPr>
        <p:spPr>
          <a:xfrm>
            <a:off x="548640" y="2057400"/>
            <a:ext cx="530352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86 %</a:t>
            </a:r>
            <a:endParaRPr lang="en-US" sz="3200" dirty="0"/>
          </a:p>
        </p:txBody>
      </p:sp>
      <p:sp>
        <p:nvSpPr>
          <p:cNvPr id="6" name="Text 3"/>
          <p:cNvSpPr/>
          <p:nvPr/>
        </p:nvSpPr>
        <p:spPr>
          <a:xfrm>
            <a:off x="548640" y="2770632"/>
            <a:ext cx="530352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des créateurs utilisent déjà l'IA générative</a:t>
            </a:r>
            <a:endParaRPr lang="en-US" sz="1250" dirty="0"/>
          </a:p>
        </p:txBody>
      </p:sp>
      <p:sp>
        <p:nvSpPr>
          <p:cNvPr id="7" name="Text 4"/>
          <p:cNvSpPr/>
          <p:nvPr/>
        </p:nvSpPr>
        <p:spPr>
          <a:xfrm>
            <a:off x="6309360" y="2057400"/>
            <a:ext cx="5303520" cy="731520"/>
          </a:xfrm>
          <a:prstGeom prst="rect">
            <a:avLst/>
          </a:prstGeom>
          <a:noFill/>
          <a:ln/>
        </p:spPr>
        <p:txBody>
          <a:bodyPr wrap="square" lIns="0" tIns="0" rIns="0" bIns="0" rtlCol="0" anchor="ctr"/>
          <a:lstStyle/>
          <a:p>
            <a:pPr algn="l" indent="0" marL="0">
              <a:buNone/>
            </a:pPr>
            <a:r>
              <a:rPr lang="en-US" sz="3200" b="1" dirty="0">
                <a:solidFill>
                  <a:srgbClr val="C9AEE6"/>
                </a:solidFill>
                <a:latin typeface="Quicksand" pitchFamily="34" charset="0"/>
                <a:ea typeface="Quicksand" pitchFamily="34" charset="-122"/>
                <a:cs typeface="Quicksand" pitchFamily="34" charset="-120"/>
              </a:rPr>
              <a:t>&lt; 5 €</a:t>
            </a:r>
            <a:endParaRPr lang="en-US" sz="3200" dirty="0"/>
          </a:p>
        </p:txBody>
      </p:sp>
      <p:sp>
        <p:nvSpPr>
          <p:cNvPr id="8" name="Text 5"/>
          <p:cNvSpPr/>
          <p:nvPr/>
        </p:nvSpPr>
        <p:spPr>
          <a:xfrm>
            <a:off x="6309360" y="2770632"/>
            <a:ext cx="5303520" cy="822960"/>
          </a:xfrm>
          <a:prstGeom prst="rect">
            <a:avLst/>
          </a:prstGeom>
          <a:noFill/>
          <a:ln/>
        </p:spPr>
        <p:txBody>
          <a:bodyPr wrap="square" lIns="0" tIns="0" rIns="0" bIns="0" rtlCol="0" anchor="t"/>
          <a:lstStyle/>
          <a:p>
            <a:pPr algn="l" indent="0" marL="0">
              <a:lnSpc>
                <a:spcPct val="115000"/>
              </a:lnSpc>
              <a:buNone/>
            </a:pPr>
            <a:r>
              <a:rPr lang="en-US" sz="1250" dirty="0">
                <a:solidFill>
                  <a:srgbClr val="B9AECB"/>
                </a:solidFill>
                <a:latin typeface="Quicksand" pitchFamily="34" charset="0"/>
                <a:ea typeface="Quicksand" pitchFamily="34" charset="-122"/>
                <a:cs typeface="Quicksand" pitchFamily="34" charset="-120"/>
              </a:rPr>
              <a:t>le coût d'un chapitre, contre des centaines d'euros</a:t>
            </a:r>
            <a:endParaRPr lang="en-US" sz="1250" dirty="0"/>
          </a:p>
        </p:txBody>
      </p:sp>
      <p:sp>
        <p:nvSpPr>
          <p:cNvPr id="9" name="Shape 6"/>
          <p:cNvSpPr/>
          <p:nvPr/>
        </p:nvSpPr>
        <p:spPr>
          <a:xfrm>
            <a:off x="548640" y="5166360"/>
            <a:ext cx="11064240" cy="777240"/>
          </a:xfrm>
          <a:prstGeom prst="roundRect">
            <a:avLst>
              <a:gd name="adj" fmla="val 14118"/>
            </a:avLst>
          </a:prstGeom>
          <a:solidFill>
            <a:srgbClr val="221A30"/>
          </a:solidFill>
          <a:ln w="12700">
            <a:solidFill>
              <a:srgbClr val="3A2E52"/>
            </a:solidFill>
            <a:prstDash val="solid"/>
          </a:ln>
        </p:spPr>
      </p:sp>
      <p:pic>
        <p:nvPicPr>
          <p:cNvPr id="10" name="Image 1" descr="gbar_dark.png">    </p:cNvPr>
          <p:cNvPicPr>
            <a:picLocks noChangeAspect="1"/>
          </p:cNvPicPr>
          <p:nvPr/>
        </p:nvPicPr>
        <p:blipFill>
          <a:blip r:embed="rId2"/>
          <a:stretch>
            <a:fillRect/>
          </a:stretch>
        </p:blipFill>
        <p:spPr>
          <a:xfrm>
            <a:off x="786384" y="5312664"/>
            <a:ext cx="64008" cy="484632"/>
          </a:xfrm>
          <a:prstGeom prst="rect">
            <a:avLst/>
          </a:prstGeom>
        </p:spPr>
      </p:pic>
      <p:sp>
        <p:nvSpPr>
          <p:cNvPr id="11" name="Text 7"/>
          <p:cNvSpPr/>
          <p:nvPr/>
        </p:nvSpPr>
        <p:spPr>
          <a:xfrm>
            <a:off x="1024128" y="5212080"/>
            <a:ext cx="10287000" cy="685800"/>
          </a:xfrm>
          <a:prstGeom prst="rect">
            <a:avLst/>
          </a:prstGeom>
          <a:noFill/>
          <a:ln/>
        </p:spPr>
        <p:txBody>
          <a:bodyPr wrap="square" lIns="0" tIns="0" rIns="0" bIns="0" rtlCol="0" anchor="ctr"/>
          <a:lstStyle/>
          <a:p>
            <a:pPr algn="l" indent="0" marL="0">
              <a:lnSpc>
                <a:spcPct val="112000"/>
              </a:lnSpc>
              <a:buNone/>
            </a:pPr>
            <a:r>
              <a:rPr lang="en-US" sz="1450" i="1" dirty="0">
                <a:solidFill>
                  <a:srgbClr val="D8C2EE"/>
                </a:solidFill>
                <a:latin typeface="Quicksand" pitchFamily="34" charset="0"/>
                <a:ea typeface="Quicksand" pitchFamily="34" charset="-122"/>
                <a:cs typeface="Quicksand" pitchFamily="34" charset="-120"/>
              </a:rPr>
              <a:t>DreamWeave démocratise la création de webtoons : de l'idée au chapitre publié, sans savoir dessiner.</a:t>
            </a:r>
            <a:endParaRPr lang="en-US" sz="1450" dirty="0"/>
          </a:p>
        </p:txBody>
      </p:sp>
      <p:sp>
        <p:nvSpPr>
          <p:cNvPr id="12" name="Text 8"/>
          <p:cNvSpPr/>
          <p:nvPr/>
        </p:nvSpPr>
        <p:spPr>
          <a:xfrm>
            <a:off x="548640" y="6400800"/>
            <a:ext cx="5486400" cy="274320"/>
          </a:xfrm>
          <a:prstGeom prst="rect">
            <a:avLst/>
          </a:prstGeom>
          <a:noFill/>
          <a:ln/>
        </p:spPr>
        <p:txBody>
          <a:bodyPr wrap="square" rtlCol="0" anchor="ctr"/>
          <a:lstStyle/>
          <a:p>
            <a:pPr algn="l" indent="0" marL="0">
              <a:buNone/>
            </a:pPr>
            <a:r>
              <a:rPr lang="en-US" sz="1000" dirty="0">
                <a:solidFill>
                  <a:srgbClr val="B9AECB"/>
                </a:solidFill>
                <a:latin typeface="Quicksand" pitchFamily="34" charset="0"/>
                <a:ea typeface="Quicksand" pitchFamily="34" charset="-122"/>
                <a:cs typeface="Quicksand" pitchFamily="34" charset="-120"/>
              </a:rPr>
              <a:t>DreamWeave — Business Project</a:t>
            </a:r>
            <a:endParaRPr lang="en-US" sz="1000" dirty="0"/>
          </a:p>
        </p:txBody>
      </p:sp>
      <p:sp>
        <p:nvSpPr>
          <p:cNvPr id="13" name="Text 9"/>
          <p:cNvSpPr/>
          <p:nvPr/>
        </p:nvSpPr>
        <p:spPr>
          <a:xfrm>
            <a:off x="10241280" y="6400800"/>
            <a:ext cx="1371600" cy="274320"/>
          </a:xfrm>
          <a:prstGeom prst="rect">
            <a:avLst/>
          </a:prstGeom>
          <a:noFill/>
          <a:ln/>
        </p:spPr>
        <p:txBody>
          <a:bodyPr wrap="square" rtlCol="0" anchor="ctr"/>
          <a:lstStyle/>
          <a:p>
            <a:pPr algn="r" indent="0" marL="0">
              <a:buNone/>
            </a:pPr>
            <a:r>
              <a:rPr lang="en-US" sz="1100" b="1" dirty="0">
                <a:solidFill>
                  <a:srgbClr val="B9AECB"/>
                </a:solidFill>
                <a:latin typeface="Quicksand" pitchFamily="34" charset="0"/>
                <a:ea typeface="Quicksand" pitchFamily="34" charset="-122"/>
                <a:cs typeface="Quicksand"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0E15"/>
        </a:solidFill>
      </p:bgPr>
    </p:bg>
    <p:spTree>
      <p:nvGrpSpPr>
        <p:cNvPr id="1" name=""/>
        <p:cNvGrpSpPr/>
        <p:nvPr/>
      </p:nvGrpSpPr>
      <p:grpSpPr>
        <a:xfrm>
          <a:off x="0" y="0"/>
          <a:ext cx="0" cy="0"/>
          <a:chOff x="0" y="0"/>
          <a:chExt cx="0" cy="0"/>
        </a:xfrm>
      </p:grpSpPr>
      <p:pic>
        <p:nvPicPr>
          <p:cNvPr id="2" name="Image 0" descr="gblob_dark.png">    </p:cNvPr>
          <p:cNvPicPr>
            <a:picLocks noChangeAspect="1"/>
          </p:cNvPicPr>
          <p:nvPr/>
        </p:nvPicPr>
        <p:blipFill>
          <a:blip r:embed="rId1"/>
          <a:stretch>
            <a:fillRect/>
          </a:stretch>
        </p:blipFill>
        <p:spPr>
          <a:xfrm>
            <a:off x="3337560" y="365760"/>
            <a:ext cx="5486400" cy="5486400"/>
          </a:xfrm>
          <a:prstGeom prst="rect">
            <a:avLst/>
          </a:prstGeom>
        </p:spPr>
      </p:pic>
      <p:sp>
        <p:nvSpPr>
          <p:cNvPr id="3" name="Text 0"/>
          <p:cNvSpPr/>
          <p:nvPr/>
        </p:nvSpPr>
        <p:spPr>
          <a:xfrm>
            <a:off x="914400" y="2011680"/>
            <a:ext cx="10332720" cy="365760"/>
          </a:xfrm>
          <a:prstGeom prst="rect">
            <a:avLst/>
          </a:prstGeom>
          <a:noFill/>
          <a:ln/>
        </p:spPr>
        <p:txBody>
          <a:bodyPr wrap="square" rtlCol="0" anchor="ctr"/>
          <a:lstStyle/>
          <a:p>
            <a:pPr algn="ctr" indent="0" marL="0">
              <a:buNone/>
            </a:pPr>
            <a:r>
              <a:rPr lang="en-US" sz="1500" b="1" spc="400" kern="0" dirty="0">
                <a:solidFill>
                  <a:srgbClr val="ECB093"/>
                </a:solidFill>
                <a:latin typeface="Quicksand" pitchFamily="34" charset="0"/>
                <a:ea typeface="Quicksand" pitchFamily="34" charset="-122"/>
                <a:cs typeface="Quicksand" pitchFamily="34" charset="-120"/>
              </a:rPr>
              <a:t>POINT FINAL</a:t>
            </a:r>
            <a:endParaRPr lang="en-US" sz="1500" dirty="0"/>
          </a:p>
        </p:txBody>
      </p:sp>
      <p:sp>
        <p:nvSpPr>
          <p:cNvPr id="4" name="Text 1"/>
          <p:cNvSpPr/>
          <p:nvPr/>
        </p:nvSpPr>
        <p:spPr>
          <a:xfrm>
            <a:off x="914400" y="2468880"/>
            <a:ext cx="10332720" cy="1371600"/>
          </a:xfrm>
          <a:prstGeom prst="rect">
            <a:avLst/>
          </a:prstGeom>
          <a:noFill/>
          <a:ln/>
        </p:spPr>
        <p:txBody>
          <a:bodyPr wrap="square" rtlCol="0" anchor="ctr"/>
          <a:lstStyle/>
          <a:p>
            <a:pPr algn="ctr" indent="0" marL="0">
              <a:buNone/>
            </a:pPr>
            <a:r>
              <a:rPr lang="en-US" sz="6200" b="1" dirty="0">
                <a:solidFill>
                  <a:srgbClr val="C9AEE6"/>
                </a:solidFill>
                <a:latin typeface="Quicksand" pitchFamily="34" charset="0"/>
                <a:ea typeface="Quicksand" pitchFamily="34" charset="-122"/>
                <a:cs typeface="Quicksand" pitchFamily="34" charset="-120"/>
              </a:rPr>
              <a:t>Merci</a:t>
            </a:r>
            <a:endParaRPr lang="en-US" sz="6200" dirty="0"/>
          </a:p>
        </p:txBody>
      </p:sp>
      <p:pic>
        <p:nvPicPr>
          <p:cNvPr id="5" name="Image 1" descr="gbar_dark.png">    </p:cNvPr>
          <p:cNvPicPr>
            <a:picLocks noChangeAspect="1"/>
          </p:cNvPicPr>
          <p:nvPr/>
        </p:nvPicPr>
        <p:blipFill>
          <a:blip r:embed="rId2"/>
          <a:stretch>
            <a:fillRect/>
          </a:stretch>
        </p:blipFill>
        <p:spPr>
          <a:xfrm>
            <a:off x="5303520" y="4069080"/>
            <a:ext cx="1554480" cy="109728"/>
          </a:xfrm>
          <a:prstGeom prst="rect">
            <a:avLst/>
          </a:prstGeom>
        </p:spPr>
      </p:pic>
      <p:sp>
        <p:nvSpPr>
          <p:cNvPr id="6" name="Text 2"/>
          <p:cNvSpPr/>
          <p:nvPr/>
        </p:nvSpPr>
        <p:spPr>
          <a:xfrm>
            <a:off x="914400" y="4343400"/>
            <a:ext cx="10332720" cy="548640"/>
          </a:xfrm>
          <a:prstGeom prst="rect">
            <a:avLst/>
          </a:prstGeom>
          <a:noFill/>
          <a:ln/>
        </p:spPr>
        <p:txBody>
          <a:bodyPr wrap="square" rtlCol="0" anchor="ctr"/>
          <a:lstStyle/>
          <a:p>
            <a:pPr algn="ctr" indent="0" marL="0">
              <a:buNone/>
            </a:pPr>
            <a:r>
              <a:rPr lang="en-US" sz="1900" dirty="0">
                <a:solidFill>
                  <a:srgbClr val="B9AECB"/>
                </a:solidFill>
                <a:latin typeface="Quicksand" pitchFamily="34" charset="0"/>
                <a:ea typeface="Quicksand" pitchFamily="34" charset="-122"/>
                <a:cs typeface="Quicksand" pitchFamily="34" charset="-120"/>
              </a:rPr>
              <a:t>Des questions ?</a:t>
            </a:r>
            <a:endParaRPr lang="en-US" sz="1900" dirty="0"/>
          </a:p>
        </p:txBody>
      </p:sp>
      <p:sp>
        <p:nvSpPr>
          <p:cNvPr id="7" name="Text 3"/>
          <p:cNvSpPr/>
          <p:nvPr/>
        </p:nvSpPr>
        <p:spPr>
          <a:xfrm>
            <a:off x="914400" y="5349240"/>
            <a:ext cx="10332720" cy="365760"/>
          </a:xfrm>
          <a:prstGeom prst="rect">
            <a:avLst/>
          </a:prstGeom>
          <a:noFill/>
          <a:ln/>
        </p:spPr>
        <p:txBody>
          <a:bodyPr wrap="square" rtlCol="0" anchor="ctr"/>
          <a:lstStyle/>
          <a:p>
            <a:pPr algn="ctr" indent="0" marL="0">
              <a:buNone/>
            </a:pPr>
            <a:r>
              <a:rPr lang="en-US" sz="1800" b="1" dirty="0">
                <a:solidFill>
                  <a:srgbClr val="B3DBD4"/>
                </a:solidFill>
                <a:latin typeface="Quicksand" pitchFamily="34" charset="0"/>
                <a:ea typeface="Quicksand" pitchFamily="34" charset="-122"/>
                <a:cs typeface="Quicksand" pitchFamily="34" charset="-120"/>
              </a:rPr>
              <a:t>Louis Basnier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2026-08-23T20:43:21Z</dcterms:created>
  <dcterms:modified xsi:type="dcterms:W3CDTF">2026-08-23T20:43:21Z</dcterms:modified>
</cp:coreProperties>
</file>