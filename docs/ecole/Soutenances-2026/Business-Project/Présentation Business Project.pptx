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embeddedFontLst>
    <p:embeddedFont>
      <p:font typeface="Nunito" pitchFamily="2" charset="0"/>
      <p:regular r:id="rId29"/>
      <p:bold r:id="rId30"/>
      <p:italic r:id="rId31"/>
    </p:embeddedFont>
    <p:embeddedFont>
      <p:font typeface="Quicksand" pitchFamily="2" charset="0"/>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presenter DreamWeave, mon business project : un outil qui permet de creer un webtoon complet et coherent grace a l'IA, sans savoir dessiner. En vingt minutes, je couvre le marche, la solution, le modele economique et la faisabilite technique.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la maniere dont j'ai construit cette presentation. Ce n'est pas une liste de fonctionnalites, mais une suite de decisions. Pour chaque choix : le probleme, les options, la decision, la justification.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marche du webtoon croit de 27 % par an et pesera 45 milliards de dollars en 2030. Mais il y a un goulot d'etranglement : pour creer un webtoon, il faut savoir dessiner, ou payer 300 a 1500 euros par chapitre. Sans cette competence ni ce budget, beaucoup abandonnent. Resultat : la demande d'outils IA explose, plus 200 pourcent de recherches AI webtoon maker en deux 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mots sur le format. Un webtoon, c'est une bande dessinee verticale, qu'on lit en scrollant sur mobile. Une seule colonne continue, qui peut faire des dizaines de milliers de pixels de haut. C'est exactement ce format que DreamWeave produit, et c'est lui qui impose ma vraie contrainte : garder un personnage coherent sur toute la longueur.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public est massif. La plateforme leader compte 170 millions de lecteurs et 24 millions de createurs, et ce chiffre vient de son document reglementaire d'introduction en bourse, pas d'un blog. La romance domine, pres de 40 pourcent des revenus, l'audience est jeune. Ce qui manque, ce sont des outils de production accessibles.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regarde le marche a trois niveaux. Le TAM, tous les auteurs de webfiction, environ 160 millions. Le SAM, plus realiste : les createurs bloques par le dessin, prets a payer 10 a 30 euros, cinq a dix millions. Et le SOM, mon objectif a un an : 10 000 inscrits, 600 payants, avec un cout d'acquisition sous 30 euros. Des objectifs volontairement prudents.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identifie quatre personas a partir de donnees publiques. Ma cible primaire : Luna, la creatrice passionnee, prete a mettre 8 a 15 euros par mois. Autour d'elle : Marc, l'auteur exigeant ; Theo, l'etudiant prescripteur ; et Elodie, l'editeur B2B. Tous partagent le meme blocage : produire des visuels coherents. Ma decision : commencer par le B2C, qui finance l'apprentissage et genere les preuves sociales, puis ouvrir le B2B.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Dashtoon a le workflow, mais une coherence faible. Clip Studio est la reference des pros, mais refuse l'IA et exige de savoir dessiner. AI Comic Factory est gratuit, mais reste un rendu brut. La place vide, en haut a droite, c'est l'intersection coherence et accessibilite, et c'est la que je me positionne. Ma force : FLUX 2 Pro pour tous, plus une memoire narrative. Ma faiblesse assumee : la dependance a un fournisseur d'IA.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ce produit et pas un autre ? J'ai ecarte trois options : une marketplace, qui ne supprime ni cout ni delai ; un outil de dessin assiste, qui exige toujours de savoir dessiner ; et la generation one-shot, sans coherence ni workflow. J'ai retenu un pipeline complet, de l'idee au webtoon publiable. C'est la seule option qui attaque la cause de l'abandon.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solution, en quatre etapes. On fixe un style de reference. On genere les assets, personnages et decors, coherents entre eux. On ecrit le scenario, qui se decoupe automatiquement en cases. Et dans l'editeur, on compose chaque case, on ajoute les bulles, on exporte le chapitre. Le tout produit des visuels coherents en secondes.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la charniere du projet. Cinq barrieres empechent aujourd'hui de creer un webtoon, et a chacune je fais correspondre une reponse. La barriere artistique, c'est la generation IA. L'incoherence, c'est le Sheet System. La fragmentation, le tout-en-un. Le cout, les credits. La complexite, l'onboarding progressif. De cette correspondance decoule toute l'architecture.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editeur complet, montre d'un coup, est intimidant, donc un facteur d'abandon. J'ai ecarte deux extremes : tout exposer, ecrasant ; et le wizard force, frustrant. J'ai retenu le deblocage progressif, guide par l'assistant Ariane, avec des badges New. On garde un time-to-value sous dix minutes sans sacrifier la profondeur.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mon vrai differenciateur. Le probleme : avec une generation naive, le meme prompt donne un personnage different a chaque fois. Impossible pour un webtoon. J'ai ecarte le seed fixe, qui casse des qu'on change l'angle, et le LoRA par personnage, couteux et lent. Ma solution : le Sheet System, une fiche du personnage sous quatre angles, reinjectee a chaque generation via FLUX 2 Pro Edit. J'obtiens environ 90 pourcent du benefice d'un LoRA, pour une fraction du cout. C'est un choix d'ingenieur : la solution suffisante et livrable bat la solution parfaite et inatteignable.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case n'est pas une image unique : c'est une composition de plusieurs blocs. Chaque bloc porte ses coordonnees, ses dimensions, son prompt et ses references d'assets, dans un layout JSONB, et se genere independamment. Resultat : l'auteur peut regenerer un seul bloc sans refaire toute la case. Indispensable a un vrai workflow creatif.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Derniere brique de coherence : l'histoire elle-meme. Injecter tous les chapitres en brut fait exploser le contexte, environ 850 tokens par chapitre. J'ai ecarte la fenetre glissante, qui oublie le lore ancien. Ma solution, NarraMind : je compresse a une cinquantaine de tokens par chapitre et j'ajoute une recherche vectorielle. La memoire reste invisible : l'auteur ne voit que les alertes d'Ariane, jamais la plomberie.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modele en une vue. Partenaires : FAL.ai, Supabase, Vercel. Ressources cles : les modeles FLUX et surtout mes prompts systeme proprietaires. Revenus : abonnements, packs, marketplace de styles a 30 pourcent, API B2B. Et l'essentiel des couts est variable, environ six centimes par generation. Mon seul vrai levier de marge, c'est le ratio entre le prix de l'abonnement et le cout reel des generations.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pricing suit une logique Spotify : la meme qualite pour tous, on ne fait payer que le volume. Libre gratuit avec 20 credits, Createur a 12,99 euros avec 100, Studio a 29,99 avec 250, et une offre Entreprise sur devis pour les studios. Toutes les fonctions sont ouvertes, meme en gratuit. L'utilisateur gratuit eprouve la pleine valeur, puis passe payant par manque de volume, pas par frustration.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ca change, chiffre. Un chapitre qui demandait une a quatre semaines se produit en deux a quatre heures, et un cout de 300 a 1500 euros tombe sous 5 euros. Sur une hypothese de conversion prudente, de 2 a 6 pourcent sur douze mois, j'atteins 600 payants a un an, soit un revenu annuel recurrent d'environ 137 000 euros. Mais le point cle, c'est la trajectoire : je suis a l'equilibre des dix a quinze abonnes, sans avoir a lever.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pari : une personne seule, outillee par l'IA de developpement, peut porter la complexite d'une equipe de trois a cinq. Les recrutements viennent ensuite, declenches par des seuils de revenus. Meme logique cote juridique : auto-entrepreneur, puis SASU au premier salarie ou a 30 000 euros, puis SAS en cas d'associes ou de levee. Chaque transition est declenchee par un fait. Le developpement prend quatre a six mois.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sur le marche se fait en cinq phases. Une beta avec une dizaine de pilotes. Le lancement public du gratuit. Le content marketing, SEO et tutoriels. Une phase d'influence avec des createurs. Et en parallele, une offre B2B pour les studios. Le point critique, ce n'est pas l'acquisition, c'est l'activation, le wow moment en moins de dix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prototype fonctionne, et chaque brique repond a un meme fil conducteur : maximiser ce qu'une seule personne peut livrer et maintenir. Supabase me donne la securite par utilisateur des le premier jour. FAL.ai et FLUX 2 Pro offrent la multi-reference native, sans elle pas de Sheet System, et une couverture copyright. Gemini pour le texte, avec un fallback Groq automatique. Mes dependances sont assumees et reversibles.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sujet que le jury attend : le droit de l'IA. Ma strategie, c'est d'en faire un argument commercial. Trois piliers. Une intervention humaine creative a chaque etape, qui securise la propriete de l'oeuvre. Un badge de transparence sur les exports, qui anticipe l'AI Act. Et une couverture copyright heritee de FAL.ai. DreamWeave se positionne comme l'outil le plus conforme du secteur.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a l'echelle ? Soyons honnetes. Pour chaque composant, je nomme sa limite actuelle, et j'y associe une evolution priorisee pour passer les dix mille utilisateurs actifs. Mes choix d'aujourd'hui sont des choix de phase de lancement, pas des impasses. Le LoRA, par exemple, reste planifie comme une evolution de scale. Chaque limite a deja son plan de depassement.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le marche grandit vite, 86 pourcent des createurs utilisent deja l'IA, et personne ne resout vraiment la coherence. DreamWeave arrive au bon moment : de l'idee au chapitre publie, sans savoir dessiner, pour moins de 5 euros le chapitre. Ce n'est pas un concept, le prototype tourne, et le modele est soutenable des le premier utilisateur gratuit.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mot sur la rigueur. Chaque chiffre de cette presentation vient soit d'une source publique verifiable, a gauche, soit d'une enquete ou d'un calcul que j'assume, a droite. Je garde cette slide affichee : si un chiffre vous interpelle, on y revient.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a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0" y="1051560"/>
            <a:ext cx="12191695" cy="365760"/>
          </a:xfrm>
          <a:prstGeom prst="rect">
            <a:avLst/>
          </a:prstGeom>
          <a:noFill/>
          <a:ln/>
        </p:spPr>
        <p:txBody>
          <a:bodyPr wrap="square" lIns="0" tIns="0" rIns="0" bIns="0" rtlCol="0" anchor="ctr"/>
          <a:lstStyle/>
          <a:p>
            <a:pPr marL="0" indent="0" algn="ctr">
              <a:buNone/>
            </a:pPr>
            <a:r>
              <a:rPr lang="en-US" sz="1800" b="1" kern="0" spc="500" dirty="0">
                <a:solidFill>
                  <a:srgbClr val="E389B5"/>
                </a:solidFill>
                <a:latin typeface="Quicksand" pitchFamily="34" charset="0"/>
                <a:ea typeface="Quicksand" pitchFamily="34" charset="-122"/>
                <a:cs typeface="Quicksand" pitchFamily="34" charset="-120"/>
              </a:rPr>
              <a:t>BUSINESS PROJECT</a:t>
            </a:r>
            <a:endParaRPr lang="en-US" sz="1800" dirty="0"/>
          </a:p>
        </p:txBody>
      </p:sp>
      <p:pic>
        <p:nvPicPr>
          <p:cNvPr id="3" name="Image 0" descr="C:\Users\kirit\AppData\Local\Temp\claude\C--Users-kirit-OneDrive-Bureau-DreamWeave\1dfcbb64-69b7-40e1-93a9-2561d034242f\scratchpad\deck-memoire\imgb\logo.png"/>
          <p:cNvPicPr>
            <a:picLocks noChangeAspect="1"/>
          </p:cNvPicPr>
          <p:nvPr/>
        </p:nvPicPr>
        <p:blipFill>
          <a:blip r:embed="rId3"/>
          <a:stretch>
            <a:fillRect/>
          </a:stretch>
        </p:blipFill>
        <p:spPr>
          <a:xfrm>
            <a:off x="4292835" y="1828800"/>
            <a:ext cx="3606024" cy="2468880"/>
          </a:xfrm>
          <a:prstGeom prst="rect">
            <a:avLst/>
          </a:prstGeom>
        </p:spPr>
      </p:pic>
      <p:pic>
        <p:nvPicPr>
          <p:cNvPr id="4" name="Image 1" descr="C:\Users\kirit\AppData\Local\Temp\claude\C--Users-kirit-OneDrive-Bureau-DreamWeave\1dfcbb64-69b7-40e1-93a9-2561d034242f\scratchpad\deck-memoire\imgb\rule.png"/>
          <p:cNvPicPr>
            <a:picLocks noChangeAspect="1"/>
          </p:cNvPicPr>
          <p:nvPr/>
        </p:nvPicPr>
        <p:blipFill>
          <a:blip r:embed="rId4"/>
          <a:stretch>
            <a:fillRect/>
          </a:stretch>
        </p:blipFill>
        <p:spPr>
          <a:xfrm>
            <a:off x="4678528" y="4754880"/>
            <a:ext cx="2834640" cy="64008"/>
          </a:xfrm>
          <a:prstGeom prst="rect">
            <a:avLst/>
          </a:prstGeom>
        </p:spPr>
      </p:pic>
      <p:sp>
        <p:nvSpPr>
          <p:cNvPr id="5" name="Text 1"/>
          <p:cNvSpPr/>
          <p:nvPr/>
        </p:nvSpPr>
        <p:spPr>
          <a:xfrm>
            <a:off x="0" y="4983480"/>
            <a:ext cx="12191695" cy="457200"/>
          </a:xfrm>
          <a:prstGeom prst="rect">
            <a:avLst/>
          </a:prstGeom>
          <a:noFill/>
          <a:ln/>
        </p:spPr>
        <p:txBody>
          <a:bodyPr wrap="square" lIns="0" tIns="0" rIns="0" bIns="0" rtlCol="0" anchor="ctr"/>
          <a:lstStyle/>
          <a:p>
            <a:pPr marL="0" indent="0" algn="ctr">
              <a:buNone/>
            </a:pPr>
            <a:r>
              <a:rPr lang="en-US" sz="1900" i="1" dirty="0">
                <a:solidFill>
                  <a:srgbClr val="B9B1C9"/>
                </a:solidFill>
                <a:latin typeface="Nunito" pitchFamily="34" charset="0"/>
                <a:ea typeface="Nunito" pitchFamily="34" charset="-122"/>
                <a:cs typeface="Nunito" pitchFamily="34" charset="-120"/>
              </a:rPr>
              <a:t>De l'idée au chapitre publié, sans savoir dessiner.</a:t>
            </a:r>
            <a:endParaRPr lang="en-US" sz="1900" dirty="0"/>
          </a:p>
        </p:txBody>
      </p:sp>
      <p:sp>
        <p:nvSpPr>
          <p:cNvPr id="6" name="Text 2"/>
          <p:cNvSpPr/>
          <p:nvPr/>
        </p:nvSpPr>
        <p:spPr>
          <a:xfrm>
            <a:off x="0" y="6035040"/>
            <a:ext cx="12191695" cy="365760"/>
          </a:xfrm>
          <a:prstGeom prst="rect">
            <a:avLst/>
          </a:prstGeom>
          <a:noFill/>
          <a:ln/>
        </p:spPr>
        <p:txBody>
          <a:bodyPr wrap="square" lIns="0" tIns="0" rIns="0" bIns="0" rtlCol="0" anchor="ctr"/>
          <a:lstStyle/>
          <a:p>
            <a:pPr marL="0" indent="0" algn="ctr">
              <a:buNone/>
            </a:pPr>
            <a:r>
              <a:rPr lang="en-US" sz="1400" b="1" dirty="0">
                <a:solidFill>
                  <a:srgbClr val="6FD6BD"/>
                </a:solidFill>
                <a:latin typeface="Quicksand" pitchFamily="34" charset="0"/>
                <a:ea typeface="Quicksand" pitchFamily="34" charset="-122"/>
                <a:cs typeface="Quicksand" pitchFamily="34" charset="-120"/>
              </a:rPr>
              <a:t>Louis Basnier   ·   WSF Promotion 2026   ·   Soutenance 20 min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NOTE D'INTENTION</a:t>
            </a:r>
            <a:endParaRPr lang="en-US" sz="1300" dirty="0"/>
          </a:p>
        </p:txBody>
      </p:sp>
      <p:pic>
        <p:nvPicPr>
          <p:cNvPr id="3" name="Image 0" descr="C:\Users\kirit\AppData\Local\Temp\claude\C--Users-kirit-OneDrive-Bureau-DreamWeave\1dfcbb64-69b7-40e1-93a9-2561d034242f\scratchpad\deck-memoire\imgb\t2.png"/>
          <p:cNvPicPr>
            <a:picLocks noChangeAspect="1"/>
          </p:cNvPicPr>
          <p:nvPr/>
        </p:nvPicPr>
        <p:blipFill>
          <a:blip r:embed="rId3"/>
          <a:stretch>
            <a:fillRect/>
          </a:stretch>
        </p:blipFill>
        <p:spPr>
          <a:xfrm>
            <a:off x="822960" y="1097280"/>
            <a:ext cx="5530284" cy="409262"/>
          </a:xfrm>
          <a:prstGeom prst="rect">
            <a:avLst/>
          </a:prstGeom>
        </p:spPr>
      </p:pic>
      <p:sp>
        <p:nvSpPr>
          <p:cNvPr id="4" name="Shape 1"/>
          <p:cNvSpPr/>
          <p:nvPr/>
        </p:nvSpPr>
        <p:spPr>
          <a:xfrm>
            <a:off x="822960" y="2926080"/>
            <a:ext cx="26060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5" name="Text 2"/>
          <p:cNvSpPr/>
          <p:nvPr/>
        </p:nvSpPr>
        <p:spPr>
          <a:xfrm>
            <a:off x="1051560" y="310896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1</a:t>
            </a:r>
            <a:endParaRPr lang="en-US" sz="2200" dirty="0"/>
          </a:p>
        </p:txBody>
      </p:sp>
      <p:sp>
        <p:nvSpPr>
          <p:cNvPr id="6" name="Text 3"/>
          <p:cNvSpPr/>
          <p:nvPr/>
        </p:nvSpPr>
        <p:spPr>
          <a:xfrm>
            <a:off x="1051560" y="3611880"/>
            <a:ext cx="2148840" cy="731520"/>
          </a:xfrm>
          <a:prstGeom prst="rect">
            <a:avLst/>
          </a:prstGeom>
          <a:noFill/>
          <a:ln/>
        </p:spPr>
        <p:txBody>
          <a:bodyPr wrap="square" lIns="0" tIns="0" rIns="0" bIns="0" rtlCol="0" anchor="ctr"/>
          <a:lstStyle/>
          <a:p>
            <a:pPr marL="0" indent="0">
              <a:buNone/>
            </a:pPr>
            <a:r>
              <a:rPr lang="en-US" sz="1700" b="1" dirty="0">
                <a:solidFill>
                  <a:srgbClr val="F4F1F8"/>
                </a:solidFill>
                <a:latin typeface="Quicksand" pitchFamily="34" charset="0"/>
                <a:ea typeface="Quicksand" pitchFamily="34" charset="-122"/>
                <a:cs typeface="Quicksand" pitchFamily="34" charset="-120"/>
              </a:rPr>
              <a:t>Le problème</a:t>
            </a:r>
            <a:endParaRPr lang="en-US" sz="1700" dirty="0"/>
          </a:p>
        </p:txBody>
      </p:sp>
      <p:sp>
        <p:nvSpPr>
          <p:cNvPr id="7" name="Shape 4"/>
          <p:cNvSpPr/>
          <p:nvPr/>
        </p:nvSpPr>
        <p:spPr>
          <a:xfrm>
            <a:off x="3630168" y="2926080"/>
            <a:ext cx="26060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8" name="Text 5"/>
          <p:cNvSpPr/>
          <p:nvPr/>
        </p:nvSpPr>
        <p:spPr>
          <a:xfrm>
            <a:off x="3858768" y="310896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2</a:t>
            </a:r>
            <a:endParaRPr lang="en-US" sz="2200" dirty="0"/>
          </a:p>
        </p:txBody>
      </p:sp>
      <p:sp>
        <p:nvSpPr>
          <p:cNvPr id="9" name="Text 6"/>
          <p:cNvSpPr/>
          <p:nvPr/>
        </p:nvSpPr>
        <p:spPr>
          <a:xfrm>
            <a:off x="3858768" y="3611880"/>
            <a:ext cx="2148840" cy="731520"/>
          </a:xfrm>
          <a:prstGeom prst="rect">
            <a:avLst/>
          </a:prstGeom>
          <a:noFill/>
          <a:ln/>
        </p:spPr>
        <p:txBody>
          <a:bodyPr wrap="square" lIns="0" tIns="0" rIns="0" bIns="0" rtlCol="0" anchor="ctr"/>
          <a:lstStyle/>
          <a:p>
            <a:pPr marL="0" indent="0">
              <a:buNone/>
            </a:pPr>
            <a:r>
              <a:rPr lang="en-US" sz="1700" b="1" dirty="0">
                <a:solidFill>
                  <a:srgbClr val="F4F1F8"/>
                </a:solidFill>
                <a:latin typeface="Quicksand" pitchFamily="34" charset="0"/>
                <a:ea typeface="Quicksand" pitchFamily="34" charset="-122"/>
                <a:cs typeface="Quicksand" pitchFamily="34" charset="-120"/>
              </a:rPr>
              <a:t>Les options</a:t>
            </a:r>
            <a:endParaRPr lang="en-US" sz="1700" dirty="0"/>
          </a:p>
        </p:txBody>
      </p:sp>
      <p:sp>
        <p:nvSpPr>
          <p:cNvPr id="10" name="Shape 7"/>
          <p:cNvSpPr/>
          <p:nvPr/>
        </p:nvSpPr>
        <p:spPr>
          <a:xfrm>
            <a:off x="6437376" y="2926080"/>
            <a:ext cx="26060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1" name="Text 8"/>
          <p:cNvSpPr/>
          <p:nvPr/>
        </p:nvSpPr>
        <p:spPr>
          <a:xfrm>
            <a:off x="6665976" y="310896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3</a:t>
            </a:r>
            <a:endParaRPr lang="en-US" sz="2200" dirty="0"/>
          </a:p>
        </p:txBody>
      </p:sp>
      <p:sp>
        <p:nvSpPr>
          <p:cNvPr id="12" name="Text 9"/>
          <p:cNvSpPr/>
          <p:nvPr/>
        </p:nvSpPr>
        <p:spPr>
          <a:xfrm>
            <a:off x="6665976" y="3611880"/>
            <a:ext cx="2148840" cy="731520"/>
          </a:xfrm>
          <a:prstGeom prst="rect">
            <a:avLst/>
          </a:prstGeom>
          <a:noFill/>
          <a:ln/>
        </p:spPr>
        <p:txBody>
          <a:bodyPr wrap="square" lIns="0" tIns="0" rIns="0" bIns="0" rtlCol="0" anchor="ctr"/>
          <a:lstStyle/>
          <a:p>
            <a:pPr marL="0" indent="0">
              <a:buNone/>
            </a:pPr>
            <a:r>
              <a:rPr lang="en-US" sz="1700" b="1" dirty="0">
                <a:solidFill>
                  <a:srgbClr val="F4F1F8"/>
                </a:solidFill>
                <a:latin typeface="Quicksand" pitchFamily="34" charset="0"/>
                <a:ea typeface="Quicksand" pitchFamily="34" charset="-122"/>
                <a:cs typeface="Quicksand" pitchFamily="34" charset="-120"/>
              </a:rPr>
              <a:t>La décision</a:t>
            </a:r>
            <a:endParaRPr lang="en-US" sz="1700" dirty="0"/>
          </a:p>
        </p:txBody>
      </p:sp>
      <p:sp>
        <p:nvSpPr>
          <p:cNvPr id="13" name="Shape 10"/>
          <p:cNvSpPr/>
          <p:nvPr/>
        </p:nvSpPr>
        <p:spPr>
          <a:xfrm>
            <a:off x="9244584" y="2926080"/>
            <a:ext cx="2606040" cy="1554480"/>
          </a:xfrm>
          <a:prstGeom prst="roundRect">
            <a:avLst>
              <a:gd name="adj" fmla="val 5882"/>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14" name="Text 11"/>
          <p:cNvSpPr/>
          <p:nvPr/>
        </p:nvSpPr>
        <p:spPr>
          <a:xfrm>
            <a:off x="9473184" y="310896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4</a:t>
            </a:r>
            <a:endParaRPr lang="en-US" sz="2200" dirty="0"/>
          </a:p>
        </p:txBody>
      </p:sp>
      <p:sp>
        <p:nvSpPr>
          <p:cNvPr id="15" name="Text 12"/>
          <p:cNvSpPr/>
          <p:nvPr/>
        </p:nvSpPr>
        <p:spPr>
          <a:xfrm>
            <a:off x="9473184" y="3611880"/>
            <a:ext cx="2148840" cy="731520"/>
          </a:xfrm>
          <a:prstGeom prst="rect">
            <a:avLst/>
          </a:prstGeom>
          <a:noFill/>
          <a:ln/>
        </p:spPr>
        <p:txBody>
          <a:bodyPr wrap="square" lIns="0" tIns="0" rIns="0" bIns="0" rtlCol="0" anchor="ctr"/>
          <a:lstStyle/>
          <a:p>
            <a:pPr marL="0" indent="0">
              <a:buNone/>
            </a:pPr>
            <a:r>
              <a:rPr lang="en-US" sz="1700" b="1" dirty="0">
                <a:solidFill>
                  <a:srgbClr val="F4F1F8"/>
                </a:solidFill>
                <a:latin typeface="Quicksand" pitchFamily="34" charset="0"/>
                <a:ea typeface="Quicksand" pitchFamily="34" charset="-122"/>
                <a:cs typeface="Quicksand" pitchFamily="34" charset="-120"/>
              </a:rPr>
              <a:t>La justification</a:t>
            </a:r>
            <a:endParaRPr lang="en-US" sz="1700" dirty="0"/>
          </a:p>
        </p:txBody>
      </p:sp>
      <p:sp>
        <p:nvSpPr>
          <p:cNvPr id="16" name="Text 13"/>
          <p:cNvSpPr/>
          <p:nvPr/>
        </p:nvSpPr>
        <p:spPr>
          <a:xfrm>
            <a:off x="822960" y="4937760"/>
            <a:ext cx="10515600" cy="548640"/>
          </a:xfrm>
          <a:prstGeom prst="rect">
            <a:avLst/>
          </a:prstGeom>
          <a:noFill/>
          <a:ln/>
        </p:spPr>
        <p:txBody>
          <a:bodyPr wrap="square" lIns="0" tIns="0" rIns="0" bIns="0" rtlCol="0" anchor="ctr"/>
          <a:lstStyle/>
          <a:p>
            <a:pPr marL="0" indent="0">
              <a:buNone/>
            </a:pPr>
            <a:r>
              <a:rPr lang="en-US" sz="1600" i="1" dirty="0">
                <a:solidFill>
                  <a:srgbClr val="B9B1C9"/>
                </a:solidFill>
                <a:latin typeface="Nunito" pitchFamily="34" charset="0"/>
                <a:ea typeface="Nunito" pitchFamily="34" charset="-122"/>
                <a:cs typeface="Nunito" pitchFamily="34" charset="-120"/>
              </a:rPr>
              <a:t>Je ne vous montre pas ce que j'ai construit, mais pourquoi je l'ai construit ainsi.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LE PROBLÈME</a:t>
            </a:r>
            <a:endParaRPr lang="en-US" sz="1300" dirty="0"/>
          </a:p>
        </p:txBody>
      </p:sp>
      <p:pic>
        <p:nvPicPr>
          <p:cNvPr id="3" name="Image 0" descr="C:\Users\kirit\AppData\Local\Temp\claude\C--Users-kirit-OneDrive-Bureau-DreamWeave\1dfcbb64-69b7-40e1-93a9-2561d034242f\scratchpad\deck-memoire\imgb\t3.png"/>
          <p:cNvPicPr>
            <a:picLocks noChangeAspect="1"/>
          </p:cNvPicPr>
          <p:nvPr/>
        </p:nvPicPr>
        <p:blipFill>
          <a:blip r:embed="rId3"/>
          <a:stretch>
            <a:fillRect/>
          </a:stretch>
        </p:blipFill>
        <p:spPr>
          <a:xfrm>
            <a:off x="822960" y="1097280"/>
            <a:ext cx="8326907" cy="508954"/>
          </a:xfrm>
          <a:prstGeom prst="rect">
            <a:avLst/>
          </a:prstGeom>
        </p:spPr>
      </p:pic>
      <p:pic>
        <p:nvPicPr>
          <p:cNvPr id="4" name="Image 1" descr="C:\Users\kirit\AppData\Local\Temp\claude\C--Users-kirit-OneDrive-Bureau-DreamWeave\1dfcbb64-69b7-40e1-93a9-2561d034242f\scratchpad\deck-memoire\imgb\h_md.png"/>
          <p:cNvPicPr>
            <a:picLocks noChangeAspect="1"/>
          </p:cNvPicPr>
          <p:nvPr/>
        </p:nvPicPr>
        <p:blipFill>
          <a:blip r:embed="rId4"/>
          <a:stretch>
            <a:fillRect/>
          </a:stretch>
        </p:blipFill>
        <p:spPr>
          <a:xfrm>
            <a:off x="868680" y="3429000"/>
            <a:ext cx="4297680" cy="953916"/>
          </a:xfrm>
          <a:prstGeom prst="rect">
            <a:avLst/>
          </a:prstGeom>
        </p:spPr>
      </p:pic>
      <p:sp>
        <p:nvSpPr>
          <p:cNvPr id="5" name="Text 1"/>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le marché du webtoon en 2030 (contre 8,28 Md$ en 2023)</a:t>
            </a:r>
            <a:endParaRPr lang="en-US" sz="1650" dirty="0"/>
          </a:p>
        </p:txBody>
      </p:sp>
      <p:sp>
        <p:nvSpPr>
          <p:cNvPr id="6" name="Text 2"/>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Croissance </a:t>
            </a:r>
            <a:r>
              <a:rPr lang="en-US" sz="1700" b="1" dirty="0">
                <a:solidFill>
                  <a:srgbClr val="F0A868"/>
                </a:solidFill>
                <a:latin typeface="Nunito" pitchFamily="34" charset="0"/>
                <a:ea typeface="Nunito" pitchFamily="34" charset="-122"/>
                <a:cs typeface="Nunito" pitchFamily="34" charset="-120"/>
              </a:rPr>
              <a:t>+27 %/an</a:t>
            </a:r>
            <a:r>
              <a:rPr lang="en-US" sz="1700" dirty="0">
                <a:solidFill>
                  <a:srgbClr val="E7E2F0"/>
                </a:solidFill>
                <a:latin typeface="Nunito" pitchFamily="34" charset="0"/>
                <a:ea typeface="Nunito" pitchFamily="34" charset="-122"/>
                <a:cs typeface="Nunito" pitchFamily="34" charset="-120"/>
              </a:rPr>
              <a:t>, une demande qui explose</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Un chapitre illustré coûte </a:t>
            </a:r>
            <a:r>
              <a:rPr lang="en-US" sz="1700" b="1" dirty="0">
                <a:solidFill>
                  <a:srgbClr val="E389B5"/>
                </a:solidFill>
                <a:latin typeface="Nunito" pitchFamily="34" charset="0"/>
                <a:ea typeface="Nunito" pitchFamily="34" charset="-122"/>
                <a:cs typeface="Nunito" pitchFamily="34" charset="-120"/>
              </a:rPr>
              <a:t>300 à 1 500 €</a:t>
            </a:r>
            <a:r>
              <a:rPr lang="en-US" sz="1700" dirty="0">
                <a:solidFill>
                  <a:srgbClr val="E7E2F0"/>
                </a:solidFill>
                <a:latin typeface="Nunito" pitchFamily="34" charset="0"/>
                <a:ea typeface="Nunito" pitchFamily="34" charset="-122"/>
                <a:cs typeface="Nunito" pitchFamily="34" charset="-120"/>
              </a:rPr>
              <a:t> et prend </a:t>
            </a:r>
            <a:r>
              <a:rPr lang="en-US" sz="1700" b="1" dirty="0">
                <a:solidFill>
                  <a:srgbClr val="E389B5"/>
                </a:solidFill>
                <a:latin typeface="Nunito" pitchFamily="34" charset="0"/>
                <a:ea typeface="Nunito" pitchFamily="34" charset="-122"/>
                <a:cs typeface="Nunito" pitchFamily="34" charset="-120"/>
              </a:rPr>
              <a:t>1 à 4 semaines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+200 %</a:t>
            </a:r>
            <a:r>
              <a:rPr lang="en-US" sz="1700" dirty="0">
                <a:solidFill>
                  <a:srgbClr val="E7E2F0"/>
                </a:solidFill>
                <a:latin typeface="Nunito" pitchFamily="34" charset="0"/>
                <a:ea typeface="Nunito" pitchFamily="34" charset="-122"/>
                <a:cs typeface="Nunito" pitchFamily="34" charset="-120"/>
              </a:rPr>
              <a:t> de recherches « AI webtoon maker » en deux ans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Sans dessin ni budget, beaucoup de créateurs </a:t>
            </a:r>
            <a:r>
              <a:rPr lang="en-US" sz="1700" b="1" dirty="0">
                <a:solidFill>
                  <a:srgbClr val="E389B5"/>
                </a:solidFill>
                <a:latin typeface="Nunito" pitchFamily="34" charset="0"/>
                <a:ea typeface="Nunito" pitchFamily="34" charset="-122"/>
                <a:cs typeface="Nunito" pitchFamily="34" charset="-120"/>
              </a:rPr>
              <a:t>abandonnent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MISE À NIVEAU</a:t>
            </a:r>
            <a:endParaRPr lang="en-US" sz="1300" dirty="0"/>
          </a:p>
        </p:txBody>
      </p:sp>
      <p:pic>
        <p:nvPicPr>
          <p:cNvPr id="3" name="Image 0" descr="C:\Users\kirit\AppData\Local\Temp\claude\C--Users-kirit-OneDrive-Bureau-DreamWeave\1dfcbb64-69b7-40e1-93a9-2561d034242f\scratchpad\deck-memoire\imgb\t4.png"/>
          <p:cNvPicPr>
            <a:picLocks noChangeAspect="1"/>
          </p:cNvPicPr>
          <p:nvPr/>
        </p:nvPicPr>
        <p:blipFill>
          <a:blip r:embed="rId3"/>
          <a:stretch>
            <a:fillRect/>
          </a:stretch>
        </p:blipFill>
        <p:spPr>
          <a:xfrm>
            <a:off x="822960" y="1097280"/>
            <a:ext cx="8347895" cy="472225"/>
          </a:xfrm>
          <a:prstGeom prst="rect">
            <a:avLst/>
          </a:prstGeom>
        </p:spPr>
      </p:pic>
      <p:sp>
        <p:nvSpPr>
          <p:cNvPr id="4" name="Text 1"/>
          <p:cNvSpPr/>
          <p:nvPr/>
        </p:nvSpPr>
        <p:spPr>
          <a:xfrm>
            <a:off x="822960" y="2468880"/>
            <a:ext cx="6035040" cy="3657600"/>
          </a:xfrm>
          <a:prstGeom prst="rect">
            <a:avLst/>
          </a:prstGeom>
          <a:noFill/>
          <a:ln/>
        </p:spPr>
        <p:txBody>
          <a:bodyPr wrap="square" lIns="0" tIns="0" rIns="0" bIns="0" rtlCol="0" anchor="t"/>
          <a:lstStyle/>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Une bande dessinée verticale née en Corée, pensée mobile</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Une seule colonne continue, jusqu'à 100 000 px de haut</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C'est exactement le format que </a:t>
            </a:r>
            <a:r>
              <a:rPr lang="en-US" sz="1600" b="1" dirty="0">
                <a:solidFill>
                  <a:srgbClr val="C7A4FF"/>
                </a:solidFill>
                <a:latin typeface="Nunito" pitchFamily="34" charset="0"/>
                <a:ea typeface="Nunito" pitchFamily="34" charset="-122"/>
                <a:cs typeface="Nunito" pitchFamily="34" charset="-120"/>
              </a:rPr>
              <a:t>DreamWeave</a:t>
            </a:r>
            <a:r>
              <a:rPr lang="en-US" sz="1600" dirty="0">
                <a:solidFill>
                  <a:srgbClr val="E7E2F0"/>
                </a:solidFill>
                <a:latin typeface="Nunito" pitchFamily="34" charset="0"/>
                <a:ea typeface="Nunito" pitchFamily="34" charset="-122"/>
                <a:cs typeface="Nunito" pitchFamily="34" charset="-120"/>
              </a:rPr>
              <a:t> produit</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Sa contrainte n°1 : la cohérence sur toute la longueur</a:t>
            </a:r>
            <a:endParaRPr lang="en-US" sz="1600" dirty="0"/>
          </a:p>
        </p:txBody>
      </p:sp>
      <p:sp>
        <p:nvSpPr>
          <p:cNvPr id="5" name="Shape 2"/>
          <p:cNvSpPr/>
          <p:nvPr/>
        </p:nvSpPr>
        <p:spPr>
          <a:xfrm>
            <a:off x="7406640" y="2011680"/>
            <a:ext cx="3931920" cy="3840480"/>
          </a:xfrm>
          <a:prstGeom prst="roundRect">
            <a:avLst>
              <a:gd name="adj" fmla="val 2381"/>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6" name="Text 3"/>
          <p:cNvSpPr/>
          <p:nvPr/>
        </p:nvSpPr>
        <p:spPr>
          <a:xfrm>
            <a:off x="7406640" y="3383280"/>
            <a:ext cx="3931920" cy="640080"/>
          </a:xfrm>
          <a:prstGeom prst="rect">
            <a:avLst/>
          </a:prstGeom>
          <a:noFill/>
          <a:ln/>
        </p:spPr>
        <p:txBody>
          <a:bodyPr wrap="square" lIns="0" tIns="0" rIns="0" bIns="0" rtlCol="0" anchor="ctr"/>
          <a:lstStyle/>
          <a:p>
            <a:pPr marL="0" indent="0" algn="ctr">
              <a:buNone/>
            </a:pPr>
            <a:r>
              <a:rPr lang="en-US" sz="3400" dirty="0">
                <a:solidFill>
                  <a:srgbClr val="B18CF0"/>
                </a:solidFill>
                <a:latin typeface="Quicksand" pitchFamily="34" charset="0"/>
                <a:ea typeface="Quicksand" pitchFamily="34" charset="-122"/>
                <a:cs typeface="Quicksand" pitchFamily="34" charset="-120"/>
              </a:rPr>
              <a:t>▶</a:t>
            </a:r>
            <a:endParaRPr lang="en-US" sz="3400" dirty="0"/>
          </a:p>
        </p:txBody>
      </p:sp>
      <p:sp>
        <p:nvSpPr>
          <p:cNvPr id="7" name="Text 4"/>
          <p:cNvSpPr/>
          <p:nvPr/>
        </p:nvSpPr>
        <p:spPr>
          <a:xfrm>
            <a:off x="7589520" y="4114800"/>
            <a:ext cx="3566160" cy="731520"/>
          </a:xfrm>
          <a:prstGeom prst="rect">
            <a:avLst/>
          </a:prstGeom>
          <a:noFill/>
          <a:ln/>
        </p:spPr>
        <p:txBody>
          <a:bodyPr wrap="square" lIns="0" tIns="0" rIns="0" bIns="0" rtlCol="0" anchor="ctr"/>
          <a:lstStyle/>
          <a:p>
            <a:pPr marL="0" indent="0" algn="ctr">
              <a:lnSpc>
                <a:spcPts val="1800"/>
              </a:lnSpc>
              <a:buNone/>
            </a:pPr>
            <a:r>
              <a:rPr lang="en-US" sz="1300" i="1" dirty="0">
                <a:solidFill>
                  <a:srgbClr val="B9B1C9"/>
                </a:solidFill>
                <a:latin typeface="Nunito" pitchFamily="34" charset="0"/>
                <a:ea typeface="Nunito" pitchFamily="34" charset="-122"/>
                <a:cs typeface="Nunito" pitchFamily="34" charset="-120"/>
              </a:rPr>
              <a:t>GIF de lecture (scroll vertical)</a:t>
            </a:r>
            <a:endParaRPr lang="en-US" sz="1300" dirty="0"/>
          </a:p>
          <a:p>
            <a:pPr marL="0" indent="0" algn="ctr">
              <a:lnSpc>
                <a:spcPts val="1800"/>
              </a:lnSpc>
              <a:buNone/>
            </a:pPr>
            <a:r>
              <a:rPr lang="en-US" sz="1300" i="1" dirty="0">
                <a:solidFill>
                  <a:srgbClr val="B9B1C9"/>
                </a:solidFill>
                <a:latin typeface="Nunito" pitchFamily="34" charset="0"/>
                <a:ea typeface="Nunito" pitchFamily="34" charset="-122"/>
                <a:cs typeface="Nunito" pitchFamily="34" charset="-120"/>
              </a:rPr>
              <a:t>à insérer ici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LE CONTEXTE</a:t>
            </a:r>
            <a:endParaRPr lang="en-US" sz="1300" dirty="0"/>
          </a:p>
        </p:txBody>
      </p:sp>
      <p:pic>
        <p:nvPicPr>
          <p:cNvPr id="3" name="Image 0" descr="C:\Users\kirit\AppData\Local\Temp\claude\C--Users-kirit-OneDrive-Bureau-DreamWeave\1dfcbb64-69b7-40e1-93a9-2561d034242f\scratchpad\deck-memoire\imgb\t5.png"/>
          <p:cNvPicPr>
            <a:picLocks noChangeAspect="1"/>
          </p:cNvPicPr>
          <p:nvPr/>
        </p:nvPicPr>
        <p:blipFill>
          <a:blip r:embed="rId3"/>
          <a:stretch>
            <a:fillRect/>
          </a:stretch>
        </p:blipFill>
        <p:spPr>
          <a:xfrm>
            <a:off x="822960" y="1097280"/>
            <a:ext cx="5923805" cy="508954"/>
          </a:xfrm>
          <a:prstGeom prst="rect">
            <a:avLst/>
          </a:prstGeom>
        </p:spPr>
      </p:pic>
      <p:pic>
        <p:nvPicPr>
          <p:cNvPr id="4" name="Image 1" descr="C:\Users\kirit\AppData\Local\Temp\claude\C--Users-kirit-OneDrive-Bureau-DreamWeave\1dfcbb64-69b7-40e1-93a9-2561d034242f\scratchpad\deck-memoire\imgb\h_170.png"/>
          <p:cNvPicPr>
            <a:picLocks noChangeAspect="1"/>
          </p:cNvPicPr>
          <p:nvPr/>
        </p:nvPicPr>
        <p:blipFill>
          <a:blip r:embed="rId4"/>
          <a:stretch>
            <a:fillRect/>
          </a:stretch>
        </p:blipFill>
        <p:spPr>
          <a:xfrm>
            <a:off x="868680" y="3429000"/>
            <a:ext cx="3734012" cy="1051560"/>
          </a:xfrm>
          <a:prstGeom prst="rect">
            <a:avLst/>
          </a:prstGeom>
        </p:spPr>
      </p:pic>
      <p:sp>
        <p:nvSpPr>
          <p:cNvPr id="5" name="Text 1"/>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lecteurs actifs par mois sur la plateforme leader (source S-1)</a:t>
            </a:r>
            <a:endParaRPr lang="en-US" sz="1650" dirty="0"/>
          </a:p>
        </p:txBody>
      </p:sp>
      <p:sp>
        <p:nvSpPr>
          <p:cNvPr id="6" name="Text 2"/>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24 M créateurs</a:t>
            </a:r>
            <a:r>
              <a:rPr lang="en-US" sz="1700" dirty="0">
                <a:solidFill>
                  <a:srgbClr val="E7E2F0"/>
                </a:solidFill>
                <a:latin typeface="Nunito" pitchFamily="34" charset="0"/>
                <a:ea typeface="Nunito" pitchFamily="34" charset="-122"/>
                <a:cs typeface="Nunito" pitchFamily="34" charset="-120"/>
              </a:rPr>
              <a:t>, dans plus de </a:t>
            </a:r>
            <a:r>
              <a:rPr lang="en-US" sz="1700" b="1" dirty="0">
                <a:solidFill>
                  <a:srgbClr val="F0A868"/>
                </a:solidFill>
                <a:latin typeface="Nunito" pitchFamily="34" charset="0"/>
                <a:ea typeface="Nunito" pitchFamily="34" charset="-122"/>
                <a:cs typeface="Nunito" pitchFamily="34" charset="-120"/>
              </a:rPr>
              <a:t>150 pays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La romance domine, près de </a:t>
            </a:r>
            <a:r>
              <a:rPr lang="en-US" sz="1700" b="1" dirty="0">
                <a:solidFill>
                  <a:srgbClr val="F0A868"/>
                </a:solidFill>
                <a:latin typeface="Nunito" pitchFamily="34" charset="0"/>
                <a:ea typeface="Nunito" pitchFamily="34" charset="-122"/>
                <a:cs typeface="Nunito" pitchFamily="34" charset="-120"/>
              </a:rPr>
              <a:t>39 %</a:t>
            </a:r>
            <a:r>
              <a:rPr lang="en-US" sz="1700" dirty="0">
                <a:solidFill>
                  <a:srgbClr val="E7E2F0"/>
                </a:solidFill>
                <a:latin typeface="Nunito" pitchFamily="34" charset="0"/>
                <a:ea typeface="Nunito" pitchFamily="34" charset="-122"/>
                <a:cs typeface="Nunito" pitchFamily="34" charset="-120"/>
              </a:rPr>
              <a:t> des revenus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76 %</a:t>
            </a:r>
            <a:r>
              <a:rPr lang="en-US" sz="1700" dirty="0">
                <a:solidFill>
                  <a:srgbClr val="E7E2F0"/>
                </a:solidFill>
                <a:latin typeface="Nunito" pitchFamily="34" charset="0"/>
                <a:ea typeface="Nunito" pitchFamily="34" charset="-122"/>
                <a:cs typeface="Nunito" pitchFamily="34" charset="-120"/>
              </a:rPr>
              <a:t> des lecteurs ont 18 à 33 ans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86 %</a:t>
            </a:r>
            <a:r>
              <a:rPr lang="en-US" sz="1700" dirty="0">
                <a:solidFill>
                  <a:srgbClr val="E7E2F0"/>
                </a:solidFill>
                <a:latin typeface="Nunito" pitchFamily="34" charset="0"/>
                <a:ea typeface="Nunito" pitchFamily="34" charset="-122"/>
                <a:cs typeface="Nunito" pitchFamily="34" charset="-120"/>
              </a:rPr>
              <a:t> des créateurs utilisent déjà l'IA générative</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TAILLE DU MARCHÉ</a:t>
            </a:r>
            <a:endParaRPr lang="en-US" sz="1300" dirty="0"/>
          </a:p>
        </p:txBody>
      </p:sp>
      <p:pic>
        <p:nvPicPr>
          <p:cNvPr id="3" name="Image 0" descr="C:\Users\kirit\AppData\Local\Temp\claude\C--Users-kirit-OneDrive-Bureau-DreamWeave\1dfcbb64-69b7-40e1-93a9-2561d034242f\scratchpad\deck-memoire\imgb\t6.png"/>
          <p:cNvPicPr>
            <a:picLocks noChangeAspect="1"/>
          </p:cNvPicPr>
          <p:nvPr/>
        </p:nvPicPr>
        <p:blipFill>
          <a:blip r:embed="rId3"/>
          <a:stretch>
            <a:fillRect/>
          </a:stretch>
        </p:blipFill>
        <p:spPr>
          <a:xfrm>
            <a:off x="822960" y="1097280"/>
            <a:ext cx="4055891" cy="377780"/>
          </a:xfrm>
          <a:prstGeom prst="rect">
            <a:avLst/>
          </a:prstGeom>
        </p:spPr>
      </p:pic>
      <p:sp>
        <p:nvSpPr>
          <p:cNvPr id="4" name="Shape 1"/>
          <p:cNvSpPr/>
          <p:nvPr/>
        </p:nvSpPr>
        <p:spPr>
          <a:xfrm>
            <a:off x="1554480" y="2194560"/>
            <a:ext cx="4023360" cy="4023360"/>
          </a:xfrm>
          <a:prstGeom prst="ellipse">
            <a:avLst/>
          </a:prstGeom>
          <a:solidFill>
            <a:srgbClr val="0D0A12"/>
          </a:solidFill>
          <a:ln w="25400">
            <a:solidFill>
              <a:srgbClr val="B9B1C9"/>
            </a:solidFill>
            <a:prstDash val="solid"/>
          </a:ln>
        </p:spPr>
      </p:sp>
      <p:sp>
        <p:nvSpPr>
          <p:cNvPr id="5" name="Shape 2"/>
          <p:cNvSpPr/>
          <p:nvPr/>
        </p:nvSpPr>
        <p:spPr>
          <a:xfrm>
            <a:off x="2148840" y="3383280"/>
            <a:ext cx="2834640" cy="2834640"/>
          </a:xfrm>
          <a:prstGeom prst="ellipse">
            <a:avLst/>
          </a:prstGeom>
          <a:solidFill>
            <a:srgbClr val="0D0A12"/>
          </a:solidFill>
          <a:ln w="25400">
            <a:solidFill>
              <a:srgbClr val="B18CF0"/>
            </a:solidFill>
            <a:prstDash val="solid"/>
          </a:ln>
        </p:spPr>
      </p:sp>
      <p:sp>
        <p:nvSpPr>
          <p:cNvPr id="6" name="Shape 3"/>
          <p:cNvSpPr/>
          <p:nvPr/>
        </p:nvSpPr>
        <p:spPr>
          <a:xfrm>
            <a:off x="2743200" y="4572000"/>
            <a:ext cx="1645920" cy="1645920"/>
          </a:xfrm>
          <a:prstGeom prst="ellipse">
            <a:avLst/>
          </a:prstGeom>
          <a:solidFill>
            <a:srgbClr val="0D0A12"/>
          </a:solidFill>
          <a:ln w="25400">
            <a:solidFill>
              <a:srgbClr val="6FD6BD"/>
            </a:solidFill>
            <a:prstDash val="solid"/>
          </a:ln>
        </p:spPr>
      </p:sp>
      <p:sp>
        <p:nvSpPr>
          <p:cNvPr id="7" name="Text 4"/>
          <p:cNvSpPr/>
          <p:nvPr/>
        </p:nvSpPr>
        <p:spPr>
          <a:xfrm>
            <a:off x="1828800" y="2331720"/>
            <a:ext cx="1828800" cy="365760"/>
          </a:xfrm>
          <a:prstGeom prst="rect">
            <a:avLst/>
          </a:prstGeom>
          <a:noFill/>
          <a:ln/>
        </p:spPr>
        <p:txBody>
          <a:bodyPr wrap="square" lIns="0" tIns="0" rIns="0" bIns="0" rtlCol="0" anchor="ctr"/>
          <a:lstStyle/>
          <a:p>
            <a:pPr marL="0" indent="0">
              <a:buNone/>
            </a:pPr>
            <a:r>
              <a:rPr lang="en-US" sz="1500" b="1" dirty="0">
                <a:solidFill>
                  <a:srgbClr val="B9B1C9"/>
                </a:solidFill>
                <a:latin typeface="Quicksand" pitchFamily="34" charset="0"/>
                <a:ea typeface="Quicksand" pitchFamily="34" charset="-122"/>
                <a:cs typeface="Quicksand" pitchFamily="34" charset="-120"/>
              </a:rPr>
              <a:t>TAM</a:t>
            </a:r>
            <a:endParaRPr lang="en-US" sz="1500" dirty="0"/>
          </a:p>
        </p:txBody>
      </p:sp>
      <p:sp>
        <p:nvSpPr>
          <p:cNvPr id="8" name="Text 5"/>
          <p:cNvSpPr/>
          <p:nvPr/>
        </p:nvSpPr>
        <p:spPr>
          <a:xfrm>
            <a:off x="2331720" y="3429000"/>
            <a:ext cx="1828800" cy="365760"/>
          </a:xfrm>
          <a:prstGeom prst="rect">
            <a:avLst/>
          </a:prstGeom>
          <a:noFill/>
          <a:ln/>
        </p:spPr>
        <p:txBody>
          <a:bodyPr wrap="square" lIns="0" tIns="0" rIns="0" bIns="0" rtlCol="0" anchor="ctr"/>
          <a:lstStyle/>
          <a:p>
            <a:pPr marL="0" indent="0">
              <a:buNone/>
            </a:pPr>
            <a:r>
              <a:rPr lang="en-US" sz="1500" b="1" dirty="0">
                <a:solidFill>
                  <a:srgbClr val="B18CF0"/>
                </a:solidFill>
                <a:latin typeface="Quicksand" pitchFamily="34" charset="0"/>
                <a:ea typeface="Quicksand" pitchFamily="34" charset="-122"/>
                <a:cs typeface="Quicksand" pitchFamily="34" charset="-120"/>
              </a:rPr>
              <a:t>SAM</a:t>
            </a:r>
            <a:endParaRPr lang="en-US" sz="1500" dirty="0"/>
          </a:p>
        </p:txBody>
      </p:sp>
      <p:sp>
        <p:nvSpPr>
          <p:cNvPr id="9" name="Text 6"/>
          <p:cNvSpPr/>
          <p:nvPr/>
        </p:nvSpPr>
        <p:spPr>
          <a:xfrm>
            <a:off x="2834640" y="4892040"/>
            <a:ext cx="1828800" cy="365760"/>
          </a:xfrm>
          <a:prstGeom prst="rect">
            <a:avLst/>
          </a:prstGeom>
          <a:noFill/>
          <a:ln/>
        </p:spPr>
        <p:txBody>
          <a:bodyPr wrap="square" lIns="0" tIns="0" rIns="0" bIns="0" rtlCol="0" anchor="ctr"/>
          <a:lstStyle/>
          <a:p>
            <a:pPr marL="0" indent="0">
              <a:buNone/>
            </a:pPr>
            <a:r>
              <a:rPr lang="en-US" sz="1500" b="1" dirty="0">
                <a:solidFill>
                  <a:srgbClr val="6FD6BD"/>
                </a:solidFill>
                <a:latin typeface="Quicksand" pitchFamily="34" charset="0"/>
                <a:ea typeface="Quicksand" pitchFamily="34" charset="-122"/>
                <a:cs typeface="Quicksand" pitchFamily="34" charset="-120"/>
              </a:rPr>
              <a:t>SOM</a:t>
            </a:r>
            <a:endParaRPr lang="en-US" sz="1500" dirty="0"/>
          </a:p>
        </p:txBody>
      </p:sp>
      <p:sp>
        <p:nvSpPr>
          <p:cNvPr id="10" name="Text 7"/>
          <p:cNvSpPr/>
          <p:nvPr/>
        </p:nvSpPr>
        <p:spPr>
          <a:xfrm>
            <a:off x="6766560" y="2468880"/>
            <a:ext cx="4754880" cy="3657600"/>
          </a:xfrm>
          <a:prstGeom prst="rect">
            <a:avLst/>
          </a:prstGeom>
          <a:noFill/>
          <a:ln/>
        </p:spPr>
        <p:txBody>
          <a:bodyPr wrap="square" lIns="0" tIns="0" rIns="0" bIns="0" rtlCol="0" anchor="t"/>
          <a:lstStyle/>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C7A4FF"/>
                </a:solidFill>
                <a:latin typeface="Nunito" pitchFamily="34" charset="0"/>
                <a:ea typeface="Nunito" pitchFamily="34" charset="-122"/>
                <a:cs typeface="Nunito" pitchFamily="34" charset="-120"/>
              </a:rPr>
              <a:t>TAM : </a:t>
            </a:r>
            <a:r>
              <a:rPr lang="en-US" sz="1600" dirty="0">
                <a:solidFill>
                  <a:srgbClr val="E7E2F0"/>
                </a:solidFill>
                <a:latin typeface="Nunito" pitchFamily="34" charset="0"/>
                <a:ea typeface="Nunito" pitchFamily="34" charset="-122"/>
                <a:cs typeface="Nunito" pitchFamily="34" charset="-120"/>
              </a:rPr>
              <a:t>tous les auteurs de webfiction, ~160 M</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C7A4FF"/>
                </a:solidFill>
                <a:latin typeface="Nunito" pitchFamily="34" charset="0"/>
                <a:ea typeface="Nunito" pitchFamily="34" charset="-122"/>
                <a:cs typeface="Nunito" pitchFamily="34" charset="-120"/>
              </a:rPr>
              <a:t>SAM : </a:t>
            </a:r>
            <a:r>
              <a:rPr lang="en-US" sz="1600" dirty="0">
                <a:solidFill>
                  <a:srgbClr val="E7E2F0"/>
                </a:solidFill>
                <a:latin typeface="Nunito" pitchFamily="34" charset="0"/>
                <a:ea typeface="Nunito" pitchFamily="34" charset="-122"/>
                <a:cs typeface="Nunito" pitchFamily="34" charset="-120"/>
              </a:rPr>
              <a:t>5 à 10 M prêts à payer 10-30 €/mois</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C7A4FF"/>
                </a:solidFill>
                <a:latin typeface="Nunito" pitchFamily="34" charset="0"/>
                <a:ea typeface="Nunito" pitchFamily="34" charset="-122"/>
                <a:cs typeface="Nunito" pitchFamily="34" charset="-120"/>
              </a:rPr>
              <a:t>SOM à 1 an : </a:t>
            </a:r>
            <a:r>
              <a:rPr lang="en-US" sz="1600" b="1" dirty="0">
                <a:solidFill>
                  <a:srgbClr val="E7E2F0"/>
                </a:solidFill>
                <a:latin typeface="Nunito" pitchFamily="34" charset="0"/>
                <a:ea typeface="Nunito" pitchFamily="34" charset="-122"/>
                <a:cs typeface="Nunito" pitchFamily="34" charset="-120"/>
              </a:rPr>
              <a:t>10 000 inscrits, 600 payants</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F0A868"/>
                </a:solidFill>
                <a:latin typeface="Nunito" pitchFamily="34" charset="0"/>
                <a:ea typeface="Nunito" pitchFamily="34" charset="-122"/>
                <a:cs typeface="Nunito" pitchFamily="34" charset="-120"/>
              </a:rPr>
              <a:t>CAC &lt; 30 €</a:t>
            </a:r>
            <a:r>
              <a:rPr lang="en-US" sz="1600" dirty="0">
                <a:solidFill>
                  <a:srgbClr val="E7E2F0"/>
                </a:solidFill>
                <a:latin typeface="Nunito" pitchFamily="34" charset="0"/>
                <a:ea typeface="Nunito" pitchFamily="34" charset="-122"/>
                <a:cs typeface="Nunito" pitchFamily="34" charset="-120"/>
              </a:rPr>
              <a:t>, ratio LTV/CAC &gt; 3, objectifs prudents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CIBLES</a:t>
            </a:r>
            <a:endParaRPr lang="en-US" sz="1300" dirty="0"/>
          </a:p>
        </p:txBody>
      </p:sp>
      <p:pic>
        <p:nvPicPr>
          <p:cNvPr id="3" name="Image 0" descr="C:\Users\kirit\AppData\Local\Temp\claude\C--Users-kirit-OneDrive-Bureau-DreamWeave\1dfcbb64-69b7-40e1-93a9-2561d034242f\scratchpad\deck-memoire\imgb\t7.png"/>
          <p:cNvPicPr>
            <a:picLocks noChangeAspect="1"/>
          </p:cNvPicPr>
          <p:nvPr/>
        </p:nvPicPr>
        <p:blipFill>
          <a:blip r:embed="rId3"/>
          <a:stretch>
            <a:fillRect/>
          </a:stretch>
        </p:blipFill>
        <p:spPr>
          <a:xfrm>
            <a:off x="822960" y="1097280"/>
            <a:ext cx="8321660" cy="498460"/>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D2</a:t>
            </a:r>
            <a:endParaRPr lang="en-US" sz="1100" dirty="0"/>
          </a:p>
        </p:txBody>
      </p:sp>
      <p:sp>
        <p:nvSpPr>
          <p:cNvPr id="6" name="Shape 3"/>
          <p:cNvSpPr/>
          <p:nvPr/>
        </p:nvSpPr>
        <p:spPr>
          <a:xfrm>
            <a:off x="822960" y="2468880"/>
            <a:ext cx="2606040" cy="1828800"/>
          </a:xfrm>
          <a:prstGeom prst="roundRect">
            <a:avLst>
              <a:gd name="adj" fmla="val 5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7" name="Text 4"/>
          <p:cNvSpPr/>
          <p:nvPr/>
        </p:nvSpPr>
        <p:spPr>
          <a:xfrm>
            <a:off x="1051560" y="2697480"/>
            <a:ext cx="2240280" cy="457200"/>
          </a:xfrm>
          <a:prstGeom prst="rect">
            <a:avLst/>
          </a:prstGeom>
          <a:noFill/>
          <a:ln/>
        </p:spPr>
        <p:txBody>
          <a:bodyPr wrap="square" lIns="0" tIns="0" rIns="0" bIns="0" rtlCol="0" anchor="ctr"/>
          <a:lstStyle/>
          <a:p>
            <a:pPr marL="0" indent="0">
              <a:buNone/>
            </a:pPr>
            <a:r>
              <a:rPr lang="en-US" sz="2000" b="1" dirty="0">
                <a:solidFill>
                  <a:srgbClr val="F0A868"/>
                </a:solidFill>
                <a:latin typeface="Quicksand" pitchFamily="34" charset="0"/>
                <a:ea typeface="Quicksand" pitchFamily="34" charset="-122"/>
                <a:cs typeface="Quicksand" pitchFamily="34" charset="-120"/>
              </a:rPr>
              <a:t>Luna</a:t>
            </a:r>
            <a:endParaRPr lang="en-US" sz="2000" dirty="0"/>
          </a:p>
        </p:txBody>
      </p:sp>
      <p:sp>
        <p:nvSpPr>
          <p:cNvPr id="8" name="Text 5"/>
          <p:cNvSpPr/>
          <p:nvPr/>
        </p:nvSpPr>
        <p:spPr>
          <a:xfrm>
            <a:off x="1051560" y="320040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Créatrice passionnée · cible primaire · 8-15 €</a:t>
            </a:r>
            <a:endParaRPr lang="en-US" sz="1350" dirty="0"/>
          </a:p>
        </p:txBody>
      </p:sp>
      <p:sp>
        <p:nvSpPr>
          <p:cNvPr id="9" name="Shape 6"/>
          <p:cNvSpPr/>
          <p:nvPr/>
        </p:nvSpPr>
        <p:spPr>
          <a:xfrm>
            <a:off x="3630168" y="2468880"/>
            <a:ext cx="2606040" cy="1828800"/>
          </a:xfrm>
          <a:prstGeom prst="roundRect">
            <a:avLst>
              <a:gd name="adj" fmla="val 5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0" name="Text 7"/>
          <p:cNvSpPr/>
          <p:nvPr/>
        </p:nvSpPr>
        <p:spPr>
          <a:xfrm>
            <a:off x="3858768" y="2697480"/>
            <a:ext cx="2240280" cy="457200"/>
          </a:xfrm>
          <a:prstGeom prst="rect">
            <a:avLst/>
          </a:prstGeom>
          <a:noFill/>
          <a:ln/>
        </p:spPr>
        <p:txBody>
          <a:bodyPr wrap="square" lIns="0" tIns="0" rIns="0" bIns="0" rtlCol="0" anchor="ctr"/>
          <a:lstStyle/>
          <a:p>
            <a:pPr marL="0" indent="0">
              <a:buNone/>
            </a:pPr>
            <a:r>
              <a:rPr lang="en-US" sz="2000" b="1" dirty="0">
                <a:solidFill>
                  <a:srgbClr val="B18CF0"/>
                </a:solidFill>
                <a:latin typeface="Quicksand" pitchFamily="34" charset="0"/>
                <a:ea typeface="Quicksand" pitchFamily="34" charset="-122"/>
                <a:cs typeface="Quicksand" pitchFamily="34" charset="-120"/>
              </a:rPr>
              <a:t>Marc</a:t>
            </a:r>
            <a:endParaRPr lang="en-US" sz="2000" dirty="0"/>
          </a:p>
        </p:txBody>
      </p:sp>
      <p:sp>
        <p:nvSpPr>
          <p:cNvPr id="11" name="Text 8"/>
          <p:cNvSpPr/>
          <p:nvPr/>
        </p:nvSpPr>
        <p:spPr>
          <a:xfrm>
            <a:off x="3858768" y="320040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Auteur amateur exigeant · 15-25 €</a:t>
            </a:r>
            <a:endParaRPr lang="en-US" sz="1350" dirty="0"/>
          </a:p>
        </p:txBody>
      </p:sp>
      <p:sp>
        <p:nvSpPr>
          <p:cNvPr id="12" name="Shape 9"/>
          <p:cNvSpPr/>
          <p:nvPr/>
        </p:nvSpPr>
        <p:spPr>
          <a:xfrm>
            <a:off x="6437376" y="2468880"/>
            <a:ext cx="2606040" cy="1828800"/>
          </a:xfrm>
          <a:prstGeom prst="roundRect">
            <a:avLst>
              <a:gd name="adj" fmla="val 5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3" name="Text 10"/>
          <p:cNvSpPr/>
          <p:nvPr/>
        </p:nvSpPr>
        <p:spPr>
          <a:xfrm>
            <a:off x="6665976" y="2697480"/>
            <a:ext cx="2240280" cy="457200"/>
          </a:xfrm>
          <a:prstGeom prst="rect">
            <a:avLst/>
          </a:prstGeom>
          <a:noFill/>
          <a:ln/>
        </p:spPr>
        <p:txBody>
          <a:bodyPr wrap="square" lIns="0" tIns="0" rIns="0" bIns="0" rtlCol="0" anchor="ctr"/>
          <a:lstStyle/>
          <a:p>
            <a:pPr marL="0" indent="0">
              <a:buNone/>
            </a:pPr>
            <a:r>
              <a:rPr lang="en-US" sz="2000" b="1" dirty="0">
                <a:solidFill>
                  <a:srgbClr val="6FD6BD"/>
                </a:solidFill>
                <a:latin typeface="Quicksand" pitchFamily="34" charset="0"/>
                <a:ea typeface="Quicksand" pitchFamily="34" charset="-122"/>
                <a:cs typeface="Quicksand" pitchFamily="34" charset="-120"/>
              </a:rPr>
              <a:t>Théo</a:t>
            </a:r>
            <a:endParaRPr lang="en-US" sz="2000" dirty="0"/>
          </a:p>
        </p:txBody>
      </p:sp>
      <p:sp>
        <p:nvSpPr>
          <p:cNvPr id="14" name="Text 11"/>
          <p:cNvSpPr/>
          <p:nvPr/>
        </p:nvSpPr>
        <p:spPr>
          <a:xfrm>
            <a:off x="6665976" y="320040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Étudiant sensible au prix · prescripteur</a:t>
            </a:r>
            <a:endParaRPr lang="en-US" sz="1350" dirty="0"/>
          </a:p>
        </p:txBody>
      </p:sp>
      <p:sp>
        <p:nvSpPr>
          <p:cNvPr id="15" name="Shape 12"/>
          <p:cNvSpPr/>
          <p:nvPr/>
        </p:nvSpPr>
        <p:spPr>
          <a:xfrm>
            <a:off x="9244584" y="2468880"/>
            <a:ext cx="2606040" cy="1828800"/>
          </a:xfrm>
          <a:prstGeom prst="roundRect">
            <a:avLst>
              <a:gd name="adj" fmla="val 5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6" name="Text 13"/>
          <p:cNvSpPr/>
          <p:nvPr/>
        </p:nvSpPr>
        <p:spPr>
          <a:xfrm>
            <a:off x="9473184" y="2697480"/>
            <a:ext cx="2240280" cy="457200"/>
          </a:xfrm>
          <a:prstGeom prst="rect">
            <a:avLst/>
          </a:prstGeom>
          <a:noFill/>
          <a:ln/>
        </p:spPr>
        <p:txBody>
          <a:bodyPr wrap="square" lIns="0" tIns="0" rIns="0" bIns="0" rtlCol="0" anchor="ctr"/>
          <a:lstStyle/>
          <a:p>
            <a:pPr marL="0" indent="0">
              <a:buNone/>
            </a:pPr>
            <a:r>
              <a:rPr lang="en-US" sz="2000" b="1" dirty="0">
                <a:solidFill>
                  <a:srgbClr val="E389B5"/>
                </a:solidFill>
                <a:latin typeface="Quicksand" pitchFamily="34" charset="0"/>
                <a:ea typeface="Quicksand" pitchFamily="34" charset="-122"/>
                <a:cs typeface="Quicksand" pitchFamily="34" charset="-120"/>
              </a:rPr>
              <a:t>Elodie</a:t>
            </a:r>
            <a:endParaRPr lang="en-US" sz="2000" dirty="0"/>
          </a:p>
        </p:txBody>
      </p:sp>
      <p:sp>
        <p:nvSpPr>
          <p:cNvPr id="17" name="Text 14"/>
          <p:cNvSpPr/>
          <p:nvPr/>
        </p:nvSpPr>
        <p:spPr>
          <a:xfrm>
            <a:off x="9473184" y="320040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Éditeur B2B · 49-150 €</a:t>
            </a:r>
            <a:endParaRPr lang="en-US" sz="1350" dirty="0"/>
          </a:p>
        </p:txBody>
      </p:sp>
      <p:sp>
        <p:nvSpPr>
          <p:cNvPr id="18" name="Text 15"/>
          <p:cNvSpPr/>
          <p:nvPr/>
        </p:nvSpPr>
        <p:spPr>
          <a:xfrm>
            <a:off x="822960" y="4663440"/>
            <a:ext cx="10515600" cy="731520"/>
          </a:xfrm>
          <a:prstGeom prst="rect">
            <a:avLst/>
          </a:prstGeom>
          <a:noFill/>
          <a:ln/>
        </p:spPr>
        <p:txBody>
          <a:bodyPr wrap="square" lIns="0" tIns="0" rIns="0" bIns="0" rtlCol="0" anchor="ctr"/>
          <a:lstStyle/>
          <a:p>
            <a:pPr marL="0" indent="0">
              <a:lnSpc>
                <a:spcPts val="2200"/>
              </a:lnSpc>
              <a:buNone/>
            </a:pPr>
            <a:r>
              <a:rPr lang="en-US" sz="1550" dirty="0">
                <a:solidFill>
                  <a:srgbClr val="B9B1C9"/>
                </a:solidFill>
                <a:latin typeface="Nunito" pitchFamily="34" charset="0"/>
                <a:ea typeface="Nunito" pitchFamily="34" charset="-122"/>
                <a:cs typeface="Nunito" pitchFamily="34" charset="-120"/>
              </a:rPr>
              <a:t>Blocage commun : produire des visuels cohérents. Séquence : B2C d'abord (Luna, Marc), puis B2B (Elodie) dès la V1, T3 2026.</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CONCURRENCE</a:t>
            </a:r>
            <a:endParaRPr lang="en-US" sz="1300" dirty="0"/>
          </a:p>
        </p:txBody>
      </p:sp>
      <p:pic>
        <p:nvPicPr>
          <p:cNvPr id="3" name="Image 0" descr="C:\Users\kirit\AppData\Local\Temp\claude\C--Users-kirit-OneDrive-Bureau-DreamWeave\1dfcbb64-69b7-40e1-93a9-2561d034242f\scratchpad\deck-memoire\imgb\t8.png"/>
          <p:cNvPicPr>
            <a:picLocks noChangeAspect="1"/>
          </p:cNvPicPr>
          <p:nvPr/>
        </p:nvPicPr>
        <p:blipFill>
          <a:blip r:embed="rId3"/>
          <a:stretch>
            <a:fillRect/>
          </a:stretch>
        </p:blipFill>
        <p:spPr>
          <a:xfrm>
            <a:off x="822960" y="1097280"/>
            <a:ext cx="3305577" cy="493213"/>
          </a:xfrm>
          <a:prstGeom prst="rect">
            <a:avLst/>
          </a:prstGeom>
        </p:spPr>
      </p:pic>
      <p:sp>
        <p:nvSpPr>
          <p:cNvPr id="4" name="Shape 1"/>
          <p:cNvSpPr/>
          <p:nvPr/>
        </p:nvSpPr>
        <p:spPr>
          <a:xfrm>
            <a:off x="4251960" y="2697480"/>
            <a:ext cx="2286000" cy="1485900"/>
          </a:xfrm>
          <a:prstGeom prst="roundRect">
            <a:avLst>
              <a:gd name="adj" fmla="val 4923"/>
            </a:avLst>
          </a:prstGeom>
          <a:solidFill>
            <a:srgbClr val="6FD6BD">
              <a:alpha val="12000"/>
            </a:srgbClr>
          </a:solidFill>
          <a:ln/>
        </p:spPr>
      </p:sp>
      <p:sp>
        <p:nvSpPr>
          <p:cNvPr id="5" name="Text 2"/>
          <p:cNvSpPr/>
          <p:nvPr/>
        </p:nvSpPr>
        <p:spPr>
          <a:xfrm>
            <a:off x="4251960" y="2807208"/>
            <a:ext cx="2121408" cy="274320"/>
          </a:xfrm>
          <a:prstGeom prst="rect">
            <a:avLst/>
          </a:prstGeom>
          <a:noFill/>
          <a:ln/>
        </p:spPr>
        <p:txBody>
          <a:bodyPr wrap="square" lIns="0" tIns="0" rIns="0" bIns="0" rtlCol="0" anchor="ctr"/>
          <a:lstStyle/>
          <a:p>
            <a:pPr marL="0" indent="0" algn="r">
              <a:buNone/>
            </a:pPr>
            <a:r>
              <a:rPr lang="en-US" sz="1100" i="1" dirty="0">
                <a:solidFill>
                  <a:srgbClr val="6FD6BD"/>
                </a:solidFill>
                <a:latin typeface="Quicksand" pitchFamily="34" charset="0"/>
                <a:ea typeface="Quicksand" pitchFamily="34" charset="-122"/>
                <a:cs typeface="Quicksand" pitchFamily="34" charset="-120"/>
              </a:rPr>
              <a:t>la place vide</a:t>
            </a:r>
            <a:endParaRPr lang="en-US" sz="1100" dirty="0"/>
          </a:p>
        </p:txBody>
      </p:sp>
      <p:sp>
        <p:nvSpPr>
          <p:cNvPr id="6" name="Shape 3"/>
          <p:cNvSpPr/>
          <p:nvPr/>
        </p:nvSpPr>
        <p:spPr>
          <a:xfrm>
            <a:off x="1965960" y="2532888"/>
            <a:ext cx="0" cy="3136392"/>
          </a:xfrm>
          <a:prstGeom prst="line">
            <a:avLst/>
          </a:prstGeom>
          <a:noFill/>
          <a:ln w="19050">
            <a:solidFill>
              <a:srgbClr val="2C2440"/>
            </a:solidFill>
            <a:prstDash val="solid"/>
            <a:headEnd type="triangle"/>
          </a:ln>
        </p:spPr>
      </p:sp>
      <p:sp>
        <p:nvSpPr>
          <p:cNvPr id="7" name="Shape 4"/>
          <p:cNvSpPr/>
          <p:nvPr/>
        </p:nvSpPr>
        <p:spPr>
          <a:xfrm>
            <a:off x="1965960" y="5669280"/>
            <a:ext cx="4754880" cy="0"/>
          </a:xfrm>
          <a:prstGeom prst="line">
            <a:avLst/>
          </a:prstGeom>
          <a:noFill/>
          <a:ln w="19050">
            <a:solidFill>
              <a:srgbClr val="2C2440"/>
            </a:solidFill>
            <a:prstDash val="solid"/>
            <a:tailEnd type="triangle"/>
          </a:ln>
        </p:spPr>
      </p:sp>
      <p:sp>
        <p:nvSpPr>
          <p:cNvPr id="8" name="Text 5"/>
          <p:cNvSpPr/>
          <p:nvPr/>
        </p:nvSpPr>
        <p:spPr>
          <a:xfrm>
            <a:off x="1920240" y="2130552"/>
            <a:ext cx="4023360" cy="274320"/>
          </a:xfrm>
          <a:prstGeom prst="rect">
            <a:avLst/>
          </a:prstGeom>
          <a:noFill/>
          <a:ln/>
        </p:spPr>
        <p:txBody>
          <a:bodyPr wrap="square" lIns="0" tIns="0" rIns="0" bIns="0" rtlCol="0" anchor="ctr"/>
          <a:lstStyle/>
          <a:p>
            <a:pPr marL="0" indent="0">
              <a:buNone/>
            </a:pPr>
            <a:r>
              <a:rPr lang="en-US" sz="1200" b="1" dirty="0">
                <a:solidFill>
                  <a:srgbClr val="F0A868"/>
                </a:solidFill>
                <a:latin typeface="Quicksand" pitchFamily="34" charset="0"/>
                <a:ea typeface="Quicksand" pitchFamily="34" charset="-122"/>
                <a:cs typeface="Quicksand" pitchFamily="34" charset="-120"/>
              </a:rPr>
              <a:t>↑  Automatisation par IA</a:t>
            </a:r>
            <a:endParaRPr lang="en-US" sz="1200" dirty="0"/>
          </a:p>
        </p:txBody>
      </p:sp>
      <p:sp>
        <p:nvSpPr>
          <p:cNvPr id="9" name="Text 6"/>
          <p:cNvSpPr/>
          <p:nvPr/>
        </p:nvSpPr>
        <p:spPr>
          <a:xfrm>
            <a:off x="1965960" y="6053328"/>
            <a:ext cx="4754880" cy="274320"/>
          </a:xfrm>
          <a:prstGeom prst="rect">
            <a:avLst/>
          </a:prstGeom>
          <a:noFill/>
          <a:ln/>
        </p:spPr>
        <p:txBody>
          <a:bodyPr wrap="square" lIns="0" tIns="0" rIns="0" bIns="0" rtlCol="0" anchor="ctr"/>
          <a:lstStyle/>
          <a:p>
            <a:pPr marL="0" indent="0" algn="ctr">
              <a:buNone/>
            </a:pPr>
            <a:r>
              <a:rPr lang="en-US" sz="1200" b="1" dirty="0">
                <a:solidFill>
                  <a:srgbClr val="F0A868"/>
                </a:solidFill>
                <a:latin typeface="Quicksand" pitchFamily="34" charset="0"/>
                <a:ea typeface="Quicksand" pitchFamily="34" charset="-122"/>
                <a:cs typeface="Quicksand" pitchFamily="34" charset="-120"/>
              </a:rPr>
              <a:t>Spécialisation webtoon  →</a:t>
            </a:r>
            <a:endParaRPr lang="en-US" sz="1200" dirty="0"/>
          </a:p>
        </p:txBody>
      </p:sp>
      <p:sp>
        <p:nvSpPr>
          <p:cNvPr id="10" name="Text 7"/>
          <p:cNvSpPr/>
          <p:nvPr/>
        </p:nvSpPr>
        <p:spPr>
          <a:xfrm>
            <a:off x="2075688" y="2697480"/>
            <a:ext cx="1280160" cy="219456"/>
          </a:xfrm>
          <a:prstGeom prst="rect">
            <a:avLst/>
          </a:prstGeom>
          <a:noFill/>
          <a:ln/>
        </p:spPr>
        <p:txBody>
          <a:bodyPr wrap="square" lIns="0" tIns="0" rIns="0" bIns="0" rtlCol="0" anchor="ctr"/>
          <a:lstStyle/>
          <a:p>
            <a:pPr marL="0" indent="0">
              <a:buNone/>
            </a:pPr>
            <a:r>
              <a:rPr lang="en-US" sz="1000" i="1" dirty="0">
                <a:solidFill>
                  <a:srgbClr val="B9B1C9"/>
                </a:solidFill>
                <a:latin typeface="Nunito" pitchFamily="34" charset="0"/>
                <a:ea typeface="Nunito" pitchFamily="34" charset="-122"/>
                <a:cs typeface="Nunito" pitchFamily="34" charset="-120"/>
              </a:rPr>
              <a:t>IA forte</a:t>
            </a:r>
            <a:endParaRPr lang="en-US" sz="1000" dirty="0"/>
          </a:p>
        </p:txBody>
      </p:sp>
      <p:sp>
        <p:nvSpPr>
          <p:cNvPr id="11" name="Text 8"/>
          <p:cNvSpPr/>
          <p:nvPr/>
        </p:nvSpPr>
        <p:spPr>
          <a:xfrm>
            <a:off x="2075688" y="5120640"/>
            <a:ext cx="1280160" cy="219456"/>
          </a:xfrm>
          <a:prstGeom prst="rect">
            <a:avLst/>
          </a:prstGeom>
          <a:noFill/>
          <a:ln/>
        </p:spPr>
        <p:txBody>
          <a:bodyPr wrap="square" lIns="0" tIns="0" rIns="0" bIns="0" rtlCol="0" anchor="ctr"/>
          <a:lstStyle/>
          <a:p>
            <a:pPr marL="0" indent="0">
              <a:buNone/>
            </a:pPr>
            <a:r>
              <a:rPr lang="en-US" sz="1000" i="1" dirty="0">
                <a:solidFill>
                  <a:srgbClr val="B9B1C9"/>
                </a:solidFill>
                <a:latin typeface="Nunito" pitchFamily="34" charset="0"/>
                <a:ea typeface="Nunito" pitchFamily="34" charset="-122"/>
                <a:cs typeface="Nunito" pitchFamily="34" charset="-120"/>
              </a:rPr>
              <a:t>manuel</a:t>
            </a:r>
            <a:endParaRPr lang="en-US" sz="1000" dirty="0"/>
          </a:p>
        </p:txBody>
      </p:sp>
      <p:sp>
        <p:nvSpPr>
          <p:cNvPr id="12" name="Text 9"/>
          <p:cNvSpPr/>
          <p:nvPr/>
        </p:nvSpPr>
        <p:spPr>
          <a:xfrm>
            <a:off x="2011680" y="5779008"/>
            <a:ext cx="1371600" cy="219456"/>
          </a:xfrm>
          <a:prstGeom prst="rect">
            <a:avLst/>
          </a:prstGeom>
          <a:noFill/>
          <a:ln/>
        </p:spPr>
        <p:txBody>
          <a:bodyPr wrap="square" lIns="0" tIns="0" rIns="0" bIns="0" rtlCol="0" anchor="ctr"/>
          <a:lstStyle/>
          <a:p>
            <a:pPr marL="0" indent="0">
              <a:buNone/>
            </a:pPr>
            <a:r>
              <a:rPr lang="en-US" sz="1000" i="1" dirty="0">
                <a:solidFill>
                  <a:srgbClr val="B9B1C9"/>
                </a:solidFill>
                <a:latin typeface="Nunito" pitchFamily="34" charset="0"/>
                <a:ea typeface="Nunito" pitchFamily="34" charset="-122"/>
                <a:cs typeface="Nunito" pitchFamily="34" charset="-120"/>
              </a:rPr>
              <a:t>généraliste</a:t>
            </a:r>
            <a:endParaRPr lang="en-US" sz="1000" dirty="0"/>
          </a:p>
        </p:txBody>
      </p:sp>
      <p:sp>
        <p:nvSpPr>
          <p:cNvPr id="13" name="Text 10"/>
          <p:cNvSpPr/>
          <p:nvPr/>
        </p:nvSpPr>
        <p:spPr>
          <a:xfrm>
            <a:off x="5120640" y="5779008"/>
            <a:ext cx="1371600" cy="219456"/>
          </a:xfrm>
          <a:prstGeom prst="rect">
            <a:avLst/>
          </a:prstGeom>
          <a:noFill/>
          <a:ln/>
        </p:spPr>
        <p:txBody>
          <a:bodyPr wrap="square" lIns="0" tIns="0" rIns="0" bIns="0" rtlCol="0" anchor="ctr"/>
          <a:lstStyle/>
          <a:p>
            <a:pPr marL="0" indent="0" algn="r">
              <a:buNone/>
            </a:pPr>
            <a:r>
              <a:rPr lang="en-US" sz="1000" i="1" dirty="0">
                <a:solidFill>
                  <a:srgbClr val="B9B1C9"/>
                </a:solidFill>
                <a:latin typeface="Nunito" pitchFamily="34" charset="0"/>
                <a:ea typeface="Nunito" pitchFamily="34" charset="-122"/>
                <a:cs typeface="Nunito" pitchFamily="34" charset="-120"/>
              </a:rPr>
              <a:t>spécialisé</a:t>
            </a:r>
            <a:endParaRPr lang="en-US" sz="1000" dirty="0"/>
          </a:p>
        </p:txBody>
      </p:sp>
      <p:sp>
        <p:nvSpPr>
          <p:cNvPr id="14" name="Shape 11"/>
          <p:cNvSpPr/>
          <p:nvPr/>
        </p:nvSpPr>
        <p:spPr>
          <a:xfrm>
            <a:off x="2505456" y="3131820"/>
            <a:ext cx="201168" cy="201168"/>
          </a:xfrm>
          <a:prstGeom prst="ellipse">
            <a:avLst/>
          </a:prstGeom>
          <a:solidFill>
            <a:srgbClr val="B9B1C9"/>
          </a:solidFill>
          <a:ln/>
        </p:spPr>
      </p:sp>
      <p:sp>
        <p:nvSpPr>
          <p:cNvPr id="15" name="Text 12"/>
          <p:cNvSpPr/>
          <p:nvPr/>
        </p:nvSpPr>
        <p:spPr>
          <a:xfrm>
            <a:off x="2788920" y="3095244"/>
            <a:ext cx="1828800" cy="329184"/>
          </a:xfrm>
          <a:prstGeom prst="rect">
            <a:avLst/>
          </a:prstGeom>
          <a:noFill/>
          <a:ln/>
        </p:spPr>
        <p:txBody>
          <a:bodyPr wrap="square" lIns="0" tIns="0" rIns="0" bIns="0" rtlCol="0" anchor="ctr"/>
          <a:lstStyle/>
          <a:p>
            <a:pPr marL="0" indent="0">
              <a:buNone/>
            </a:pPr>
            <a:r>
              <a:rPr lang="en-US" sz="1250" b="1" dirty="0">
                <a:solidFill>
                  <a:srgbClr val="B9B1C9"/>
                </a:solidFill>
                <a:latin typeface="Quicksand" pitchFamily="34" charset="0"/>
                <a:ea typeface="Quicksand" pitchFamily="34" charset="-122"/>
                <a:cs typeface="Quicksand" pitchFamily="34" charset="-120"/>
              </a:rPr>
              <a:t>AI Comic Factory</a:t>
            </a:r>
            <a:endParaRPr lang="en-US" sz="1250" dirty="0"/>
          </a:p>
        </p:txBody>
      </p:sp>
      <p:sp>
        <p:nvSpPr>
          <p:cNvPr id="16" name="Shape 13"/>
          <p:cNvSpPr/>
          <p:nvPr/>
        </p:nvSpPr>
        <p:spPr>
          <a:xfrm>
            <a:off x="3694176" y="3488436"/>
            <a:ext cx="201168" cy="201168"/>
          </a:xfrm>
          <a:prstGeom prst="ellipse">
            <a:avLst/>
          </a:prstGeom>
          <a:solidFill>
            <a:srgbClr val="B9B1C9"/>
          </a:solidFill>
          <a:ln/>
        </p:spPr>
      </p:sp>
      <p:sp>
        <p:nvSpPr>
          <p:cNvPr id="17" name="Text 14"/>
          <p:cNvSpPr/>
          <p:nvPr/>
        </p:nvSpPr>
        <p:spPr>
          <a:xfrm>
            <a:off x="3977640" y="3451860"/>
            <a:ext cx="1828800" cy="329184"/>
          </a:xfrm>
          <a:prstGeom prst="rect">
            <a:avLst/>
          </a:prstGeom>
          <a:noFill/>
          <a:ln/>
        </p:spPr>
        <p:txBody>
          <a:bodyPr wrap="square" lIns="0" tIns="0" rIns="0" bIns="0" rtlCol="0" anchor="ctr"/>
          <a:lstStyle/>
          <a:p>
            <a:pPr marL="0" indent="0">
              <a:buNone/>
            </a:pPr>
            <a:r>
              <a:rPr lang="en-US" sz="1250" b="1" dirty="0">
                <a:solidFill>
                  <a:srgbClr val="B9B1C9"/>
                </a:solidFill>
                <a:latin typeface="Quicksand" pitchFamily="34" charset="0"/>
                <a:ea typeface="Quicksand" pitchFamily="34" charset="-122"/>
                <a:cs typeface="Quicksand" pitchFamily="34" charset="-120"/>
              </a:rPr>
              <a:t>Dashtoon</a:t>
            </a:r>
            <a:endParaRPr lang="en-US" sz="1250" dirty="0"/>
          </a:p>
        </p:txBody>
      </p:sp>
      <p:sp>
        <p:nvSpPr>
          <p:cNvPr id="18" name="Shape 15"/>
          <p:cNvSpPr/>
          <p:nvPr/>
        </p:nvSpPr>
        <p:spPr>
          <a:xfrm>
            <a:off x="5522976" y="5033772"/>
            <a:ext cx="201168" cy="201168"/>
          </a:xfrm>
          <a:prstGeom prst="ellipse">
            <a:avLst/>
          </a:prstGeom>
          <a:solidFill>
            <a:srgbClr val="B9B1C9"/>
          </a:solidFill>
          <a:ln/>
        </p:spPr>
      </p:sp>
      <p:sp>
        <p:nvSpPr>
          <p:cNvPr id="19" name="Text 16"/>
          <p:cNvSpPr/>
          <p:nvPr/>
        </p:nvSpPr>
        <p:spPr>
          <a:xfrm>
            <a:off x="5806440" y="4997196"/>
            <a:ext cx="1828800" cy="329184"/>
          </a:xfrm>
          <a:prstGeom prst="rect">
            <a:avLst/>
          </a:prstGeom>
          <a:noFill/>
          <a:ln/>
        </p:spPr>
        <p:txBody>
          <a:bodyPr wrap="square" lIns="0" tIns="0" rIns="0" bIns="0" rtlCol="0" anchor="ctr"/>
          <a:lstStyle/>
          <a:p>
            <a:pPr marL="0" indent="0">
              <a:buNone/>
            </a:pPr>
            <a:r>
              <a:rPr lang="en-US" sz="1250" b="1" dirty="0">
                <a:solidFill>
                  <a:srgbClr val="B9B1C9"/>
                </a:solidFill>
                <a:latin typeface="Quicksand" pitchFamily="34" charset="0"/>
                <a:ea typeface="Quicksand" pitchFamily="34" charset="-122"/>
                <a:cs typeface="Quicksand" pitchFamily="34" charset="-120"/>
              </a:rPr>
              <a:t>Clip Studio</a:t>
            </a:r>
            <a:endParaRPr lang="en-US" sz="1250" dirty="0"/>
          </a:p>
        </p:txBody>
      </p:sp>
      <p:sp>
        <p:nvSpPr>
          <p:cNvPr id="20" name="Shape 17"/>
          <p:cNvSpPr/>
          <p:nvPr/>
        </p:nvSpPr>
        <p:spPr>
          <a:xfrm>
            <a:off x="5340096" y="3191256"/>
            <a:ext cx="201168" cy="201168"/>
          </a:xfrm>
          <a:prstGeom prst="ellipse">
            <a:avLst/>
          </a:prstGeom>
          <a:solidFill>
            <a:srgbClr val="6FD6BD"/>
          </a:solidFill>
          <a:ln/>
        </p:spPr>
      </p:sp>
      <p:sp>
        <p:nvSpPr>
          <p:cNvPr id="21" name="Text 18"/>
          <p:cNvSpPr/>
          <p:nvPr/>
        </p:nvSpPr>
        <p:spPr>
          <a:xfrm>
            <a:off x="5623560" y="3154680"/>
            <a:ext cx="1828800" cy="329184"/>
          </a:xfrm>
          <a:prstGeom prst="rect">
            <a:avLst/>
          </a:prstGeom>
          <a:noFill/>
          <a:ln/>
        </p:spPr>
        <p:txBody>
          <a:bodyPr wrap="square" lIns="0" tIns="0" rIns="0" bIns="0" rtlCol="0" anchor="ctr"/>
          <a:lstStyle/>
          <a:p>
            <a:pPr marL="0" indent="0">
              <a:buNone/>
            </a:pPr>
            <a:r>
              <a:rPr lang="en-US" sz="1250" b="1" dirty="0">
                <a:solidFill>
                  <a:srgbClr val="6FD6BD"/>
                </a:solidFill>
                <a:latin typeface="Quicksand" pitchFamily="34" charset="0"/>
                <a:ea typeface="Quicksand" pitchFamily="34" charset="-122"/>
                <a:cs typeface="Quicksand" pitchFamily="34" charset="-120"/>
              </a:rPr>
              <a:t>DreamWeave</a:t>
            </a:r>
            <a:endParaRPr lang="en-US" sz="1250" dirty="0"/>
          </a:p>
        </p:txBody>
      </p:sp>
      <p:sp>
        <p:nvSpPr>
          <p:cNvPr id="22" name="Text 19"/>
          <p:cNvSpPr/>
          <p:nvPr/>
        </p:nvSpPr>
        <p:spPr>
          <a:xfrm>
            <a:off x="7635240" y="2788920"/>
            <a:ext cx="4114800" cy="3657600"/>
          </a:xfrm>
          <a:prstGeom prst="rect">
            <a:avLst/>
          </a:prstGeom>
          <a:noFill/>
          <a:ln/>
        </p:spPr>
        <p:txBody>
          <a:bodyPr wrap="square" lIns="0" tIns="0" rIns="0" bIns="0" rtlCol="0" anchor="t"/>
          <a:lstStyle/>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F0A868"/>
                </a:solidFill>
                <a:latin typeface="Nunito" pitchFamily="34" charset="0"/>
                <a:ea typeface="Nunito" pitchFamily="34" charset="-122"/>
                <a:cs typeface="Nunito" pitchFamily="34" charset="-120"/>
              </a:rPr>
              <a:t>Dashtoon</a:t>
            </a:r>
            <a:r>
              <a:rPr lang="en-US" sz="1600" dirty="0">
                <a:solidFill>
                  <a:srgbClr val="E7E2F0"/>
                </a:solidFill>
                <a:latin typeface="Nunito" pitchFamily="34" charset="0"/>
                <a:ea typeface="Nunito" pitchFamily="34" charset="-122"/>
                <a:cs typeface="Nunito" pitchFamily="34" charset="-120"/>
              </a:rPr>
              <a:t> : bon workflow, </a:t>
            </a:r>
            <a:r>
              <a:rPr lang="en-US" sz="1600" b="1" dirty="0">
                <a:solidFill>
                  <a:srgbClr val="E389B5"/>
                </a:solidFill>
                <a:latin typeface="Nunito" pitchFamily="34" charset="0"/>
                <a:ea typeface="Nunito" pitchFamily="34" charset="-122"/>
                <a:cs typeface="Nunito" pitchFamily="34" charset="-120"/>
              </a:rPr>
              <a:t>cohérence faible</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F0A868"/>
                </a:solidFill>
                <a:latin typeface="Nunito" pitchFamily="34" charset="0"/>
                <a:ea typeface="Nunito" pitchFamily="34" charset="-122"/>
                <a:cs typeface="Nunito" pitchFamily="34" charset="-120"/>
              </a:rPr>
              <a:t>Clip Studio</a:t>
            </a:r>
            <a:r>
              <a:rPr lang="en-US" sz="1600" dirty="0">
                <a:solidFill>
                  <a:srgbClr val="E7E2F0"/>
                </a:solidFill>
                <a:latin typeface="Nunito" pitchFamily="34" charset="0"/>
                <a:ea typeface="Nunito" pitchFamily="34" charset="-122"/>
                <a:cs typeface="Nunito" pitchFamily="34" charset="-120"/>
              </a:rPr>
              <a:t> : </a:t>
            </a:r>
            <a:r>
              <a:rPr lang="en-US" sz="1600" b="1" dirty="0">
                <a:solidFill>
                  <a:srgbClr val="E389B5"/>
                </a:solidFill>
                <a:latin typeface="Nunito" pitchFamily="34" charset="0"/>
                <a:ea typeface="Nunito" pitchFamily="34" charset="-122"/>
                <a:cs typeface="Nunito" pitchFamily="34" charset="-120"/>
              </a:rPr>
              <a:t>refuse l'IA</a:t>
            </a:r>
            <a:r>
              <a:rPr lang="en-US" sz="1600" dirty="0">
                <a:solidFill>
                  <a:srgbClr val="E7E2F0"/>
                </a:solidFill>
                <a:latin typeface="Nunito" pitchFamily="34" charset="0"/>
                <a:ea typeface="Nunito" pitchFamily="34" charset="-122"/>
                <a:cs typeface="Nunito" pitchFamily="34" charset="-120"/>
              </a:rPr>
              <a:t>, </a:t>
            </a:r>
            <a:r>
              <a:rPr lang="en-US" sz="1600" b="1" dirty="0">
                <a:solidFill>
                  <a:srgbClr val="E389B5"/>
                </a:solidFill>
                <a:latin typeface="Nunito" pitchFamily="34" charset="0"/>
                <a:ea typeface="Nunito" pitchFamily="34" charset="-122"/>
                <a:cs typeface="Nunito" pitchFamily="34" charset="-120"/>
              </a:rPr>
              <a:t>exige de dessiner</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b="1" dirty="0">
                <a:solidFill>
                  <a:srgbClr val="F0A868"/>
                </a:solidFill>
                <a:latin typeface="Nunito" pitchFamily="34" charset="0"/>
                <a:ea typeface="Nunito" pitchFamily="34" charset="-122"/>
                <a:cs typeface="Nunito" pitchFamily="34" charset="-120"/>
              </a:rPr>
              <a:t>AI Comic Factory</a:t>
            </a:r>
            <a:r>
              <a:rPr lang="en-US" sz="1600" dirty="0">
                <a:solidFill>
                  <a:srgbClr val="E7E2F0"/>
                </a:solidFill>
                <a:latin typeface="Nunito" pitchFamily="34" charset="0"/>
                <a:ea typeface="Nunito" pitchFamily="34" charset="-122"/>
                <a:cs typeface="Nunito" pitchFamily="34" charset="-120"/>
              </a:rPr>
              <a:t> : </a:t>
            </a:r>
            <a:r>
              <a:rPr lang="en-US" sz="1600" b="1" dirty="0">
                <a:solidFill>
                  <a:srgbClr val="6FD6BD"/>
                </a:solidFill>
                <a:latin typeface="Nunito" pitchFamily="34" charset="0"/>
                <a:ea typeface="Nunito" pitchFamily="34" charset="-122"/>
                <a:cs typeface="Nunito" pitchFamily="34" charset="-120"/>
              </a:rPr>
              <a:t>gratuit</a:t>
            </a:r>
            <a:r>
              <a:rPr lang="en-US" sz="1600" dirty="0">
                <a:solidFill>
                  <a:srgbClr val="E7E2F0"/>
                </a:solidFill>
                <a:latin typeface="Nunito" pitchFamily="34" charset="0"/>
                <a:ea typeface="Nunito" pitchFamily="34" charset="-122"/>
                <a:cs typeface="Nunito" pitchFamily="34" charset="-120"/>
              </a:rPr>
              <a:t>, mais </a:t>
            </a:r>
            <a:r>
              <a:rPr lang="en-US" sz="1600" b="1" dirty="0">
                <a:solidFill>
                  <a:srgbClr val="E389B5"/>
                </a:solidFill>
                <a:latin typeface="Nunito" pitchFamily="34" charset="0"/>
                <a:ea typeface="Nunito" pitchFamily="34" charset="-122"/>
                <a:cs typeface="Nunito" pitchFamily="34" charset="-120"/>
              </a:rPr>
              <a:t>rendu brut</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DreamWeave seul sur </a:t>
            </a:r>
            <a:r>
              <a:rPr lang="en-US" sz="1600" b="1" dirty="0">
                <a:solidFill>
                  <a:srgbClr val="6FD6BD"/>
                </a:solidFill>
                <a:latin typeface="Nunito" pitchFamily="34" charset="0"/>
                <a:ea typeface="Nunito" pitchFamily="34" charset="-122"/>
                <a:cs typeface="Nunito" pitchFamily="34" charset="-120"/>
              </a:rPr>
              <a:t>cohérence + accessibilité</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DÉCISION FONDATRICE</a:t>
            </a:r>
            <a:endParaRPr lang="en-US" sz="1300" dirty="0"/>
          </a:p>
        </p:txBody>
      </p:sp>
      <p:pic>
        <p:nvPicPr>
          <p:cNvPr id="3" name="Image 0" descr="C:\Users\kirit\AppData\Local\Temp\claude\C--Users-kirit-OneDrive-Bureau-DreamWeave\1dfcbb64-69b7-40e1-93a9-2561d034242f\scratchpad\deck-memoire\imgb\t9.png"/>
          <p:cNvPicPr>
            <a:picLocks noChangeAspect="1"/>
          </p:cNvPicPr>
          <p:nvPr/>
        </p:nvPicPr>
        <p:blipFill>
          <a:blip r:embed="rId3"/>
          <a:stretch>
            <a:fillRect/>
          </a:stretch>
        </p:blipFill>
        <p:spPr>
          <a:xfrm>
            <a:off x="822960" y="1097280"/>
            <a:ext cx="9129690" cy="498460"/>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D1</a:t>
            </a:r>
            <a:endParaRPr lang="en-US" sz="1100" dirty="0"/>
          </a:p>
        </p:txBody>
      </p:sp>
      <p:sp>
        <p:nvSpPr>
          <p:cNvPr id="6" name="Text 3"/>
          <p:cNvSpPr/>
          <p:nvPr/>
        </p:nvSpPr>
        <p:spPr>
          <a:xfrm>
            <a:off x="868680" y="2377440"/>
            <a:ext cx="457200" cy="457200"/>
          </a:xfrm>
          <a:prstGeom prst="rect">
            <a:avLst/>
          </a:prstGeom>
          <a:noFill/>
          <a:ln/>
        </p:spPr>
        <p:txBody>
          <a:bodyPr wrap="square" lIns="0" tIns="0" rIns="0" bIns="0" rtlCol="0" anchor="ctr"/>
          <a:lstStyle/>
          <a:p>
            <a:pPr marL="0" indent="0">
              <a:buNone/>
            </a:pPr>
            <a:r>
              <a:rPr lang="en-US" sz="1800" b="1" dirty="0">
                <a:solidFill>
                  <a:srgbClr val="E389B5"/>
                </a:solidFill>
                <a:latin typeface="Quicksand" pitchFamily="34" charset="0"/>
                <a:ea typeface="Quicksand" pitchFamily="34" charset="-122"/>
                <a:cs typeface="Quicksand" pitchFamily="34" charset="-120"/>
              </a:rPr>
              <a:t>✕</a:t>
            </a:r>
            <a:endParaRPr lang="en-US" sz="1800" dirty="0"/>
          </a:p>
        </p:txBody>
      </p:sp>
      <p:sp>
        <p:nvSpPr>
          <p:cNvPr id="7" name="Text 4"/>
          <p:cNvSpPr/>
          <p:nvPr/>
        </p:nvSpPr>
        <p:spPr>
          <a:xfrm>
            <a:off x="1371600" y="2377440"/>
            <a:ext cx="5486400" cy="457200"/>
          </a:xfrm>
          <a:prstGeom prst="rect">
            <a:avLst/>
          </a:prstGeom>
          <a:noFill/>
          <a:ln/>
        </p:spPr>
        <p:txBody>
          <a:bodyPr wrap="square" lIns="0" tIns="0" rIns="0" bIns="0" rtlCol="0" anchor="ctr"/>
          <a:lstStyle/>
          <a:p>
            <a:pPr marL="0" indent="0">
              <a:buNone/>
            </a:pPr>
            <a:r>
              <a:rPr lang="en-US" sz="1550" dirty="0">
                <a:solidFill>
                  <a:srgbClr val="B9B1C9"/>
                </a:solidFill>
                <a:latin typeface="Nunito" pitchFamily="34" charset="0"/>
                <a:ea typeface="Nunito" pitchFamily="34" charset="-122"/>
                <a:cs typeface="Nunito" pitchFamily="34" charset="-120"/>
              </a:rPr>
              <a:t>Marketplace : ne supprime ni coût ni délai</a:t>
            </a:r>
            <a:endParaRPr lang="en-US" sz="1550" dirty="0"/>
          </a:p>
        </p:txBody>
      </p:sp>
      <p:sp>
        <p:nvSpPr>
          <p:cNvPr id="8" name="Text 5"/>
          <p:cNvSpPr/>
          <p:nvPr/>
        </p:nvSpPr>
        <p:spPr>
          <a:xfrm>
            <a:off x="868680" y="3035808"/>
            <a:ext cx="457200" cy="457200"/>
          </a:xfrm>
          <a:prstGeom prst="rect">
            <a:avLst/>
          </a:prstGeom>
          <a:noFill/>
          <a:ln/>
        </p:spPr>
        <p:txBody>
          <a:bodyPr wrap="square" lIns="0" tIns="0" rIns="0" bIns="0" rtlCol="0" anchor="ctr"/>
          <a:lstStyle/>
          <a:p>
            <a:pPr marL="0" indent="0">
              <a:buNone/>
            </a:pPr>
            <a:r>
              <a:rPr lang="en-US" sz="1800" b="1" dirty="0">
                <a:solidFill>
                  <a:srgbClr val="E389B5"/>
                </a:solidFill>
                <a:latin typeface="Quicksand" pitchFamily="34" charset="0"/>
                <a:ea typeface="Quicksand" pitchFamily="34" charset="-122"/>
                <a:cs typeface="Quicksand" pitchFamily="34" charset="-120"/>
              </a:rPr>
              <a:t>✕</a:t>
            </a:r>
            <a:endParaRPr lang="en-US" sz="1800" dirty="0"/>
          </a:p>
        </p:txBody>
      </p:sp>
      <p:sp>
        <p:nvSpPr>
          <p:cNvPr id="9" name="Text 6"/>
          <p:cNvSpPr/>
          <p:nvPr/>
        </p:nvSpPr>
        <p:spPr>
          <a:xfrm>
            <a:off x="1371600" y="3035808"/>
            <a:ext cx="5486400" cy="457200"/>
          </a:xfrm>
          <a:prstGeom prst="rect">
            <a:avLst/>
          </a:prstGeom>
          <a:noFill/>
          <a:ln/>
        </p:spPr>
        <p:txBody>
          <a:bodyPr wrap="square" lIns="0" tIns="0" rIns="0" bIns="0" rtlCol="0" anchor="ctr"/>
          <a:lstStyle/>
          <a:p>
            <a:pPr marL="0" indent="0">
              <a:buNone/>
            </a:pPr>
            <a:r>
              <a:rPr lang="en-US" sz="1550" dirty="0">
                <a:solidFill>
                  <a:srgbClr val="B9B1C9"/>
                </a:solidFill>
                <a:latin typeface="Nunito" pitchFamily="34" charset="0"/>
                <a:ea typeface="Nunito" pitchFamily="34" charset="-122"/>
                <a:cs typeface="Nunito" pitchFamily="34" charset="-120"/>
              </a:rPr>
              <a:t>Outil de dessin assisté : exige une compétence</a:t>
            </a:r>
            <a:endParaRPr lang="en-US" sz="1550" dirty="0"/>
          </a:p>
        </p:txBody>
      </p:sp>
      <p:sp>
        <p:nvSpPr>
          <p:cNvPr id="10" name="Text 7"/>
          <p:cNvSpPr/>
          <p:nvPr/>
        </p:nvSpPr>
        <p:spPr>
          <a:xfrm>
            <a:off x="868680" y="3694176"/>
            <a:ext cx="457200" cy="457200"/>
          </a:xfrm>
          <a:prstGeom prst="rect">
            <a:avLst/>
          </a:prstGeom>
          <a:noFill/>
          <a:ln/>
        </p:spPr>
        <p:txBody>
          <a:bodyPr wrap="square" lIns="0" tIns="0" rIns="0" bIns="0" rtlCol="0" anchor="ctr"/>
          <a:lstStyle/>
          <a:p>
            <a:pPr marL="0" indent="0">
              <a:buNone/>
            </a:pPr>
            <a:r>
              <a:rPr lang="en-US" sz="1800" b="1" dirty="0">
                <a:solidFill>
                  <a:srgbClr val="E389B5"/>
                </a:solidFill>
                <a:latin typeface="Quicksand" pitchFamily="34" charset="0"/>
                <a:ea typeface="Quicksand" pitchFamily="34" charset="-122"/>
                <a:cs typeface="Quicksand" pitchFamily="34" charset="-120"/>
              </a:rPr>
              <a:t>✕</a:t>
            </a:r>
            <a:endParaRPr lang="en-US" sz="1800" dirty="0"/>
          </a:p>
        </p:txBody>
      </p:sp>
      <p:sp>
        <p:nvSpPr>
          <p:cNvPr id="11" name="Text 8"/>
          <p:cNvSpPr/>
          <p:nvPr/>
        </p:nvSpPr>
        <p:spPr>
          <a:xfrm>
            <a:off x="1371600" y="3694176"/>
            <a:ext cx="5486400" cy="457200"/>
          </a:xfrm>
          <a:prstGeom prst="rect">
            <a:avLst/>
          </a:prstGeom>
          <a:noFill/>
          <a:ln/>
        </p:spPr>
        <p:txBody>
          <a:bodyPr wrap="square" lIns="0" tIns="0" rIns="0" bIns="0" rtlCol="0" anchor="ctr"/>
          <a:lstStyle/>
          <a:p>
            <a:pPr marL="0" indent="0">
              <a:buNone/>
            </a:pPr>
            <a:r>
              <a:rPr lang="en-US" sz="1550" dirty="0">
                <a:solidFill>
                  <a:srgbClr val="B9B1C9"/>
                </a:solidFill>
                <a:latin typeface="Nunito" pitchFamily="34" charset="0"/>
                <a:ea typeface="Nunito" pitchFamily="34" charset="-122"/>
                <a:cs typeface="Nunito" pitchFamily="34" charset="-120"/>
              </a:rPr>
              <a:t>Génération one-shot : ni cohérence ni workflow</a:t>
            </a:r>
            <a:endParaRPr lang="en-US" sz="1550" dirty="0"/>
          </a:p>
        </p:txBody>
      </p:sp>
      <p:sp>
        <p:nvSpPr>
          <p:cNvPr id="12" name="Shape 9"/>
          <p:cNvSpPr/>
          <p:nvPr/>
        </p:nvSpPr>
        <p:spPr>
          <a:xfrm>
            <a:off x="7315200" y="2468880"/>
            <a:ext cx="4023360" cy="2377440"/>
          </a:xfrm>
          <a:prstGeom prst="roundRect">
            <a:avLst>
              <a:gd name="adj" fmla="val 3846"/>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13" name="Text 10"/>
          <p:cNvSpPr/>
          <p:nvPr/>
        </p:nvSpPr>
        <p:spPr>
          <a:xfrm>
            <a:off x="7589520" y="2743200"/>
            <a:ext cx="3474720" cy="274320"/>
          </a:xfrm>
          <a:prstGeom prst="rect">
            <a:avLst/>
          </a:prstGeom>
          <a:noFill/>
          <a:ln/>
        </p:spPr>
        <p:txBody>
          <a:bodyPr wrap="square" lIns="0" tIns="0" rIns="0" bIns="0" rtlCol="0" anchor="ctr"/>
          <a:lstStyle/>
          <a:p>
            <a:pPr marL="0" indent="0">
              <a:buNone/>
            </a:pPr>
            <a:r>
              <a:rPr lang="en-US" sz="1200" b="1" kern="0" spc="200" dirty="0">
                <a:solidFill>
                  <a:srgbClr val="F0A868"/>
                </a:solidFill>
                <a:latin typeface="Quicksand" pitchFamily="34" charset="0"/>
                <a:ea typeface="Quicksand" pitchFamily="34" charset="-122"/>
                <a:cs typeface="Quicksand" pitchFamily="34" charset="-120"/>
              </a:rPr>
              <a:t>LE CHOIX</a:t>
            </a:r>
            <a:endParaRPr lang="en-US" sz="1200" dirty="0"/>
          </a:p>
        </p:txBody>
      </p:sp>
      <p:sp>
        <p:nvSpPr>
          <p:cNvPr id="14" name="Text 11"/>
          <p:cNvSpPr/>
          <p:nvPr/>
        </p:nvSpPr>
        <p:spPr>
          <a:xfrm>
            <a:off x="7589520" y="3154680"/>
            <a:ext cx="3474720" cy="1554480"/>
          </a:xfrm>
          <a:prstGeom prst="rect">
            <a:avLst/>
          </a:prstGeom>
          <a:noFill/>
          <a:ln/>
        </p:spPr>
        <p:txBody>
          <a:bodyPr wrap="square" lIns="0" tIns="0" rIns="0" bIns="0" rtlCol="0" anchor="t"/>
          <a:lstStyle/>
          <a:p>
            <a:pPr marL="0" indent="0">
              <a:lnSpc>
                <a:spcPts val="2200"/>
              </a:lnSpc>
              <a:buNone/>
            </a:pPr>
            <a:r>
              <a:rPr lang="en-US" sz="1550" dirty="0">
                <a:solidFill>
                  <a:srgbClr val="F4F1F8"/>
                </a:solidFill>
                <a:latin typeface="Nunito" pitchFamily="34" charset="0"/>
                <a:ea typeface="Nunito" pitchFamily="34" charset="-122"/>
                <a:cs typeface="Nunito" pitchFamily="34" charset="-120"/>
              </a:rPr>
              <a:t>Un pipeline complet, de l'idée au webtoon publiable. La valeur tient dans la cohérence sur la durée d'une série.</a:t>
            </a:r>
            <a:endParaRPr lang="en-US" sz="1550" dirty="0"/>
          </a:p>
        </p:txBody>
      </p:sp>
      <p:sp>
        <p:nvSpPr>
          <p:cNvPr id="15" name="Text 12"/>
          <p:cNvSpPr/>
          <p:nvPr/>
        </p:nvSpPr>
        <p:spPr>
          <a:xfrm>
            <a:off x="822960" y="5029200"/>
            <a:ext cx="10424160" cy="731520"/>
          </a:xfrm>
          <a:prstGeom prst="rect">
            <a:avLst/>
          </a:prstGeom>
          <a:noFill/>
          <a:ln/>
        </p:spPr>
        <p:txBody>
          <a:bodyPr wrap="square" lIns="0" tIns="0" rIns="0" bIns="0" rtlCol="0" anchor="ctr"/>
          <a:lstStyle/>
          <a:p>
            <a:pPr marL="0" indent="0">
              <a:lnSpc>
                <a:spcPts val="2200"/>
              </a:lnSpc>
              <a:buNone/>
            </a:pPr>
            <a:r>
              <a:rPr lang="en-US" sz="1550" i="1" dirty="0">
                <a:solidFill>
                  <a:srgbClr val="B9B1C9"/>
                </a:solidFill>
                <a:latin typeface="Nunito" pitchFamily="34" charset="0"/>
                <a:ea typeface="Nunito" pitchFamily="34" charset="-122"/>
                <a:cs typeface="Nunito" pitchFamily="34" charset="-120"/>
              </a:rPr>
              <a:t>La seule option qui attaque la cause de l'abandon, pas un symptôme. Et la cohérence inter-chapitres crée le fossé concurrentiel.</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LA SOLUTION</a:t>
            </a:r>
            <a:endParaRPr lang="en-US" sz="1300" dirty="0"/>
          </a:p>
        </p:txBody>
      </p:sp>
      <p:pic>
        <p:nvPicPr>
          <p:cNvPr id="3" name="Image 0" descr="C:\Users\kirit\AppData\Local\Temp\claude\C--Users-kirit-OneDrive-Bureau-DreamWeave\1dfcbb64-69b7-40e1-93a9-2561d034242f\scratchpad\deck-memoire\imgb\t10.png"/>
          <p:cNvPicPr>
            <a:picLocks noChangeAspect="1"/>
          </p:cNvPicPr>
          <p:nvPr/>
        </p:nvPicPr>
        <p:blipFill>
          <a:blip r:embed="rId3"/>
          <a:stretch>
            <a:fillRect/>
          </a:stretch>
        </p:blipFill>
        <p:spPr>
          <a:xfrm>
            <a:off x="822960" y="1097280"/>
            <a:ext cx="7555606" cy="508954"/>
          </a:xfrm>
          <a:prstGeom prst="rect">
            <a:avLst/>
          </a:prstGeom>
        </p:spPr>
      </p:pic>
      <p:sp>
        <p:nvSpPr>
          <p:cNvPr id="4" name="Shape 1"/>
          <p:cNvSpPr/>
          <p:nvPr/>
        </p:nvSpPr>
        <p:spPr>
          <a:xfrm>
            <a:off x="822960" y="2560320"/>
            <a:ext cx="2606040" cy="2194560"/>
          </a:xfrm>
          <a:prstGeom prst="roundRect">
            <a:avLst>
              <a:gd name="adj" fmla="val 4167"/>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5" name="Text 2"/>
          <p:cNvSpPr/>
          <p:nvPr/>
        </p:nvSpPr>
        <p:spPr>
          <a:xfrm>
            <a:off x="1051560" y="274320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1</a:t>
            </a:r>
            <a:endParaRPr lang="en-US" sz="2200" dirty="0"/>
          </a:p>
        </p:txBody>
      </p:sp>
      <p:sp>
        <p:nvSpPr>
          <p:cNvPr id="6" name="Text 3"/>
          <p:cNvSpPr/>
          <p:nvPr/>
        </p:nvSpPr>
        <p:spPr>
          <a:xfrm>
            <a:off x="1051560" y="3246120"/>
            <a:ext cx="2148840" cy="457200"/>
          </a:xfrm>
          <a:prstGeom prst="rect">
            <a:avLst/>
          </a:prstGeom>
          <a:noFill/>
          <a:ln/>
        </p:spPr>
        <p:txBody>
          <a:bodyPr wrap="square" lIns="0" tIns="0" rIns="0" bIns="0" rtlCol="0" anchor="ctr"/>
          <a:lstStyle/>
          <a:p>
            <a:pPr marL="0" indent="0">
              <a:buNone/>
            </a:pPr>
            <a:r>
              <a:rPr lang="en-US" sz="1800" b="1" dirty="0">
                <a:solidFill>
                  <a:srgbClr val="F4F1F8"/>
                </a:solidFill>
                <a:latin typeface="Quicksand" pitchFamily="34" charset="0"/>
                <a:ea typeface="Quicksand" pitchFamily="34" charset="-122"/>
                <a:cs typeface="Quicksand" pitchFamily="34" charset="-120"/>
              </a:rPr>
              <a:t>Style</a:t>
            </a:r>
            <a:endParaRPr lang="en-US" sz="1800" dirty="0"/>
          </a:p>
        </p:txBody>
      </p:sp>
      <p:sp>
        <p:nvSpPr>
          <p:cNvPr id="7" name="Text 4"/>
          <p:cNvSpPr/>
          <p:nvPr/>
        </p:nvSpPr>
        <p:spPr>
          <a:xfrm>
            <a:off x="1051560" y="374904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Direction artistique de référence</a:t>
            </a:r>
            <a:endParaRPr lang="en-US" sz="1350" dirty="0"/>
          </a:p>
        </p:txBody>
      </p:sp>
      <p:sp>
        <p:nvSpPr>
          <p:cNvPr id="8" name="Shape 5"/>
          <p:cNvSpPr/>
          <p:nvPr/>
        </p:nvSpPr>
        <p:spPr>
          <a:xfrm>
            <a:off x="3630168" y="2560320"/>
            <a:ext cx="2606040" cy="2194560"/>
          </a:xfrm>
          <a:prstGeom prst="roundRect">
            <a:avLst>
              <a:gd name="adj" fmla="val 4167"/>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9" name="Text 6"/>
          <p:cNvSpPr/>
          <p:nvPr/>
        </p:nvSpPr>
        <p:spPr>
          <a:xfrm>
            <a:off x="3858768" y="274320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2</a:t>
            </a:r>
            <a:endParaRPr lang="en-US" sz="2200" dirty="0"/>
          </a:p>
        </p:txBody>
      </p:sp>
      <p:sp>
        <p:nvSpPr>
          <p:cNvPr id="10" name="Text 7"/>
          <p:cNvSpPr/>
          <p:nvPr/>
        </p:nvSpPr>
        <p:spPr>
          <a:xfrm>
            <a:off x="3858768" y="3246120"/>
            <a:ext cx="2148840" cy="457200"/>
          </a:xfrm>
          <a:prstGeom prst="rect">
            <a:avLst/>
          </a:prstGeom>
          <a:noFill/>
          <a:ln/>
        </p:spPr>
        <p:txBody>
          <a:bodyPr wrap="square" lIns="0" tIns="0" rIns="0" bIns="0" rtlCol="0" anchor="ctr"/>
          <a:lstStyle/>
          <a:p>
            <a:pPr marL="0" indent="0">
              <a:buNone/>
            </a:pPr>
            <a:r>
              <a:rPr lang="en-US" sz="1800" b="1" dirty="0">
                <a:solidFill>
                  <a:srgbClr val="F4F1F8"/>
                </a:solidFill>
                <a:latin typeface="Quicksand" pitchFamily="34" charset="0"/>
                <a:ea typeface="Quicksand" pitchFamily="34" charset="-122"/>
                <a:cs typeface="Quicksand" pitchFamily="34" charset="-120"/>
              </a:rPr>
              <a:t>Assets</a:t>
            </a:r>
            <a:endParaRPr lang="en-US" sz="1800" dirty="0"/>
          </a:p>
        </p:txBody>
      </p:sp>
      <p:sp>
        <p:nvSpPr>
          <p:cNvPr id="11" name="Text 8"/>
          <p:cNvSpPr/>
          <p:nvPr/>
        </p:nvSpPr>
        <p:spPr>
          <a:xfrm>
            <a:off x="3858768" y="374904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Personnages et décors cohérents</a:t>
            </a:r>
            <a:endParaRPr lang="en-US" sz="1350" dirty="0"/>
          </a:p>
        </p:txBody>
      </p:sp>
      <p:sp>
        <p:nvSpPr>
          <p:cNvPr id="12" name="Shape 9"/>
          <p:cNvSpPr/>
          <p:nvPr/>
        </p:nvSpPr>
        <p:spPr>
          <a:xfrm>
            <a:off x="6437376" y="2560320"/>
            <a:ext cx="2606040" cy="2194560"/>
          </a:xfrm>
          <a:prstGeom prst="roundRect">
            <a:avLst>
              <a:gd name="adj" fmla="val 4167"/>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3" name="Text 10"/>
          <p:cNvSpPr/>
          <p:nvPr/>
        </p:nvSpPr>
        <p:spPr>
          <a:xfrm>
            <a:off x="6665976" y="274320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3</a:t>
            </a:r>
            <a:endParaRPr lang="en-US" sz="2200" dirty="0"/>
          </a:p>
        </p:txBody>
      </p:sp>
      <p:sp>
        <p:nvSpPr>
          <p:cNvPr id="14" name="Text 11"/>
          <p:cNvSpPr/>
          <p:nvPr/>
        </p:nvSpPr>
        <p:spPr>
          <a:xfrm>
            <a:off x="6665976" y="3246120"/>
            <a:ext cx="2148840" cy="457200"/>
          </a:xfrm>
          <a:prstGeom prst="rect">
            <a:avLst/>
          </a:prstGeom>
          <a:noFill/>
          <a:ln/>
        </p:spPr>
        <p:txBody>
          <a:bodyPr wrap="square" lIns="0" tIns="0" rIns="0" bIns="0" rtlCol="0" anchor="ctr"/>
          <a:lstStyle/>
          <a:p>
            <a:pPr marL="0" indent="0">
              <a:buNone/>
            </a:pPr>
            <a:r>
              <a:rPr lang="en-US" sz="1800" b="1" dirty="0">
                <a:solidFill>
                  <a:srgbClr val="F4F1F8"/>
                </a:solidFill>
                <a:latin typeface="Quicksand" pitchFamily="34" charset="0"/>
                <a:ea typeface="Quicksand" pitchFamily="34" charset="-122"/>
                <a:cs typeface="Quicksand" pitchFamily="34" charset="-120"/>
              </a:rPr>
              <a:t>Scénario</a:t>
            </a:r>
            <a:endParaRPr lang="en-US" sz="1800" dirty="0"/>
          </a:p>
        </p:txBody>
      </p:sp>
      <p:sp>
        <p:nvSpPr>
          <p:cNvPr id="15" name="Text 12"/>
          <p:cNvSpPr/>
          <p:nvPr/>
        </p:nvSpPr>
        <p:spPr>
          <a:xfrm>
            <a:off x="6665976" y="374904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Écriture assistée, découpage auto</a:t>
            </a:r>
            <a:endParaRPr lang="en-US" sz="1350" dirty="0"/>
          </a:p>
        </p:txBody>
      </p:sp>
      <p:sp>
        <p:nvSpPr>
          <p:cNvPr id="16" name="Shape 13"/>
          <p:cNvSpPr/>
          <p:nvPr/>
        </p:nvSpPr>
        <p:spPr>
          <a:xfrm>
            <a:off x="9244584" y="2560320"/>
            <a:ext cx="2606040" cy="2194560"/>
          </a:xfrm>
          <a:prstGeom prst="roundRect">
            <a:avLst>
              <a:gd name="adj" fmla="val 4167"/>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7" name="Text 14"/>
          <p:cNvSpPr/>
          <p:nvPr/>
        </p:nvSpPr>
        <p:spPr>
          <a:xfrm>
            <a:off x="9473184" y="2743200"/>
            <a:ext cx="914400" cy="457200"/>
          </a:xfrm>
          <a:prstGeom prst="rect">
            <a:avLst/>
          </a:prstGeom>
          <a:noFill/>
          <a:ln/>
        </p:spPr>
        <p:txBody>
          <a:bodyPr wrap="square" lIns="0" tIns="0" rIns="0" bIns="0" rtlCol="0" anchor="ctr"/>
          <a:lstStyle/>
          <a:p>
            <a:pPr marL="0" indent="0">
              <a:buNone/>
            </a:pPr>
            <a:r>
              <a:rPr lang="en-US" sz="2200" b="1" dirty="0">
                <a:solidFill>
                  <a:srgbClr val="B18CF0"/>
                </a:solidFill>
                <a:latin typeface="Quicksand" pitchFamily="34" charset="0"/>
                <a:ea typeface="Quicksand" pitchFamily="34" charset="-122"/>
                <a:cs typeface="Quicksand" pitchFamily="34" charset="-120"/>
              </a:rPr>
              <a:t>4</a:t>
            </a:r>
            <a:endParaRPr lang="en-US" sz="2200" dirty="0"/>
          </a:p>
        </p:txBody>
      </p:sp>
      <p:sp>
        <p:nvSpPr>
          <p:cNvPr id="18" name="Text 15"/>
          <p:cNvSpPr/>
          <p:nvPr/>
        </p:nvSpPr>
        <p:spPr>
          <a:xfrm>
            <a:off x="9473184" y="3246120"/>
            <a:ext cx="2148840" cy="457200"/>
          </a:xfrm>
          <a:prstGeom prst="rect">
            <a:avLst/>
          </a:prstGeom>
          <a:noFill/>
          <a:ln/>
        </p:spPr>
        <p:txBody>
          <a:bodyPr wrap="square" lIns="0" tIns="0" rIns="0" bIns="0" rtlCol="0" anchor="ctr"/>
          <a:lstStyle/>
          <a:p>
            <a:pPr marL="0" indent="0">
              <a:buNone/>
            </a:pPr>
            <a:r>
              <a:rPr lang="en-US" sz="1800" b="1" dirty="0">
                <a:solidFill>
                  <a:srgbClr val="F4F1F8"/>
                </a:solidFill>
                <a:latin typeface="Quicksand" pitchFamily="34" charset="0"/>
                <a:ea typeface="Quicksand" pitchFamily="34" charset="-122"/>
                <a:cs typeface="Quicksand" pitchFamily="34" charset="-120"/>
              </a:rPr>
              <a:t>Éditeur</a:t>
            </a:r>
            <a:endParaRPr lang="en-US" sz="1800" dirty="0"/>
          </a:p>
        </p:txBody>
      </p:sp>
      <p:sp>
        <p:nvSpPr>
          <p:cNvPr id="19" name="Text 16"/>
          <p:cNvSpPr/>
          <p:nvPr/>
        </p:nvSpPr>
        <p:spPr>
          <a:xfrm>
            <a:off x="9473184" y="3749040"/>
            <a:ext cx="2148840" cy="914400"/>
          </a:xfrm>
          <a:prstGeom prst="rect">
            <a:avLst/>
          </a:prstGeom>
          <a:noFill/>
          <a:ln/>
        </p:spPr>
        <p:txBody>
          <a:bodyPr wrap="square" lIns="0" tIns="0" rIns="0" bIns="0" rtlCol="0" anchor="t"/>
          <a:lstStyle/>
          <a:p>
            <a:pPr marL="0" indent="0">
              <a:lnSpc>
                <a:spcPts val="1900"/>
              </a:lnSpc>
              <a:buNone/>
            </a:pPr>
            <a:r>
              <a:rPr lang="en-US" sz="1350" dirty="0">
                <a:solidFill>
                  <a:srgbClr val="E7E2F0"/>
                </a:solidFill>
                <a:latin typeface="Nunito" pitchFamily="34" charset="0"/>
                <a:ea typeface="Nunito" pitchFamily="34" charset="-122"/>
                <a:cs typeface="Nunito" pitchFamily="34" charset="-120"/>
              </a:rPr>
              <a:t>Composition, bulles, export</a:t>
            </a:r>
            <a:endParaRPr lang="en-US" sz="1350" dirty="0"/>
          </a:p>
        </p:txBody>
      </p:sp>
      <p:sp>
        <p:nvSpPr>
          <p:cNvPr id="20" name="Text 17"/>
          <p:cNvSpPr/>
          <p:nvPr/>
        </p:nvSpPr>
        <p:spPr>
          <a:xfrm>
            <a:off x="822960" y="5120640"/>
            <a:ext cx="10515600" cy="548640"/>
          </a:xfrm>
          <a:prstGeom prst="rect">
            <a:avLst/>
          </a:prstGeom>
          <a:noFill/>
          <a:ln/>
        </p:spPr>
        <p:txBody>
          <a:bodyPr wrap="square" lIns="0" tIns="0" rIns="0" bIns="0" rtlCol="0" anchor="ctr"/>
          <a:lstStyle/>
          <a:p>
            <a:pPr marL="0" indent="0">
              <a:buNone/>
            </a:pPr>
            <a:r>
              <a:rPr lang="en-US" sz="1550" i="1" dirty="0">
                <a:solidFill>
                  <a:srgbClr val="B9B1C9"/>
                </a:solidFill>
                <a:latin typeface="Nunito" pitchFamily="34" charset="0"/>
                <a:ea typeface="Nunito" pitchFamily="34" charset="-122"/>
                <a:cs typeface="Nunito" pitchFamily="34" charset="-120"/>
              </a:rPr>
              <a:t>Des visuels cohérents en secondes, sans savoir dessiner. Ce que vous voyez tourne déjà : le prototype fonctionne.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LA CHARNIÈRE</a:t>
            </a:r>
            <a:endParaRPr lang="en-US" sz="1300" dirty="0"/>
          </a:p>
        </p:txBody>
      </p:sp>
      <p:pic>
        <p:nvPicPr>
          <p:cNvPr id="3" name="Image 0" descr="C:\Users\kirit\AppData\Local\Temp\claude\C--Users-kirit-OneDrive-Bureau-DreamWeave\1dfcbb64-69b7-40e1-93a9-2561d034242f\scratchpad\deck-memoire\imgb\t11.png"/>
          <p:cNvPicPr>
            <a:picLocks noChangeAspect="1"/>
          </p:cNvPicPr>
          <p:nvPr/>
        </p:nvPicPr>
        <p:blipFill>
          <a:blip r:embed="rId3"/>
          <a:stretch>
            <a:fillRect/>
          </a:stretch>
        </p:blipFill>
        <p:spPr>
          <a:xfrm>
            <a:off x="822960" y="1097280"/>
            <a:ext cx="7319493" cy="508954"/>
          </a:xfrm>
          <a:prstGeom prst="rect">
            <a:avLst/>
          </a:prstGeom>
        </p:spPr>
      </p:pic>
      <p:sp>
        <p:nvSpPr>
          <p:cNvPr id="4" name="Text 1"/>
          <p:cNvSpPr/>
          <p:nvPr/>
        </p:nvSpPr>
        <p:spPr>
          <a:xfrm>
            <a:off x="822960" y="2331720"/>
            <a:ext cx="4572000" cy="457200"/>
          </a:xfrm>
          <a:prstGeom prst="rect">
            <a:avLst/>
          </a:prstGeom>
          <a:noFill/>
          <a:ln/>
        </p:spPr>
        <p:txBody>
          <a:bodyPr wrap="square" lIns="0" tIns="0" rIns="0" bIns="0" rtlCol="0" anchor="ctr"/>
          <a:lstStyle/>
          <a:p>
            <a:pPr marL="0" indent="0">
              <a:buNone/>
            </a:pPr>
            <a:r>
              <a:rPr lang="en-US" sz="1550" dirty="0">
                <a:solidFill>
                  <a:srgbClr val="E7E2F0"/>
                </a:solidFill>
                <a:latin typeface="Nunito" pitchFamily="34" charset="0"/>
                <a:ea typeface="Nunito" pitchFamily="34" charset="-122"/>
                <a:cs typeface="Nunito" pitchFamily="34" charset="-120"/>
              </a:rPr>
              <a:t>Barrière artistique</a:t>
            </a:r>
            <a:endParaRPr lang="en-US" sz="1550" dirty="0"/>
          </a:p>
        </p:txBody>
      </p:sp>
      <p:sp>
        <p:nvSpPr>
          <p:cNvPr id="5" name="Text 2"/>
          <p:cNvSpPr/>
          <p:nvPr/>
        </p:nvSpPr>
        <p:spPr>
          <a:xfrm>
            <a:off x="5486400" y="2331720"/>
            <a:ext cx="640080" cy="457200"/>
          </a:xfrm>
          <a:prstGeom prst="rect">
            <a:avLst/>
          </a:prstGeom>
          <a:noFill/>
          <a:ln/>
        </p:spPr>
        <p:txBody>
          <a:bodyPr wrap="square" lIns="0" tIns="0" rIns="0" bIns="0" rtlCol="0" anchor="ctr"/>
          <a:lstStyle/>
          <a:p>
            <a:pPr marL="0" indent="0" algn="ctr">
              <a:buNone/>
            </a:pPr>
            <a:r>
              <a:rPr lang="en-US" sz="1800" b="1" dirty="0">
                <a:solidFill>
                  <a:srgbClr val="B18CF0"/>
                </a:solidFill>
                <a:latin typeface="Quicksand" pitchFamily="34" charset="0"/>
                <a:ea typeface="Quicksand" pitchFamily="34" charset="-122"/>
                <a:cs typeface="Quicksand" pitchFamily="34" charset="-120"/>
              </a:rPr>
              <a:t>→</a:t>
            </a:r>
            <a:endParaRPr lang="en-US" sz="1800" dirty="0"/>
          </a:p>
        </p:txBody>
      </p:sp>
      <p:sp>
        <p:nvSpPr>
          <p:cNvPr id="6" name="Text 3"/>
          <p:cNvSpPr/>
          <p:nvPr/>
        </p:nvSpPr>
        <p:spPr>
          <a:xfrm>
            <a:off x="6217920" y="2331720"/>
            <a:ext cx="493776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Génération IA</a:t>
            </a:r>
            <a:endParaRPr lang="en-US" sz="1600" dirty="0"/>
          </a:p>
        </p:txBody>
      </p:sp>
      <p:sp>
        <p:nvSpPr>
          <p:cNvPr id="7" name="Text 4"/>
          <p:cNvSpPr/>
          <p:nvPr/>
        </p:nvSpPr>
        <p:spPr>
          <a:xfrm>
            <a:off x="822960" y="2935224"/>
            <a:ext cx="4572000" cy="457200"/>
          </a:xfrm>
          <a:prstGeom prst="rect">
            <a:avLst/>
          </a:prstGeom>
          <a:noFill/>
          <a:ln/>
        </p:spPr>
        <p:txBody>
          <a:bodyPr wrap="square" lIns="0" tIns="0" rIns="0" bIns="0" rtlCol="0" anchor="ctr"/>
          <a:lstStyle/>
          <a:p>
            <a:pPr marL="0" indent="0">
              <a:buNone/>
            </a:pPr>
            <a:r>
              <a:rPr lang="en-US" sz="1550" b="1" dirty="0">
                <a:solidFill>
                  <a:srgbClr val="F4F1F8"/>
                </a:solidFill>
                <a:latin typeface="Nunito" pitchFamily="34" charset="0"/>
                <a:ea typeface="Nunito" pitchFamily="34" charset="-122"/>
                <a:cs typeface="Nunito" pitchFamily="34" charset="-120"/>
              </a:rPr>
              <a:t>Incohérence visuelle</a:t>
            </a:r>
            <a:endParaRPr lang="en-US" sz="1550" dirty="0"/>
          </a:p>
        </p:txBody>
      </p:sp>
      <p:sp>
        <p:nvSpPr>
          <p:cNvPr id="8" name="Text 5"/>
          <p:cNvSpPr/>
          <p:nvPr/>
        </p:nvSpPr>
        <p:spPr>
          <a:xfrm>
            <a:off x="5486400" y="2935224"/>
            <a:ext cx="640080" cy="457200"/>
          </a:xfrm>
          <a:prstGeom prst="rect">
            <a:avLst/>
          </a:prstGeom>
          <a:noFill/>
          <a:ln/>
        </p:spPr>
        <p:txBody>
          <a:bodyPr wrap="square" lIns="0" tIns="0" rIns="0" bIns="0" rtlCol="0" anchor="ctr"/>
          <a:lstStyle/>
          <a:p>
            <a:pPr marL="0" indent="0" algn="ctr">
              <a:buNone/>
            </a:pPr>
            <a:r>
              <a:rPr lang="en-US" sz="1800" b="1" dirty="0">
                <a:solidFill>
                  <a:srgbClr val="B18CF0"/>
                </a:solidFill>
                <a:latin typeface="Quicksand" pitchFamily="34" charset="0"/>
                <a:ea typeface="Quicksand" pitchFamily="34" charset="-122"/>
                <a:cs typeface="Quicksand" pitchFamily="34" charset="-120"/>
              </a:rPr>
              <a:t>→</a:t>
            </a:r>
            <a:endParaRPr lang="en-US" sz="1800" dirty="0"/>
          </a:p>
        </p:txBody>
      </p:sp>
      <p:sp>
        <p:nvSpPr>
          <p:cNvPr id="9" name="Text 6"/>
          <p:cNvSpPr/>
          <p:nvPr/>
        </p:nvSpPr>
        <p:spPr>
          <a:xfrm>
            <a:off x="6217920" y="2935224"/>
            <a:ext cx="4937760" cy="457200"/>
          </a:xfrm>
          <a:prstGeom prst="rect">
            <a:avLst/>
          </a:prstGeom>
          <a:noFill/>
          <a:ln/>
        </p:spPr>
        <p:txBody>
          <a:bodyPr wrap="square" lIns="0" tIns="0" rIns="0" bIns="0" rtlCol="0" anchor="ctr"/>
          <a:lstStyle/>
          <a:p>
            <a:pPr marL="0" indent="0">
              <a:buNone/>
            </a:pPr>
            <a:r>
              <a:rPr lang="en-US" sz="1600" b="1" dirty="0">
                <a:solidFill>
                  <a:srgbClr val="6FD6BD"/>
                </a:solidFill>
                <a:latin typeface="Quicksand" pitchFamily="34" charset="0"/>
                <a:ea typeface="Quicksand" pitchFamily="34" charset="-122"/>
                <a:cs typeface="Quicksand" pitchFamily="34" charset="-120"/>
              </a:rPr>
              <a:t>Sheet System</a:t>
            </a:r>
            <a:endParaRPr lang="en-US" sz="1600" dirty="0"/>
          </a:p>
        </p:txBody>
      </p:sp>
      <p:sp>
        <p:nvSpPr>
          <p:cNvPr id="10" name="Text 7"/>
          <p:cNvSpPr/>
          <p:nvPr/>
        </p:nvSpPr>
        <p:spPr>
          <a:xfrm>
            <a:off x="822960" y="3538728"/>
            <a:ext cx="4572000" cy="457200"/>
          </a:xfrm>
          <a:prstGeom prst="rect">
            <a:avLst/>
          </a:prstGeom>
          <a:noFill/>
          <a:ln/>
        </p:spPr>
        <p:txBody>
          <a:bodyPr wrap="square" lIns="0" tIns="0" rIns="0" bIns="0" rtlCol="0" anchor="ctr"/>
          <a:lstStyle/>
          <a:p>
            <a:pPr marL="0" indent="0">
              <a:buNone/>
            </a:pPr>
            <a:r>
              <a:rPr lang="en-US" sz="1550" dirty="0">
                <a:solidFill>
                  <a:srgbClr val="E7E2F0"/>
                </a:solidFill>
                <a:latin typeface="Nunito" pitchFamily="34" charset="0"/>
                <a:ea typeface="Nunito" pitchFamily="34" charset="-122"/>
                <a:cs typeface="Nunito" pitchFamily="34" charset="-120"/>
              </a:rPr>
              <a:t>Fragmentation des outils</a:t>
            </a:r>
            <a:endParaRPr lang="en-US" sz="1550" dirty="0"/>
          </a:p>
        </p:txBody>
      </p:sp>
      <p:sp>
        <p:nvSpPr>
          <p:cNvPr id="11" name="Text 8"/>
          <p:cNvSpPr/>
          <p:nvPr/>
        </p:nvSpPr>
        <p:spPr>
          <a:xfrm>
            <a:off x="5486400" y="3538728"/>
            <a:ext cx="640080" cy="457200"/>
          </a:xfrm>
          <a:prstGeom prst="rect">
            <a:avLst/>
          </a:prstGeom>
          <a:noFill/>
          <a:ln/>
        </p:spPr>
        <p:txBody>
          <a:bodyPr wrap="square" lIns="0" tIns="0" rIns="0" bIns="0" rtlCol="0" anchor="ctr"/>
          <a:lstStyle/>
          <a:p>
            <a:pPr marL="0" indent="0" algn="ctr">
              <a:buNone/>
            </a:pPr>
            <a:r>
              <a:rPr lang="en-US" sz="1800" b="1" dirty="0">
                <a:solidFill>
                  <a:srgbClr val="B18CF0"/>
                </a:solidFill>
                <a:latin typeface="Quicksand" pitchFamily="34" charset="0"/>
                <a:ea typeface="Quicksand" pitchFamily="34" charset="-122"/>
                <a:cs typeface="Quicksand" pitchFamily="34" charset="-120"/>
              </a:rPr>
              <a:t>→</a:t>
            </a:r>
            <a:endParaRPr lang="en-US" sz="1800" dirty="0"/>
          </a:p>
        </p:txBody>
      </p:sp>
      <p:sp>
        <p:nvSpPr>
          <p:cNvPr id="12" name="Text 9"/>
          <p:cNvSpPr/>
          <p:nvPr/>
        </p:nvSpPr>
        <p:spPr>
          <a:xfrm>
            <a:off x="6217920" y="3538728"/>
            <a:ext cx="493776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Tout-en-un</a:t>
            </a:r>
            <a:endParaRPr lang="en-US" sz="1600" dirty="0"/>
          </a:p>
        </p:txBody>
      </p:sp>
      <p:sp>
        <p:nvSpPr>
          <p:cNvPr id="13" name="Text 10"/>
          <p:cNvSpPr/>
          <p:nvPr/>
        </p:nvSpPr>
        <p:spPr>
          <a:xfrm>
            <a:off x="822960" y="4142232"/>
            <a:ext cx="4572000" cy="457200"/>
          </a:xfrm>
          <a:prstGeom prst="rect">
            <a:avLst/>
          </a:prstGeom>
          <a:noFill/>
          <a:ln/>
        </p:spPr>
        <p:txBody>
          <a:bodyPr wrap="square" lIns="0" tIns="0" rIns="0" bIns="0" rtlCol="0" anchor="ctr"/>
          <a:lstStyle/>
          <a:p>
            <a:pPr marL="0" indent="0">
              <a:buNone/>
            </a:pPr>
            <a:r>
              <a:rPr lang="en-US" sz="1550" dirty="0">
                <a:solidFill>
                  <a:srgbClr val="E7E2F0"/>
                </a:solidFill>
                <a:latin typeface="Nunito" pitchFamily="34" charset="0"/>
                <a:ea typeface="Nunito" pitchFamily="34" charset="-122"/>
                <a:cs typeface="Nunito" pitchFamily="34" charset="-120"/>
              </a:rPr>
              <a:t>Coût</a:t>
            </a:r>
            <a:endParaRPr lang="en-US" sz="1550" dirty="0"/>
          </a:p>
        </p:txBody>
      </p:sp>
      <p:sp>
        <p:nvSpPr>
          <p:cNvPr id="14" name="Text 11"/>
          <p:cNvSpPr/>
          <p:nvPr/>
        </p:nvSpPr>
        <p:spPr>
          <a:xfrm>
            <a:off x="5486400" y="4142232"/>
            <a:ext cx="640080" cy="457200"/>
          </a:xfrm>
          <a:prstGeom prst="rect">
            <a:avLst/>
          </a:prstGeom>
          <a:noFill/>
          <a:ln/>
        </p:spPr>
        <p:txBody>
          <a:bodyPr wrap="square" lIns="0" tIns="0" rIns="0" bIns="0" rtlCol="0" anchor="ctr"/>
          <a:lstStyle/>
          <a:p>
            <a:pPr marL="0" indent="0" algn="ctr">
              <a:buNone/>
            </a:pPr>
            <a:r>
              <a:rPr lang="en-US" sz="1800" b="1" dirty="0">
                <a:solidFill>
                  <a:srgbClr val="B18CF0"/>
                </a:solidFill>
                <a:latin typeface="Quicksand" pitchFamily="34" charset="0"/>
                <a:ea typeface="Quicksand" pitchFamily="34" charset="-122"/>
                <a:cs typeface="Quicksand" pitchFamily="34" charset="-120"/>
              </a:rPr>
              <a:t>→</a:t>
            </a:r>
            <a:endParaRPr lang="en-US" sz="1800" dirty="0"/>
          </a:p>
        </p:txBody>
      </p:sp>
      <p:sp>
        <p:nvSpPr>
          <p:cNvPr id="15" name="Text 12"/>
          <p:cNvSpPr/>
          <p:nvPr/>
        </p:nvSpPr>
        <p:spPr>
          <a:xfrm>
            <a:off x="6217920" y="4142232"/>
            <a:ext cx="493776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Crédits</a:t>
            </a:r>
            <a:endParaRPr lang="en-US" sz="1600" dirty="0"/>
          </a:p>
        </p:txBody>
      </p:sp>
      <p:sp>
        <p:nvSpPr>
          <p:cNvPr id="16" name="Text 13"/>
          <p:cNvSpPr/>
          <p:nvPr/>
        </p:nvSpPr>
        <p:spPr>
          <a:xfrm>
            <a:off x="822960" y="4745736"/>
            <a:ext cx="4572000" cy="457200"/>
          </a:xfrm>
          <a:prstGeom prst="rect">
            <a:avLst/>
          </a:prstGeom>
          <a:noFill/>
          <a:ln/>
        </p:spPr>
        <p:txBody>
          <a:bodyPr wrap="square" lIns="0" tIns="0" rIns="0" bIns="0" rtlCol="0" anchor="ctr"/>
          <a:lstStyle/>
          <a:p>
            <a:pPr marL="0" indent="0">
              <a:buNone/>
            </a:pPr>
            <a:r>
              <a:rPr lang="en-US" sz="1550" dirty="0">
                <a:solidFill>
                  <a:srgbClr val="E7E2F0"/>
                </a:solidFill>
                <a:latin typeface="Nunito" pitchFamily="34" charset="0"/>
                <a:ea typeface="Nunito" pitchFamily="34" charset="-122"/>
                <a:cs typeface="Nunito" pitchFamily="34" charset="-120"/>
              </a:rPr>
              <a:t>Complexité</a:t>
            </a:r>
            <a:endParaRPr lang="en-US" sz="1550" dirty="0"/>
          </a:p>
        </p:txBody>
      </p:sp>
      <p:sp>
        <p:nvSpPr>
          <p:cNvPr id="17" name="Text 14"/>
          <p:cNvSpPr/>
          <p:nvPr/>
        </p:nvSpPr>
        <p:spPr>
          <a:xfrm>
            <a:off x="5486400" y="4745736"/>
            <a:ext cx="640080" cy="457200"/>
          </a:xfrm>
          <a:prstGeom prst="rect">
            <a:avLst/>
          </a:prstGeom>
          <a:noFill/>
          <a:ln/>
        </p:spPr>
        <p:txBody>
          <a:bodyPr wrap="square" lIns="0" tIns="0" rIns="0" bIns="0" rtlCol="0" anchor="ctr"/>
          <a:lstStyle/>
          <a:p>
            <a:pPr marL="0" indent="0" algn="ctr">
              <a:buNone/>
            </a:pPr>
            <a:r>
              <a:rPr lang="en-US" sz="1800" b="1" dirty="0">
                <a:solidFill>
                  <a:srgbClr val="B18CF0"/>
                </a:solidFill>
                <a:latin typeface="Quicksand" pitchFamily="34" charset="0"/>
                <a:ea typeface="Quicksand" pitchFamily="34" charset="-122"/>
                <a:cs typeface="Quicksand" pitchFamily="34" charset="-120"/>
              </a:rPr>
              <a:t>→</a:t>
            </a:r>
            <a:endParaRPr lang="en-US" sz="1800" dirty="0"/>
          </a:p>
        </p:txBody>
      </p:sp>
      <p:sp>
        <p:nvSpPr>
          <p:cNvPr id="18" name="Text 15"/>
          <p:cNvSpPr/>
          <p:nvPr/>
        </p:nvSpPr>
        <p:spPr>
          <a:xfrm>
            <a:off x="6217920" y="4745736"/>
            <a:ext cx="493776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Onboarding progressif</a:t>
            </a:r>
            <a:endParaRPr lang="en-US" sz="1600" dirty="0"/>
          </a:p>
        </p:txBody>
      </p:sp>
      <p:sp>
        <p:nvSpPr>
          <p:cNvPr id="19" name="Text 16"/>
          <p:cNvSpPr/>
          <p:nvPr/>
        </p:nvSpPr>
        <p:spPr>
          <a:xfrm>
            <a:off x="822960" y="5577840"/>
            <a:ext cx="10515600" cy="457200"/>
          </a:xfrm>
          <a:prstGeom prst="rect">
            <a:avLst/>
          </a:prstGeom>
          <a:noFill/>
          <a:ln/>
        </p:spPr>
        <p:txBody>
          <a:bodyPr wrap="square" lIns="0" tIns="0" rIns="0" bIns="0" rtlCol="0" anchor="ctr"/>
          <a:lstStyle/>
          <a:p>
            <a:pPr marL="0" indent="0">
              <a:buNone/>
            </a:pPr>
            <a:r>
              <a:rPr lang="en-US" sz="1500" i="1" dirty="0">
                <a:solidFill>
                  <a:srgbClr val="B9B1C9"/>
                </a:solidFill>
                <a:latin typeface="Nunito" pitchFamily="34" charset="0"/>
                <a:ea typeface="Nunito" pitchFamily="34" charset="-122"/>
                <a:cs typeface="Nunito" pitchFamily="34" charset="-120"/>
              </a:rPr>
              <a:t>De cette correspondance terme à terme découle toute l'architecture du produit.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ONBOARDING</a:t>
            </a:r>
            <a:endParaRPr lang="en-US" sz="1300" dirty="0"/>
          </a:p>
        </p:txBody>
      </p:sp>
      <p:pic>
        <p:nvPicPr>
          <p:cNvPr id="3" name="Image 0" descr="C:\Users\kirit\AppData\Local\Temp\claude\C--Users-kirit-OneDrive-Bureau-DreamWeave\1dfcbb64-69b7-40e1-93a9-2561d034242f\scratchpad\deck-memoire\imgb\t12.png"/>
          <p:cNvPicPr>
            <a:picLocks noChangeAspect="1"/>
          </p:cNvPicPr>
          <p:nvPr/>
        </p:nvPicPr>
        <p:blipFill>
          <a:blip r:embed="rId3"/>
          <a:stretch>
            <a:fillRect/>
          </a:stretch>
        </p:blipFill>
        <p:spPr>
          <a:xfrm>
            <a:off x="822960" y="1097280"/>
            <a:ext cx="7267023" cy="398768"/>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D3</a:t>
            </a:r>
            <a:endParaRPr lang="en-US" sz="1100" dirty="0"/>
          </a:p>
        </p:txBody>
      </p:sp>
      <p:sp>
        <p:nvSpPr>
          <p:cNvPr id="6" name="Text 3"/>
          <p:cNvSpPr/>
          <p:nvPr/>
        </p:nvSpPr>
        <p:spPr>
          <a:xfrm>
            <a:off x="822960" y="2468880"/>
            <a:ext cx="5943600" cy="457200"/>
          </a:xfrm>
          <a:prstGeom prst="rect">
            <a:avLst/>
          </a:prstGeom>
          <a:noFill/>
          <a:ln/>
        </p:spPr>
        <p:txBody>
          <a:bodyPr wrap="square" lIns="0" tIns="0" rIns="0" bIns="0" rtlCol="0" anchor="ctr"/>
          <a:lstStyle/>
          <a:p>
            <a:pPr marL="0" indent="0">
              <a:buNone/>
            </a:pPr>
            <a:r>
              <a:rPr lang="en-US" sz="1550" dirty="0">
                <a:solidFill>
                  <a:srgbClr val="B9B1C9"/>
                </a:solidFill>
                <a:latin typeface="Nunito" pitchFamily="34" charset="0"/>
                <a:ea typeface="Nunito" pitchFamily="34" charset="-122"/>
                <a:cs typeface="Nunito" pitchFamily="34" charset="-120"/>
              </a:rPr>
              <a:t>✕  Tout exposer d'un coup : écrasant</a:t>
            </a:r>
            <a:endParaRPr lang="en-US" sz="1550" dirty="0"/>
          </a:p>
        </p:txBody>
      </p:sp>
      <p:sp>
        <p:nvSpPr>
          <p:cNvPr id="7" name="Text 4"/>
          <p:cNvSpPr/>
          <p:nvPr/>
        </p:nvSpPr>
        <p:spPr>
          <a:xfrm>
            <a:off x="822960" y="3017520"/>
            <a:ext cx="5943600" cy="457200"/>
          </a:xfrm>
          <a:prstGeom prst="rect">
            <a:avLst/>
          </a:prstGeom>
          <a:noFill/>
          <a:ln/>
        </p:spPr>
        <p:txBody>
          <a:bodyPr wrap="square" lIns="0" tIns="0" rIns="0" bIns="0" rtlCol="0" anchor="ctr"/>
          <a:lstStyle/>
          <a:p>
            <a:pPr marL="0" indent="0">
              <a:buNone/>
            </a:pPr>
            <a:r>
              <a:rPr lang="en-US" sz="1550" dirty="0">
                <a:solidFill>
                  <a:srgbClr val="B9B1C9"/>
                </a:solidFill>
                <a:latin typeface="Nunito" pitchFamily="34" charset="0"/>
                <a:ea typeface="Nunito" pitchFamily="34" charset="-122"/>
                <a:cs typeface="Nunito" pitchFamily="34" charset="-120"/>
              </a:rPr>
              <a:t>✕  Wizard forcé : frustrant</a:t>
            </a:r>
            <a:endParaRPr lang="en-US" sz="1550" dirty="0"/>
          </a:p>
        </p:txBody>
      </p:sp>
      <p:sp>
        <p:nvSpPr>
          <p:cNvPr id="8" name="Shape 5"/>
          <p:cNvSpPr/>
          <p:nvPr/>
        </p:nvSpPr>
        <p:spPr>
          <a:xfrm>
            <a:off x="822960" y="3749040"/>
            <a:ext cx="6583680" cy="2011680"/>
          </a:xfrm>
          <a:prstGeom prst="roundRect">
            <a:avLst>
              <a:gd name="adj" fmla="val 4545"/>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9" name="Text 6"/>
          <p:cNvSpPr/>
          <p:nvPr/>
        </p:nvSpPr>
        <p:spPr>
          <a:xfrm>
            <a:off x="1097280" y="3977640"/>
            <a:ext cx="5486400" cy="274320"/>
          </a:xfrm>
          <a:prstGeom prst="rect">
            <a:avLst/>
          </a:prstGeom>
          <a:noFill/>
          <a:ln/>
        </p:spPr>
        <p:txBody>
          <a:bodyPr wrap="square" lIns="0" tIns="0" rIns="0" bIns="0" rtlCol="0" anchor="ctr"/>
          <a:lstStyle/>
          <a:p>
            <a:pPr marL="0" indent="0">
              <a:buNone/>
            </a:pPr>
            <a:r>
              <a:rPr lang="en-US" sz="1200" b="1" kern="0" spc="200" dirty="0">
                <a:solidFill>
                  <a:srgbClr val="F0A868"/>
                </a:solidFill>
                <a:latin typeface="Quicksand" pitchFamily="34" charset="0"/>
                <a:ea typeface="Quicksand" pitchFamily="34" charset="-122"/>
                <a:cs typeface="Quicksand" pitchFamily="34" charset="-120"/>
              </a:rPr>
              <a:t>LE CHOIX</a:t>
            </a:r>
            <a:endParaRPr lang="en-US" sz="1200" dirty="0"/>
          </a:p>
        </p:txBody>
      </p:sp>
      <p:sp>
        <p:nvSpPr>
          <p:cNvPr id="10" name="Text 7"/>
          <p:cNvSpPr/>
          <p:nvPr/>
        </p:nvSpPr>
        <p:spPr>
          <a:xfrm>
            <a:off x="1097280" y="4343400"/>
            <a:ext cx="6035040" cy="1280160"/>
          </a:xfrm>
          <a:prstGeom prst="rect">
            <a:avLst/>
          </a:prstGeom>
          <a:noFill/>
          <a:ln/>
        </p:spPr>
        <p:txBody>
          <a:bodyPr wrap="square" lIns="0" tIns="0" rIns="0" bIns="0" rtlCol="0" anchor="t"/>
          <a:lstStyle/>
          <a:p>
            <a:pPr marL="0" indent="0">
              <a:lnSpc>
                <a:spcPts val="2300"/>
              </a:lnSpc>
              <a:buNone/>
            </a:pPr>
            <a:r>
              <a:rPr lang="en-US" sz="1600" dirty="0">
                <a:solidFill>
                  <a:srgbClr val="F4F1F8"/>
                </a:solidFill>
                <a:latin typeface="Nunito" pitchFamily="34" charset="0"/>
                <a:ea typeface="Nunito" pitchFamily="34" charset="-122"/>
                <a:cs typeface="Nunito" pitchFamily="34" charset="-120"/>
              </a:rPr>
              <a:t>Déblocage progressif guidé par Ariane, avec des badges « New ». Time-to-value sous 10 minutes, sans sacrifier la profondeur.</a:t>
            </a:r>
            <a:endParaRPr lang="en-US" sz="1600" dirty="0"/>
          </a:p>
        </p:txBody>
      </p:sp>
      <p:sp>
        <p:nvSpPr>
          <p:cNvPr id="11" name="Text 8"/>
          <p:cNvSpPr/>
          <p:nvPr/>
        </p:nvSpPr>
        <p:spPr>
          <a:xfrm>
            <a:off x="7680960" y="3749040"/>
            <a:ext cx="3657600" cy="2011680"/>
          </a:xfrm>
          <a:prstGeom prst="rect">
            <a:avLst/>
          </a:prstGeom>
          <a:noFill/>
          <a:ln/>
        </p:spPr>
        <p:txBody>
          <a:bodyPr wrap="square" lIns="0" tIns="0" rIns="0" bIns="0" rtlCol="0" anchor="t"/>
          <a:lstStyle/>
          <a:p>
            <a:pPr marL="0" indent="0">
              <a:lnSpc>
                <a:spcPts val="2300"/>
              </a:lnSpc>
              <a:buNone/>
            </a:pPr>
            <a:r>
              <a:rPr lang="en-US" sz="1550" i="1" dirty="0">
                <a:solidFill>
                  <a:srgbClr val="B9B1C9"/>
                </a:solidFill>
                <a:latin typeface="Nunito" pitchFamily="34" charset="0"/>
                <a:ea typeface="Nunito" pitchFamily="34" charset="-122"/>
                <a:cs typeface="Nunito" pitchFamily="34" charset="-120"/>
              </a:rPr>
              <a:t>La logique des outils créatifs qui réussissent leur adoption : puissant sans être intimidant.</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CŒUR TECHNIQUE 1</a:t>
            </a:r>
            <a:endParaRPr lang="en-US" sz="1300" dirty="0"/>
          </a:p>
        </p:txBody>
      </p:sp>
      <p:pic>
        <p:nvPicPr>
          <p:cNvPr id="3" name="Image 0" descr="C:\Users\kirit\AppData\Local\Temp\claude\C--Users-kirit-OneDrive-Bureau-DreamWeave\1dfcbb64-69b7-40e1-93a9-2561d034242f\scratchpad\deck-memoire\imgb\t13.png"/>
          <p:cNvPicPr>
            <a:picLocks noChangeAspect="1"/>
          </p:cNvPicPr>
          <p:nvPr/>
        </p:nvPicPr>
        <p:blipFill>
          <a:blip r:embed="rId3"/>
          <a:stretch>
            <a:fillRect/>
          </a:stretch>
        </p:blipFill>
        <p:spPr>
          <a:xfrm>
            <a:off x="822960" y="1097280"/>
            <a:ext cx="4160830" cy="493213"/>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D6</a:t>
            </a:r>
            <a:endParaRPr lang="en-US" sz="1100" dirty="0"/>
          </a:p>
        </p:txBody>
      </p:sp>
      <p:pic>
        <p:nvPicPr>
          <p:cNvPr id="6" name="Image 1" descr="C:\Users\kirit\AppData\Local\Temp\claude\C--Users-kirit-OneDrive-Bureau-DreamWeave\1dfcbb64-69b7-40e1-93a9-2561d034242f\scratchpad\deck-memoire\imgb\h_90.png"/>
          <p:cNvPicPr>
            <a:picLocks noChangeAspect="1"/>
          </p:cNvPicPr>
          <p:nvPr/>
        </p:nvPicPr>
        <p:blipFill>
          <a:blip r:embed="rId4"/>
          <a:stretch>
            <a:fillRect/>
          </a:stretch>
        </p:blipFill>
        <p:spPr>
          <a:xfrm>
            <a:off x="868680" y="3429000"/>
            <a:ext cx="3983329" cy="1051560"/>
          </a:xfrm>
          <a:prstGeom prst="rect">
            <a:avLst/>
          </a:prstGeom>
        </p:spPr>
      </p:pic>
      <p:sp>
        <p:nvSpPr>
          <p:cNvPr id="7" name="Text 3"/>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du bénéfice d'un LoRA, pour une fraction du coût</a:t>
            </a:r>
            <a:endParaRPr lang="en-US" sz="1650" dirty="0"/>
          </a:p>
        </p:txBody>
      </p:sp>
      <p:sp>
        <p:nvSpPr>
          <p:cNvPr id="8" name="Text 4"/>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Problème : le même prompt donne un personnage différent</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Écarté : seed fixe (casse), LoRA par perso (coûteux, lent)</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Retenu : </a:t>
            </a:r>
            <a:r>
              <a:rPr lang="en-US" sz="1700" b="1" dirty="0">
                <a:solidFill>
                  <a:srgbClr val="C7A4FF"/>
                </a:solidFill>
                <a:latin typeface="Nunito" pitchFamily="34" charset="0"/>
                <a:ea typeface="Nunito" pitchFamily="34" charset="-122"/>
                <a:cs typeface="Nunito" pitchFamily="34" charset="-120"/>
              </a:rPr>
              <a:t>fiche 4 angles</a:t>
            </a:r>
            <a:r>
              <a:rPr lang="en-US" sz="1700" dirty="0">
                <a:solidFill>
                  <a:srgbClr val="E7E2F0"/>
                </a:solidFill>
                <a:latin typeface="Nunito" pitchFamily="34" charset="0"/>
                <a:ea typeface="Nunito" pitchFamily="34" charset="-122"/>
                <a:cs typeface="Nunito" pitchFamily="34" charset="-120"/>
              </a:rPr>
              <a:t> injectée via </a:t>
            </a:r>
            <a:r>
              <a:rPr lang="en-US" sz="1700" b="1" dirty="0">
                <a:solidFill>
                  <a:srgbClr val="C7A4FF"/>
                </a:solidFill>
                <a:latin typeface="Nunito" pitchFamily="34" charset="0"/>
                <a:ea typeface="Nunito" pitchFamily="34" charset="-122"/>
                <a:cs typeface="Nunito" pitchFamily="34" charset="-120"/>
              </a:rPr>
              <a:t>FLUX.2 Pro Edit</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~20 itérations de prompt engineering pour stabiliser</a:t>
            </a:r>
            <a:endParaRPr lang="en-US" sz="1700" dirty="0"/>
          </a:p>
        </p:txBody>
      </p:sp>
      <p:sp>
        <p:nvSpPr>
          <p:cNvPr id="9" name="Text 5"/>
          <p:cNvSpPr/>
          <p:nvPr/>
        </p:nvSpPr>
        <p:spPr>
          <a:xfrm>
            <a:off x="822960" y="6172200"/>
            <a:ext cx="10515600" cy="457200"/>
          </a:xfrm>
          <a:prstGeom prst="rect">
            <a:avLst/>
          </a:prstGeom>
          <a:noFill/>
          <a:ln/>
        </p:spPr>
        <p:txBody>
          <a:bodyPr wrap="square" lIns="0" tIns="0" rIns="0" bIns="0" rtlCol="0" anchor="ctr"/>
          <a:lstStyle/>
          <a:p>
            <a:pPr marL="0" indent="0">
              <a:buNone/>
            </a:pPr>
            <a:r>
              <a:rPr lang="en-US" sz="1550" b="1" i="1" dirty="0">
                <a:solidFill>
                  <a:srgbClr val="C7A4FF"/>
                </a:solidFill>
                <a:latin typeface="Quicksand" pitchFamily="34" charset="0"/>
                <a:ea typeface="Quicksand" pitchFamily="34" charset="-122"/>
                <a:cs typeface="Quicksand" pitchFamily="34" charset="-120"/>
              </a:rPr>
              <a:t>« La solution suffisante et livrable bat la solution parfaite et inatteignable. »</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CŒUR TECHNIQUE 2</a:t>
            </a:r>
            <a:endParaRPr lang="en-US" sz="1300" dirty="0"/>
          </a:p>
        </p:txBody>
      </p:sp>
      <p:pic>
        <p:nvPicPr>
          <p:cNvPr id="3" name="Image 0" descr="C:\Users\kirit\AppData\Local\Temp\claude\C--Users-kirit-OneDrive-Bureau-DreamWeave\1dfcbb64-69b7-40e1-93a9-2561d034242f\scratchpad\deck-memoire\imgb\t14.png"/>
          <p:cNvPicPr>
            <a:picLocks noChangeAspect="1"/>
          </p:cNvPicPr>
          <p:nvPr/>
        </p:nvPicPr>
        <p:blipFill>
          <a:blip r:embed="rId3"/>
          <a:stretch>
            <a:fillRect/>
          </a:stretch>
        </p:blipFill>
        <p:spPr>
          <a:xfrm>
            <a:off x="822960" y="1097280"/>
            <a:ext cx="5042317" cy="508954"/>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D7</a:t>
            </a:r>
            <a:endParaRPr lang="en-US" sz="1100" dirty="0"/>
          </a:p>
        </p:txBody>
      </p:sp>
      <p:sp>
        <p:nvSpPr>
          <p:cNvPr id="6" name="Text 3"/>
          <p:cNvSpPr/>
          <p:nvPr/>
        </p:nvSpPr>
        <p:spPr>
          <a:xfrm>
            <a:off x="822960" y="2468880"/>
            <a:ext cx="6400800" cy="3657600"/>
          </a:xfrm>
          <a:prstGeom prst="rect">
            <a:avLst/>
          </a:prstGeom>
          <a:noFill/>
          <a:ln/>
        </p:spPr>
        <p:txBody>
          <a:bodyPr wrap="square" lIns="0" tIns="0" rIns="0" bIns="0" rtlCol="0" anchor="t"/>
          <a:lstStyle/>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Une case est une composition de plusieurs blocs, pas une image unique</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Layout JSONB : chaque bloc porte coordonnées, dimensions, prompt, références</a:t>
            </a:r>
            <a:endParaRPr lang="en-US" sz="1600" dirty="0"/>
          </a:p>
          <a:p>
            <a:pPr marL="0" indent="0">
              <a:lnSpc>
                <a:spcPts val="2240"/>
              </a:lnSpc>
              <a:buNone/>
            </a:pPr>
            <a:r>
              <a:rPr lang="en-US" sz="1600" b="1" dirty="0">
                <a:solidFill>
                  <a:srgbClr val="B18CF0"/>
                </a:solidFill>
                <a:latin typeface="Nunito" pitchFamily="34" charset="0"/>
                <a:ea typeface="Nunito" pitchFamily="34" charset="-122"/>
                <a:cs typeface="Nunito" pitchFamily="34" charset="-120"/>
              </a:rPr>
              <a:t>•   </a:t>
            </a:r>
            <a:r>
              <a:rPr lang="en-US" sz="1600" dirty="0">
                <a:solidFill>
                  <a:srgbClr val="E7E2F0"/>
                </a:solidFill>
                <a:latin typeface="Nunito" pitchFamily="34" charset="0"/>
                <a:ea typeface="Nunito" pitchFamily="34" charset="-122"/>
                <a:cs typeface="Nunito" pitchFamily="34" charset="-120"/>
              </a:rPr>
              <a:t>Chaque bloc se génère indépendamment</a:t>
            </a:r>
            <a:endParaRPr lang="en-US" sz="1600" dirty="0"/>
          </a:p>
        </p:txBody>
      </p:sp>
      <p:sp>
        <p:nvSpPr>
          <p:cNvPr id="7" name="Shape 4"/>
          <p:cNvSpPr/>
          <p:nvPr/>
        </p:nvSpPr>
        <p:spPr>
          <a:xfrm>
            <a:off x="7589520" y="2286000"/>
            <a:ext cx="3749040" cy="3108960"/>
          </a:xfrm>
          <a:prstGeom prst="roundRect">
            <a:avLst>
              <a:gd name="adj" fmla="val 2941"/>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8" name="Text 5"/>
          <p:cNvSpPr/>
          <p:nvPr/>
        </p:nvSpPr>
        <p:spPr>
          <a:xfrm>
            <a:off x="7863840" y="3017520"/>
            <a:ext cx="3291840" cy="1828800"/>
          </a:xfrm>
          <a:prstGeom prst="rect">
            <a:avLst/>
          </a:prstGeom>
          <a:noFill/>
          <a:ln/>
        </p:spPr>
        <p:txBody>
          <a:bodyPr wrap="square" lIns="0" tIns="0" rIns="0" bIns="0" rtlCol="0" anchor="ctr"/>
          <a:lstStyle/>
          <a:p>
            <a:pPr marL="0" indent="0" algn="ctr">
              <a:lnSpc>
                <a:spcPts val="2400"/>
              </a:lnSpc>
              <a:buNone/>
            </a:pPr>
            <a:r>
              <a:rPr lang="en-US" sz="1550" dirty="0">
                <a:solidFill>
                  <a:srgbClr val="F4F1F8"/>
                </a:solidFill>
                <a:latin typeface="Nunito" pitchFamily="34" charset="0"/>
                <a:ea typeface="Nunito" pitchFamily="34" charset="-122"/>
                <a:cs typeface="Nunito" pitchFamily="34" charset="-120"/>
              </a:rPr>
              <a:t>Régénérer un seul bloc</a:t>
            </a:r>
            <a:endParaRPr lang="en-US" sz="1550" dirty="0"/>
          </a:p>
          <a:p>
            <a:pPr marL="0" indent="0" algn="ctr">
              <a:lnSpc>
                <a:spcPts val="2400"/>
              </a:lnSpc>
              <a:buNone/>
            </a:pPr>
            <a:r>
              <a:rPr lang="en-US" sz="1550" dirty="0">
                <a:solidFill>
                  <a:srgbClr val="F4F1F8"/>
                </a:solidFill>
                <a:latin typeface="Nunito" pitchFamily="34" charset="0"/>
                <a:ea typeface="Nunito" pitchFamily="34" charset="-122"/>
                <a:cs typeface="Nunito" pitchFamily="34" charset="-120"/>
              </a:rPr>
              <a:t>sans toucher aux autres :</a:t>
            </a:r>
            <a:endParaRPr lang="en-US" sz="1550" dirty="0"/>
          </a:p>
          <a:p>
            <a:pPr marL="0" indent="0" algn="ctr">
              <a:lnSpc>
                <a:spcPts val="2400"/>
              </a:lnSpc>
              <a:buNone/>
            </a:pPr>
            <a:r>
              <a:rPr lang="en-US" sz="1550" dirty="0">
                <a:solidFill>
                  <a:srgbClr val="F4F1F8"/>
                </a:solidFill>
                <a:latin typeface="Nunito" pitchFamily="34" charset="0"/>
                <a:ea typeface="Nunito" pitchFamily="34" charset="-122"/>
                <a:cs typeface="Nunito" pitchFamily="34" charset="-120"/>
              </a:rPr>
              <a:t>indispensable à un</a:t>
            </a:r>
            <a:endParaRPr lang="en-US" sz="1550" dirty="0"/>
          </a:p>
          <a:p>
            <a:pPr marL="0" indent="0" algn="ctr">
              <a:lnSpc>
                <a:spcPts val="2400"/>
              </a:lnSpc>
              <a:buNone/>
            </a:pPr>
            <a:r>
              <a:rPr lang="en-US" sz="1550" dirty="0">
                <a:solidFill>
                  <a:srgbClr val="F4F1F8"/>
                </a:solidFill>
                <a:latin typeface="Nunito" pitchFamily="34" charset="0"/>
                <a:ea typeface="Nunito" pitchFamily="34" charset="-122"/>
                <a:cs typeface="Nunito" pitchFamily="34" charset="-120"/>
              </a:rPr>
              <a:t>workflow créatif itératif.</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CŒUR TECHNIQUE 3</a:t>
            </a:r>
            <a:endParaRPr lang="en-US" sz="1300" dirty="0"/>
          </a:p>
        </p:txBody>
      </p:sp>
      <p:pic>
        <p:nvPicPr>
          <p:cNvPr id="3" name="Image 0" descr="C:\Users\kirit\AppData\Local\Temp\claude\C--Users-kirit-OneDrive-Bureau-DreamWeave\1dfcbb64-69b7-40e1-93a9-2561d034242f\scratchpad\deck-memoire\imgb\t15.png"/>
          <p:cNvPicPr>
            <a:picLocks noChangeAspect="1"/>
          </p:cNvPicPr>
          <p:nvPr/>
        </p:nvPicPr>
        <p:blipFill>
          <a:blip r:embed="rId3"/>
          <a:stretch>
            <a:fillRect/>
          </a:stretch>
        </p:blipFill>
        <p:spPr>
          <a:xfrm>
            <a:off x="822960" y="1097280"/>
            <a:ext cx="2623474" cy="393521"/>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D8</a:t>
            </a:r>
            <a:endParaRPr lang="en-US" sz="1100" dirty="0"/>
          </a:p>
        </p:txBody>
      </p:sp>
      <p:pic>
        <p:nvPicPr>
          <p:cNvPr id="6" name="Image 1" descr="C:\Users\kirit\AppData\Local\Temp\claude\C--Users-kirit-OneDrive-Bureau-DreamWeave\1dfcbb64-69b7-40e1-93a9-2561d034242f\scratchpad\deck-memoire\imgb\h_50.png"/>
          <p:cNvPicPr>
            <a:picLocks noChangeAspect="1"/>
          </p:cNvPicPr>
          <p:nvPr/>
        </p:nvPicPr>
        <p:blipFill>
          <a:blip r:embed="rId4"/>
          <a:stretch>
            <a:fillRect/>
          </a:stretch>
        </p:blipFill>
        <p:spPr>
          <a:xfrm>
            <a:off x="868680" y="3429000"/>
            <a:ext cx="2395220" cy="1051560"/>
          </a:xfrm>
          <a:prstGeom prst="rect">
            <a:avLst/>
          </a:prstGeom>
        </p:spPr>
      </p:pic>
      <p:sp>
        <p:nvSpPr>
          <p:cNvPr id="7" name="Text 3"/>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tokens par chapitre, contre ~850 en brut</a:t>
            </a:r>
            <a:endParaRPr lang="en-US" sz="1650" dirty="0"/>
          </a:p>
        </p:txBody>
      </p:sp>
      <p:sp>
        <p:nvSpPr>
          <p:cNvPr id="8" name="Text 4"/>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Injecter tous les chapitres fait exploser le contexte à 50 chapitres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Écarté : tout injecter, fenêtre glissante (</a:t>
            </a:r>
            <a:r>
              <a:rPr lang="en-US" sz="1700" b="1" dirty="0">
                <a:solidFill>
                  <a:srgbClr val="E389B5"/>
                </a:solidFill>
                <a:latin typeface="Nunito" pitchFamily="34" charset="0"/>
                <a:ea typeface="Nunito" pitchFamily="34" charset="-122"/>
                <a:cs typeface="Nunito" pitchFamily="34" charset="-120"/>
              </a:rPr>
              <a:t>perd le lore ancien</a:t>
            </a:r>
            <a:r>
              <a:rPr lang="en-US" sz="1700" dirty="0">
                <a:solidFill>
                  <a:srgbClr val="E7E2F0"/>
                </a:solidFill>
                <a:latin typeface="Nunito" pitchFamily="34" charset="0"/>
                <a:ea typeface="Nunito" pitchFamily="34" charset="-122"/>
                <a:cs typeface="Nunito" pitchFamily="34" charset="-120"/>
              </a:rPr>
              <a:t>)</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Retenu : compression + </a:t>
            </a:r>
            <a:r>
              <a:rPr lang="en-US" sz="1700" b="1" dirty="0">
                <a:solidFill>
                  <a:srgbClr val="C7A4FF"/>
                </a:solidFill>
                <a:latin typeface="Nunito" pitchFamily="34" charset="0"/>
                <a:ea typeface="Nunito" pitchFamily="34" charset="-122"/>
                <a:cs typeface="Nunito" pitchFamily="34" charset="-120"/>
              </a:rPr>
              <a:t>recherche vectorielle</a:t>
            </a:r>
            <a:r>
              <a:rPr lang="en-US" sz="1700" dirty="0">
                <a:solidFill>
                  <a:srgbClr val="E7E2F0"/>
                </a:solidFill>
                <a:latin typeface="Nunito" pitchFamily="34" charset="0"/>
                <a:ea typeface="Nunito" pitchFamily="34" charset="-122"/>
                <a:cs typeface="Nunito" pitchFamily="34" charset="-120"/>
              </a:rPr>
              <a:t> (Gemini 768D, </a:t>
            </a:r>
            <a:r>
              <a:rPr lang="en-US" sz="1700" b="1" dirty="0">
                <a:solidFill>
                  <a:srgbClr val="C7A4FF"/>
                </a:solidFill>
                <a:latin typeface="Nunito" pitchFamily="34" charset="0"/>
                <a:ea typeface="Nunito" pitchFamily="34" charset="-122"/>
                <a:cs typeface="Nunito" pitchFamily="34" charset="-120"/>
              </a:rPr>
              <a:t>pgvector</a:t>
            </a:r>
            <a:r>
              <a:rPr lang="en-US" sz="1700" dirty="0">
                <a:solidFill>
                  <a:srgbClr val="E7E2F0"/>
                </a:solidFill>
                <a:latin typeface="Nunito" pitchFamily="34" charset="0"/>
                <a:ea typeface="Nunito" pitchFamily="34" charset="-122"/>
                <a:cs typeface="Nunito" pitchFamily="34" charset="-120"/>
              </a:rPr>
              <a:t>)</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L'auteur ne voit que les alertes d'</a:t>
            </a:r>
            <a:r>
              <a:rPr lang="en-US" sz="1700" b="1" dirty="0">
                <a:solidFill>
                  <a:srgbClr val="C7A4FF"/>
                </a:solidFill>
                <a:latin typeface="Nunito" pitchFamily="34" charset="0"/>
                <a:ea typeface="Nunito" pitchFamily="34" charset="-122"/>
                <a:cs typeface="Nunito" pitchFamily="34" charset="-120"/>
              </a:rPr>
              <a:t>Ariane</a:t>
            </a:r>
            <a:r>
              <a:rPr lang="en-US" sz="1700" dirty="0">
                <a:solidFill>
                  <a:srgbClr val="E7E2F0"/>
                </a:solidFill>
                <a:latin typeface="Nunito" pitchFamily="34" charset="0"/>
                <a:ea typeface="Nunito" pitchFamily="34" charset="-122"/>
                <a:cs typeface="Nunito" pitchFamily="34" charset="-120"/>
              </a:rPr>
              <a:t>, jamais la plomberie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MODÈLE</a:t>
            </a:r>
            <a:endParaRPr lang="en-US" sz="1300" dirty="0"/>
          </a:p>
        </p:txBody>
      </p:sp>
      <p:pic>
        <p:nvPicPr>
          <p:cNvPr id="3" name="Image 0" descr="C:\Users\kirit\AppData\Local\Temp\claude\C--Users-kirit-OneDrive-Bureau-DreamWeave\1dfcbb64-69b7-40e1-93a9-2561d034242f\scratchpad\deck-memoire\imgb\t16.png"/>
          <p:cNvPicPr>
            <a:picLocks noChangeAspect="1"/>
          </p:cNvPicPr>
          <p:nvPr/>
        </p:nvPicPr>
        <p:blipFill>
          <a:blip r:embed="rId3"/>
          <a:stretch>
            <a:fillRect/>
          </a:stretch>
        </p:blipFill>
        <p:spPr>
          <a:xfrm>
            <a:off x="822960" y="1097280"/>
            <a:ext cx="5782137" cy="393521"/>
          </a:xfrm>
          <a:prstGeom prst="rect">
            <a:avLst/>
          </a:prstGeom>
        </p:spPr>
      </p:pic>
      <p:sp>
        <p:nvSpPr>
          <p:cNvPr id="4" name="Shape 1"/>
          <p:cNvSpPr/>
          <p:nvPr/>
        </p:nvSpPr>
        <p:spPr>
          <a:xfrm>
            <a:off x="822960" y="2377440"/>
            <a:ext cx="51206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5" name="Text 2"/>
          <p:cNvSpPr/>
          <p:nvPr/>
        </p:nvSpPr>
        <p:spPr>
          <a:xfrm>
            <a:off x="1097280" y="2606040"/>
            <a:ext cx="4572000" cy="274320"/>
          </a:xfrm>
          <a:prstGeom prst="rect">
            <a:avLst/>
          </a:prstGeom>
          <a:noFill/>
          <a:ln/>
        </p:spPr>
        <p:txBody>
          <a:bodyPr wrap="square" lIns="0" tIns="0" rIns="0" bIns="0" rtlCol="0" anchor="ctr"/>
          <a:lstStyle/>
          <a:p>
            <a:pPr marL="0" indent="0">
              <a:buNone/>
            </a:pPr>
            <a:r>
              <a:rPr lang="en-US" sz="1200" b="1" kern="0" spc="100" dirty="0">
                <a:solidFill>
                  <a:srgbClr val="B18CF0"/>
                </a:solidFill>
                <a:latin typeface="Quicksand" pitchFamily="34" charset="0"/>
                <a:ea typeface="Quicksand" pitchFamily="34" charset="-122"/>
                <a:cs typeface="Quicksand" pitchFamily="34" charset="-120"/>
              </a:rPr>
              <a:t>PARTENAIRES</a:t>
            </a:r>
            <a:endParaRPr lang="en-US" sz="1200" dirty="0"/>
          </a:p>
        </p:txBody>
      </p:sp>
      <p:sp>
        <p:nvSpPr>
          <p:cNvPr id="6" name="Text 3"/>
          <p:cNvSpPr/>
          <p:nvPr/>
        </p:nvSpPr>
        <p:spPr>
          <a:xfrm>
            <a:off x="1097280" y="2971800"/>
            <a:ext cx="4572000" cy="822960"/>
          </a:xfrm>
          <a:prstGeom prst="rect">
            <a:avLst/>
          </a:prstGeom>
          <a:noFill/>
          <a:ln/>
        </p:spPr>
        <p:txBody>
          <a:bodyPr wrap="square" lIns="0" tIns="0" rIns="0" bIns="0" rtlCol="0" anchor="t"/>
          <a:lstStyle/>
          <a:p>
            <a:pPr marL="0" indent="0">
              <a:lnSpc>
                <a:spcPts val="2100"/>
              </a:lnSpc>
              <a:buNone/>
            </a:pPr>
            <a:r>
              <a:rPr lang="en-US" sz="1500" b="1" dirty="0">
                <a:solidFill>
                  <a:srgbClr val="C7A4FF"/>
                </a:solidFill>
                <a:latin typeface="Nunito" pitchFamily="34" charset="0"/>
                <a:ea typeface="Nunito" pitchFamily="34" charset="-122"/>
                <a:cs typeface="Nunito" pitchFamily="34" charset="-120"/>
              </a:rPr>
              <a:t>FAL.ai</a:t>
            </a:r>
            <a:r>
              <a:rPr lang="en-US" sz="1500" dirty="0">
                <a:solidFill>
                  <a:srgbClr val="E7E2F0"/>
                </a:solidFill>
                <a:latin typeface="Nunito" pitchFamily="34" charset="0"/>
                <a:ea typeface="Nunito" pitchFamily="34" charset="-122"/>
                <a:cs typeface="Nunito" pitchFamily="34" charset="-120"/>
              </a:rPr>
              <a:t> · </a:t>
            </a:r>
            <a:r>
              <a:rPr lang="en-US" sz="1500" b="1" dirty="0">
                <a:solidFill>
                  <a:srgbClr val="C7A4FF"/>
                </a:solidFill>
                <a:latin typeface="Nunito" pitchFamily="34" charset="0"/>
                <a:ea typeface="Nunito" pitchFamily="34" charset="-122"/>
                <a:cs typeface="Nunito" pitchFamily="34" charset="-120"/>
              </a:rPr>
              <a:t>Supabase</a:t>
            </a:r>
            <a:r>
              <a:rPr lang="en-US" sz="1500" dirty="0">
                <a:solidFill>
                  <a:srgbClr val="E7E2F0"/>
                </a:solidFill>
                <a:latin typeface="Nunito" pitchFamily="34" charset="0"/>
                <a:ea typeface="Nunito" pitchFamily="34" charset="-122"/>
                <a:cs typeface="Nunito" pitchFamily="34" charset="-120"/>
              </a:rPr>
              <a:t> · </a:t>
            </a:r>
            <a:r>
              <a:rPr lang="en-US" sz="1500" b="1" dirty="0">
                <a:solidFill>
                  <a:srgbClr val="C7A4FF"/>
                </a:solidFill>
                <a:latin typeface="Nunito" pitchFamily="34" charset="0"/>
                <a:ea typeface="Nunito" pitchFamily="34" charset="-122"/>
                <a:cs typeface="Nunito" pitchFamily="34" charset="-120"/>
              </a:rPr>
              <a:t>Vercel</a:t>
            </a:r>
            <a:endParaRPr lang="en-US" sz="1500" dirty="0"/>
          </a:p>
        </p:txBody>
      </p:sp>
      <p:sp>
        <p:nvSpPr>
          <p:cNvPr id="7" name="Shape 4"/>
          <p:cNvSpPr/>
          <p:nvPr/>
        </p:nvSpPr>
        <p:spPr>
          <a:xfrm>
            <a:off x="6172200" y="2377440"/>
            <a:ext cx="51206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8" name="Text 5"/>
          <p:cNvSpPr/>
          <p:nvPr/>
        </p:nvSpPr>
        <p:spPr>
          <a:xfrm>
            <a:off x="6446520" y="2606040"/>
            <a:ext cx="4572000" cy="274320"/>
          </a:xfrm>
          <a:prstGeom prst="rect">
            <a:avLst/>
          </a:prstGeom>
          <a:noFill/>
          <a:ln/>
        </p:spPr>
        <p:txBody>
          <a:bodyPr wrap="square" lIns="0" tIns="0" rIns="0" bIns="0" rtlCol="0" anchor="ctr"/>
          <a:lstStyle/>
          <a:p>
            <a:pPr marL="0" indent="0">
              <a:buNone/>
            </a:pPr>
            <a:r>
              <a:rPr lang="en-US" sz="1200" b="1" kern="0" spc="100" dirty="0">
                <a:solidFill>
                  <a:srgbClr val="B18CF0"/>
                </a:solidFill>
                <a:latin typeface="Quicksand" pitchFamily="34" charset="0"/>
                <a:ea typeface="Quicksand" pitchFamily="34" charset="-122"/>
                <a:cs typeface="Quicksand" pitchFamily="34" charset="-120"/>
              </a:rPr>
              <a:t>RESSOURCES CLÉS</a:t>
            </a:r>
            <a:endParaRPr lang="en-US" sz="1200" dirty="0"/>
          </a:p>
        </p:txBody>
      </p:sp>
      <p:sp>
        <p:nvSpPr>
          <p:cNvPr id="9" name="Text 6"/>
          <p:cNvSpPr/>
          <p:nvPr/>
        </p:nvSpPr>
        <p:spPr>
          <a:xfrm>
            <a:off x="6446520" y="2971800"/>
            <a:ext cx="4572000" cy="822960"/>
          </a:xfrm>
          <a:prstGeom prst="rect">
            <a:avLst/>
          </a:prstGeom>
          <a:noFill/>
          <a:ln/>
        </p:spPr>
        <p:txBody>
          <a:bodyPr wrap="square" lIns="0" tIns="0" rIns="0" bIns="0" rtlCol="0" anchor="t"/>
          <a:lstStyle/>
          <a:p>
            <a:pPr marL="0" indent="0">
              <a:lnSpc>
                <a:spcPts val="2100"/>
              </a:lnSpc>
              <a:buNone/>
            </a:pPr>
            <a:r>
              <a:rPr lang="en-US" sz="1500" b="1" dirty="0">
                <a:solidFill>
                  <a:srgbClr val="C7A4FF"/>
                </a:solidFill>
                <a:latin typeface="Nunito" pitchFamily="34" charset="0"/>
                <a:ea typeface="Nunito" pitchFamily="34" charset="-122"/>
                <a:cs typeface="Nunito" pitchFamily="34" charset="-120"/>
              </a:rPr>
              <a:t>FLUX.2 Pro</a:t>
            </a:r>
            <a:r>
              <a:rPr lang="en-US" sz="1500" dirty="0">
                <a:solidFill>
                  <a:srgbClr val="E7E2F0"/>
                </a:solidFill>
                <a:latin typeface="Nunito" pitchFamily="34" charset="0"/>
                <a:ea typeface="Nunito" pitchFamily="34" charset="-122"/>
                <a:cs typeface="Nunito" pitchFamily="34" charset="-120"/>
              </a:rPr>
              <a:t> · </a:t>
            </a:r>
            <a:r>
              <a:rPr lang="en-US" sz="1500" b="1" dirty="0">
                <a:solidFill>
                  <a:srgbClr val="C7A4FF"/>
                </a:solidFill>
                <a:latin typeface="Nunito" pitchFamily="34" charset="0"/>
                <a:ea typeface="Nunito" pitchFamily="34" charset="-122"/>
                <a:cs typeface="Nunito" pitchFamily="34" charset="-120"/>
              </a:rPr>
              <a:t>prompts propriétaires</a:t>
            </a:r>
            <a:r>
              <a:rPr lang="en-US" sz="1500" dirty="0">
                <a:solidFill>
                  <a:srgbClr val="E7E2F0"/>
                </a:solidFill>
                <a:latin typeface="Nunito" pitchFamily="34" charset="0"/>
                <a:ea typeface="Nunito" pitchFamily="34" charset="-122"/>
                <a:cs typeface="Nunito" pitchFamily="34" charset="-120"/>
              </a:rPr>
              <a:t> · </a:t>
            </a:r>
            <a:r>
              <a:rPr lang="en-US" sz="1500" b="1" dirty="0">
                <a:solidFill>
                  <a:srgbClr val="C7A4FF"/>
                </a:solidFill>
                <a:latin typeface="Nunito" pitchFamily="34" charset="0"/>
                <a:ea typeface="Nunito" pitchFamily="34" charset="-122"/>
                <a:cs typeface="Nunito" pitchFamily="34" charset="-120"/>
              </a:rPr>
              <a:t>NarraMind</a:t>
            </a:r>
            <a:endParaRPr lang="en-US" sz="1500" dirty="0"/>
          </a:p>
        </p:txBody>
      </p:sp>
      <p:sp>
        <p:nvSpPr>
          <p:cNvPr id="10" name="Shape 7"/>
          <p:cNvSpPr/>
          <p:nvPr/>
        </p:nvSpPr>
        <p:spPr>
          <a:xfrm>
            <a:off x="822960" y="4160520"/>
            <a:ext cx="512064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1" name="Text 8"/>
          <p:cNvSpPr/>
          <p:nvPr/>
        </p:nvSpPr>
        <p:spPr>
          <a:xfrm>
            <a:off x="1097280" y="4389120"/>
            <a:ext cx="4572000" cy="274320"/>
          </a:xfrm>
          <a:prstGeom prst="rect">
            <a:avLst/>
          </a:prstGeom>
          <a:noFill/>
          <a:ln/>
        </p:spPr>
        <p:txBody>
          <a:bodyPr wrap="square" lIns="0" tIns="0" rIns="0" bIns="0" rtlCol="0" anchor="ctr"/>
          <a:lstStyle/>
          <a:p>
            <a:pPr marL="0" indent="0">
              <a:buNone/>
            </a:pPr>
            <a:r>
              <a:rPr lang="en-US" sz="1200" b="1" kern="0" spc="100" dirty="0">
                <a:solidFill>
                  <a:srgbClr val="B18CF0"/>
                </a:solidFill>
                <a:latin typeface="Quicksand" pitchFamily="34" charset="0"/>
                <a:ea typeface="Quicksand" pitchFamily="34" charset="-122"/>
                <a:cs typeface="Quicksand" pitchFamily="34" charset="-120"/>
              </a:rPr>
              <a:t>REVENUS</a:t>
            </a:r>
            <a:endParaRPr lang="en-US" sz="1200" dirty="0"/>
          </a:p>
        </p:txBody>
      </p:sp>
      <p:sp>
        <p:nvSpPr>
          <p:cNvPr id="12" name="Text 9"/>
          <p:cNvSpPr/>
          <p:nvPr/>
        </p:nvSpPr>
        <p:spPr>
          <a:xfrm>
            <a:off x="1097280" y="4754880"/>
            <a:ext cx="4572000" cy="822960"/>
          </a:xfrm>
          <a:prstGeom prst="rect">
            <a:avLst/>
          </a:prstGeom>
          <a:noFill/>
          <a:ln/>
        </p:spPr>
        <p:txBody>
          <a:bodyPr wrap="square" lIns="0" tIns="0" rIns="0" bIns="0" rtlCol="0" anchor="t"/>
          <a:lstStyle/>
          <a:p>
            <a:pPr marL="0" indent="0">
              <a:lnSpc>
                <a:spcPts val="2100"/>
              </a:lnSpc>
              <a:buNone/>
            </a:pPr>
            <a:r>
              <a:rPr lang="en-US" sz="1500" dirty="0">
                <a:solidFill>
                  <a:srgbClr val="E7E2F0"/>
                </a:solidFill>
                <a:latin typeface="Nunito" pitchFamily="34" charset="0"/>
                <a:ea typeface="Nunito" pitchFamily="34" charset="-122"/>
                <a:cs typeface="Nunito" pitchFamily="34" charset="-120"/>
              </a:rPr>
              <a:t>Abonnements · packs · marketplace 30 % · API B2B</a:t>
            </a:r>
            <a:endParaRPr lang="en-US" sz="1500" dirty="0"/>
          </a:p>
        </p:txBody>
      </p:sp>
      <p:sp>
        <p:nvSpPr>
          <p:cNvPr id="13" name="Shape 10"/>
          <p:cNvSpPr/>
          <p:nvPr/>
        </p:nvSpPr>
        <p:spPr>
          <a:xfrm>
            <a:off x="6172200" y="4160520"/>
            <a:ext cx="5120640" cy="1554480"/>
          </a:xfrm>
          <a:prstGeom prst="roundRect">
            <a:avLst>
              <a:gd name="adj" fmla="val 5882"/>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14" name="Text 11"/>
          <p:cNvSpPr/>
          <p:nvPr/>
        </p:nvSpPr>
        <p:spPr>
          <a:xfrm>
            <a:off x="6446520" y="4389120"/>
            <a:ext cx="4572000" cy="274320"/>
          </a:xfrm>
          <a:prstGeom prst="rect">
            <a:avLst/>
          </a:prstGeom>
          <a:noFill/>
          <a:ln/>
        </p:spPr>
        <p:txBody>
          <a:bodyPr wrap="square" lIns="0" tIns="0" rIns="0" bIns="0" rtlCol="0" anchor="ctr"/>
          <a:lstStyle/>
          <a:p>
            <a:pPr marL="0" indent="0">
              <a:buNone/>
            </a:pPr>
            <a:r>
              <a:rPr lang="en-US" sz="1200" b="1" kern="0" spc="100" dirty="0">
                <a:solidFill>
                  <a:srgbClr val="F0A868"/>
                </a:solidFill>
                <a:latin typeface="Quicksand" pitchFamily="34" charset="0"/>
                <a:ea typeface="Quicksand" pitchFamily="34" charset="-122"/>
                <a:cs typeface="Quicksand" pitchFamily="34" charset="-120"/>
              </a:rPr>
              <a:t>COÛTS</a:t>
            </a:r>
            <a:endParaRPr lang="en-US" sz="1200" dirty="0"/>
          </a:p>
        </p:txBody>
      </p:sp>
      <p:sp>
        <p:nvSpPr>
          <p:cNvPr id="15" name="Text 12"/>
          <p:cNvSpPr/>
          <p:nvPr/>
        </p:nvSpPr>
        <p:spPr>
          <a:xfrm>
            <a:off x="6446520" y="4754880"/>
            <a:ext cx="4572000" cy="822960"/>
          </a:xfrm>
          <a:prstGeom prst="rect">
            <a:avLst/>
          </a:prstGeom>
          <a:noFill/>
          <a:ln/>
        </p:spPr>
        <p:txBody>
          <a:bodyPr wrap="square" lIns="0" tIns="0" rIns="0" bIns="0" rtlCol="0" anchor="t"/>
          <a:lstStyle/>
          <a:p>
            <a:pPr marL="0" indent="0">
              <a:lnSpc>
                <a:spcPts val="2100"/>
              </a:lnSpc>
              <a:buNone/>
            </a:pPr>
            <a:r>
              <a:rPr lang="en-US" sz="1500" dirty="0">
                <a:solidFill>
                  <a:srgbClr val="E7E2F0"/>
                </a:solidFill>
                <a:latin typeface="Nunito" pitchFamily="34" charset="0"/>
                <a:ea typeface="Nunito" pitchFamily="34" charset="-122"/>
                <a:cs typeface="Nunito" pitchFamily="34" charset="-120"/>
              </a:rPr>
              <a:t>Fixes ~60 €/mois · variables ~0,065 €/génération</a:t>
            </a:r>
            <a:endParaRPr lang="en-US" sz="1500" dirty="0"/>
          </a:p>
        </p:txBody>
      </p:sp>
      <p:sp>
        <p:nvSpPr>
          <p:cNvPr id="16" name="Text 13"/>
          <p:cNvSpPr/>
          <p:nvPr/>
        </p:nvSpPr>
        <p:spPr>
          <a:xfrm>
            <a:off x="822960" y="5943600"/>
            <a:ext cx="10515600" cy="365760"/>
          </a:xfrm>
          <a:prstGeom prst="rect">
            <a:avLst/>
          </a:prstGeom>
          <a:noFill/>
          <a:ln/>
        </p:spPr>
        <p:txBody>
          <a:bodyPr wrap="square" lIns="0" tIns="0" rIns="0" bIns="0" rtlCol="0" anchor="ctr"/>
          <a:lstStyle/>
          <a:p>
            <a:pPr marL="0" indent="0">
              <a:buNone/>
            </a:pPr>
            <a:r>
              <a:rPr lang="en-US" sz="1500" i="1" dirty="0">
                <a:solidFill>
                  <a:srgbClr val="B9B1C9"/>
                </a:solidFill>
                <a:latin typeface="Nunito" pitchFamily="34" charset="0"/>
                <a:ea typeface="Nunito" pitchFamily="34" charset="-122"/>
                <a:cs typeface="Nunito" pitchFamily="34" charset="-120"/>
              </a:rPr>
              <a:t>Seul levier de marge : le ratio prix d'abonnement sur coût réel des générations.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PRICING</a:t>
            </a:r>
            <a:endParaRPr lang="en-US" sz="1300" dirty="0"/>
          </a:p>
        </p:txBody>
      </p:sp>
      <p:pic>
        <p:nvPicPr>
          <p:cNvPr id="3" name="Image 0" descr="C:\Users\kirit\AppData\Local\Temp\claude\C--Users-kirit-OneDrive-Bureau-DreamWeave\1dfcbb64-69b7-40e1-93a9-2561d034242f\scratchpad\deck-memoire\imgb\t17.png"/>
          <p:cNvPicPr>
            <a:picLocks noChangeAspect="1"/>
          </p:cNvPicPr>
          <p:nvPr/>
        </p:nvPicPr>
        <p:blipFill>
          <a:blip r:embed="rId3"/>
          <a:stretch>
            <a:fillRect/>
          </a:stretch>
        </p:blipFill>
        <p:spPr>
          <a:xfrm>
            <a:off x="822960" y="1097280"/>
            <a:ext cx="4564845" cy="493213"/>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D4</a:t>
            </a:r>
            <a:endParaRPr lang="en-US" sz="1100" dirty="0"/>
          </a:p>
        </p:txBody>
      </p:sp>
      <p:sp>
        <p:nvSpPr>
          <p:cNvPr id="6" name="Shape 3"/>
          <p:cNvSpPr/>
          <p:nvPr/>
        </p:nvSpPr>
        <p:spPr>
          <a:xfrm>
            <a:off x="822960" y="2377440"/>
            <a:ext cx="2606040" cy="2286000"/>
          </a:xfrm>
          <a:prstGeom prst="roundRect">
            <a:avLst>
              <a:gd name="adj" fmla="val 4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7" name="Text 4"/>
          <p:cNvSpPr/>
          <p:nvPr/>
        </p:nvSpPr>
        <p:spPr>
          <a:xfrm>
            <a:off x="822960" y="2606040"/>
            <a:ext cx="2606040" cy="365760"/>
          </a:xfrm>
          <a:prstGeom prst="rect">
            <a:avLst/>
          </a:prstGeom>
          <a:noFill/>
          <a:ln/>
        </p:spPr>
        <p:txBody>
          <a:bodyPr wrap="square" lIns="0" tIns="0" rIns="0" bIns="0" rtlCol="0" anchor="ctr"/>
          <a:lstStyle/>
          <a:p>
            <a:pPr marL="0" indent="0" algn="ctr">
              <a:buNone/>
            </a:pPr>
            <a:r>
              <a:rPr lang="en-US" sz="1700" b="1" dirty="0">
                <a:solidFill>
                  <a:srgbClr val="B9B1C9"/>
                </a:solidFill>
                <a:latin typeface="Quicksand" pitchFamily="34" charset="0"/>
                <a:ea typeface="Quicksand" pitchFamily="34" charset="-122"/>
                <a:cs typeface="Quicksand" pitchFamily="34" charset="-120"/>
              </a:rPr>
              <a:t>Libre</a:t>
            </a:r>
            <a:endParaRPr lang="en-US" sz="1700" dirty="0"/>
          </a:p>
        </p:txBody>
      </p:sp>
      <p:sp>
        <p:nvSpPr>
          <p:cNvPr id="8" name="Text 5"/>
          <p:cNvSpPr/>
          <p:nvPr/>
        </p:nvSpPr>
        <p:spPr>
          <a:xfrm>
            <a:off x="822960" y="3063240"/>
            <a:ext cx="2606040" cy="548640"/>
          </a:xfrm>
          <a:prstGeom prst="rect">
            <a:avLst/>
          </a:prstGeom>
          <a:noFill/>
          <a:ln/>
        </p:spPr>
        <p:txBody>
          <a:bodyPr wrap="square" lIns="0" tIns="0" rIns="0" bIns="0" rtlCol="0" anchor="ctr"/>
          <a:lstStyle/>
          <a:p>
            <a:pPr marL="0" indent="0" algn="ctr">
              <a:buNone/>
            </a:pPr>
            <a:r>
              <a:rPr lang="en-US" sz="2600" b="1" dirty="0">
                <a:solidFill>
                  <a:srgbClr val="F4F1F8"/>
                </a:solidFill>
                <a:latin typeface="Quicksand" pitchFamily="34" charset="0"/>
                <a:ea typeface="Quicksand" pitchFamily="34" charset="-122"/>
                <a:cs typeface="Quicksand" pitchFamily="34" charset="-120"/>
              </a:rPr>
              <a:t>0 €</a:t>
            </a:r>
            <a:endParaRPr lang="en-US" sz="2600" dirty="0"/>
          </a:p>
        </p:txBody>
      </p:sp>
      <p:sp>
        <p:nvSpPr>
          <p:cNvPr id="9" name="Text 6"/>
          <p:cNvSpPr/>
          <p:nvPr/>
        </p:nvSpPr>
        <p:spPr>
          <a:xfrm>
            <a:off x="822960" y="3749040"/>
            <a:ext cx="2606040" cy="365760"/>
          </a:xfrm>
          <a:prstGeom prst="rect">
            <a:avLst/>
          </a:prstGeom>
          <a:noFill/>
          <a:ln/>
        </p:spPr>
        <p:txBody>
          <a:bodyPr wrap="square" lIns="0" tIns="0" rIns="0" bIns="0" rtlCol="0" anchor="ctr"/>
          <a:lstStyle/>
          <a:p>
            <a:pPr marL="0" indent="0" algn="ctr">
              <a:buNone/>
            </a:pPr>
            <a:r>
              <a:rPr lang="en-US" sz="1400" dirty="0">
                <a:solidFill>
                  <a:srgbClr val="B9B1C9"/>
                </a:solidFill>
                <a:latin typeface="Nunito" pitchFamily="34" charset="0"/>
                <a:ea typeface="Nunito" pitchFamily="34" charset="-122"/>
                <a:cs typeface="Nunito" pitchFamily="34" charset="-120"/>
              </a:rPr>
              <a:t>20 crédits</a:t>
            </a:r>
            <a:endParaRPr lang="en-US" sz="1400" dirty="0"/>
          </a:p>
        </p:txBody>
      </p:sp>
      <p:sp>
        <p:nvSpPr>
          <p:cNvPr id="10" name="Shape 7"/>
          <p:cNvSpPr/>
          <p:nvPr/>
        </p:nvSpPr>
        <p:spPr>
          <a:xfrm>
            <a:off x="3630168" y="2377440"/>
            <a:ext cx="2606040" cy="2286000"/>
          </a:xfrm>
          <a:prstGeom prst="roundRect">
            <a:avLst>
              <a:gd name="adj" fmla="val 4000"/>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11" name="Text 8"/>
          <p:cNvSpPr/>
          <p:nvPr/>
        </p:nvSpPr>
        <p:spPr>
          <a:xfrm>
            <a:off x="3630168" y="2606040"/>
            <a:ext cx="2606040" cy="365760"/>
          </a:xfrm>
          <a:prstGeom prst="rect">
            <a:avLst/>
          </a:prstGeom>
          <a:noFill/>
          <a:ln/>
        </p:spPr>
        <p:txBody>
          <a:bodyPr wrap="square" lIns="0" tIns="0" rIns="0" bIns="0" rtlCol="0" anchor="ctr"/>
          <a:lstStyle/>
          <a:p>
            <a:pPr marL="0" indent="0" algn="ctr">
              <a:buNone/>
            </a:pPr>
            <a:r>
              <a:rPr lang="en-US" sz="1700" b="1" dirty="0">
                <a:solidFill>
                  <a:srgbClr val="B18CF0"/>
                </a:solidFill>
                <a:latin typeface="Quicksand" pitchFamily="34" charset="0"/>
                <a:ea typeface="Quicksand" pitchFamily="34" charset="-122"/>
                <a:cs typeface="Quicksand" pitchFamily="34" charset="-120"/>
              </a:rPr>
              <a:t>Créateur</a:t>
            </a:r>
            <a:endParaRPr lang="en-US" sz="1700" dirty="0"/>
          </a:p>
        </p:txBody>
      </p:sp>
      <p:sp>
        <p:nvSpPr>
          <p:cNvPr id="12" name="Text 9"/>
          <p:cNvSpPr/>
          <p:nvPr/>
        </p:nvSpPr>
        <p:spPr>
          <a:xfrm>
            <a:off x="3630168" y="3063240"/>
            <a:ext cx="2606040" cy="548640"/>
          </a:xfrm>
          <a:prstGeom prst="rect">
            <a:avLst/>
          </a:prstGeom>
          <a:noFill/>
          <a:ln/>
        </p:spPr>
        <p:txBody>
          <a:bodyPr wrap="square" lIns="0" tIns="0" rIns="0" bIns="0" rtlCol="0" anchor="ctr"/>
          <a:lstStyle/>
          <a:p>
            <a:pPr marL="0" indent="0" algn="ctr">
              <a:buNone/>
            </a:pPr>
            <a:r>
              <a:rPr lang="en-US" sz="2600" b="1" dirty="0">
                <a:solidFill>
                  <a:srgbClr val="F4F1F8"/>
                </a:solidFill>
                <a:latin typeface="Quicksand" pitchFamily="34" charset="0"/>
                <a:ea typeface="Quicksand" pitchFamily="34" charset="-122"/>
                <a:cs typeface="Quicksand" pitchFamily="34" charset="-120"/>
              </a:rPr>
              <a:t>12,99 €</a:t>
            </a:r>
            <a:endParaRPr lang="en-US" sz="2600" dirty="0"/>
          </a:p>
        </p:txBody>
      </p:sp>
      <p:sp>
        <p:nvSpPr>
          <p:cNvPr id="13" name="Text 10"/>
          <p:cNvSpPr/>
          <p:nvPr/>
        </p:nvSpPr>
        <p:spPr>
          <a:xfrm>
            <a:off x="3630168" y="3749040"/>
            <a:ext cx="2606040" cy="365760"/>
          </a:xfrm>
          <a:prstGeom prst="rect">
            <a:avLst/>
          </a:prstGeom>
          <a:noFill/>
          <a:ln/>
        </p:spPr>
        <p:txBody>
          <a:bodyPr wrap="square" lIns="0" tIns="0" rIns="0" bIns="0" rtlCol="0" anchor="ctr"/>
          <a:lstStyle/>
          <a:p>
            <a:pPr marL="0" indent="0" algn="ctr">
              <a:buNone/>
            </a:pPr>
            <a:r>
              <a:rPr lang="en-US" sz="1400" dirty="0">
                <a:solidFill>
                  <a:srgbClr val="B9B1C9"/>
                </a:solidFill>
                <a:latin typeface="Nunito" pitchFamily="34" charset="0"/>
                <a:ea typeface="Nunito" pitchFamily="34" charset="-122"/>
                <a:cs typeface="Nunito" pitchFamily="34" charset="-120"/>
              </a:rPr>
              <a:t>100 crédits</a:t>
            </a:r>
            <a:endParaRPr lang="en-US" sz="1400" dirty="0"/>
          </a:p>
        </p:txBody>
      </p:sp>
      <p:sp>
        <p:nvSpPr>
          <p:cNvPr id="14" name="Shape 11"/>
          <p:cNvSpPr/>
          <p:nvPr/>
        </p:nvSpPr>
        <p:spPr>
          <a:xfrm>
            <a:off x="6437376" y="2377440"/>
            <a:ext cx="2606040" cy="2286000"/>
          </a:xfrm>
          <a:prstGeom prst="roundRect">
            <a:avLst>
              <a:gd name="adj" fmla="val 4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5" name="Text 12"/>
          <p:cNvSpPr/>
          <p:nvPr/>
        </p:nvSpPr>
        <p:spPr>
          <a:xfrm>
            <a:off x="6437376" y="2606040"/>
            <a:ext cx="2606040" cy="365760"/>
          </a:xfrm>
          <a:prstGeom prst="rect">
            <a:avLst/>
          </a:prstGeom>
          <a:noFill/>
          <a:ln/>
        </p:spPr>
        <p:txBody>
          <a:bodyPr wrap="square" lIns="0" tIns="0" rIns="0" bIns="0" rtlCol="0" anchor="ctr"/>
          <a:lstStyle/>
          <a:p>
            <a:pPr marL="0" indent="0" algn="ctr">
              <a:buNone/>
            </a:pPr>
            <a:r>
              <a:rPr lang="en-US" sz="1700" b="1" dirty="0">
                <a:solidFill>
                  <a:srgbClr val="6FD6BD"/>
                </a:solidFill>
                <a:latin typeface="Quicksand" pitchFamily="34" charset="0"/>
                <a:ea typeface="Quicksand" pitchFamily="34" charset="-122"/>
                <a:cs typeface="Quicksand" pitchFamily="34" charset="-120"/>
              </a:rPr>
              <a:t>Studio</a:t>
            </a:r>
            <a:endParaRPr lang="en-US" sz="1700" dirty="0"/>
          </a:p>
        </p:txBody>
      </p:sp>
      <p:sp>
        <p:nvSpPr>
          <p:cNvPr id="16" name="Text 13"/>
          <p:cNvSpPr/>
          <p:nvPr/>
        </p:nvSpPr>
        <p:spPr>
          <a:xfrm>
            <a:off x="6437376" y="3063240"/>
            <a:ext cx="2606040" cy="548640"/>
          </a:xfrm>
          <a:prstGeom prst="rect">
            <a:avLst/>
          </a:prstGeom>
          <a:noFill/>
          <a:ln/>
        </p:spPr>
        <p:txBody>
          <a:bodyPr wrap="square" lIns="0" tIns="0" rIns="0" bIns="0" rtlCol="0" anchor="ctr"/>
          <a:lstStyle/>
          <a:p>
            <a:pPr marL="0" indent="0" algn="ctr">
              <a:buNone/>
            </a:pPr>
            <a:r>
              <a:rPr lang="en-US" sz="2600" b="1" dirty="0">
                <a:solidFill>
                  <a:srgbClr val="F4F1F8"/>
                </a:solidFill>
                <a:latin typeface="Quicksand" pitchFamily="34" charset="0"/>
                <a:ea typeface="Quicksand" pitchFamily="34" charset="-122"/>
                <a:cs typeface="Quicksand" pitchFamily="34" charset="-120"/>
              </a:rPr>
              <a:t>29,99 €</a:t>
            </a:r>
            <a:endParaRPr lang="en-US" sz="2600" dirty="0"/>
          </a:p>
        </p:txBody>
      </p:sp>
      <p:sp>
        <p:nvSpPr>
          <p:cNvPr id="17" name="Text 14"/>
          <p:cNvSpPr/>
          <p:nvPr/>
        </p:nvSpPr>
        <p:spPr>
          <a:xfrm>
            <a:off x="6437376" y="3749040"/>
            <a:ext cx="2606040" cy="365760"/>
          </a:xfrm>
          <a:prstGeom prst="rect">
            <a:avLst/>
          </a:prstGeom>
          <a:noFill/>
          <a:ln/>
        </p:spPr>
        <p:txBody>
          <a:bodyPr wrap="square" lIns="0" tIns="0" rIns="0" bIns="0" rtlCol="0" anchor="ctr"/>
          <a:lstStyle/>
          <a:p>
            <a:pPr marL="0" indent="0" algn="ctr">
              <a:buNone/>
            </a:pPr>
            <a:r>
              <a:rPr lang="en-US" sz="1400" dirty="0">
                <a:solidFill>
                  <a:srgbClr val="B9B1C9"/>
                </a:solidFill>
                <a:latin typeface="Nunito" pitchFamily="34" charset="0"/>
                <a:ea typeface="Nunito" pitchFamily="34" charset="-122"/>
                <a:cs typeface="Nunito" pitchFamily="34" charset="-120"/>
              </a:rPr>
              <a:t>250 crédits</a:t>
            </a:r>
            <a:endParaRPr lang="en-US" sz="1400" dirty="0"/>
          </a:p>
        </p:txBody>
      </p:sp>
      <p:sp>
        <p:nvSpPr>
          <p:cNvPr id="18" name="Shape 15"/>
          <p:cNvSpPr/>
          <p:nvPr/>
        </p:nvSpPr>
        <p:spPr>
          <a:xfrm>
            <a:off x="9244584" y="2377440"/>
            <a:ext cx="2606040" cy="2286000"/>
          </a:xfrm>
          <a:prstGeom prst="roundRect">
            <a:avLst>
              <a:gd name="adj" fmla="val 4000"/>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9" name="Text 16"/>
          <p:cNvSpPr/>
          <p:nvPr/>
        </p:nvSpPr>
        <p:spPr>
          <a:xfrm>
            <a:off x="9244584" y="2606040"/>
            <a:ext cx="2606040" cy="365760"/>
          </a:xfrm>
          <a:prstGeom prst="rect">
            <a:avLst/>
          </a:prstGeom>
          <a:noFill/>
          <a:ln/>
        </p:spPr>
        <p:txBody>
          <a:bodyPr wrap="square" lIns="0" tIns="0" rIns="0" bIns="0" rtlCol="0" anchor="ctr"/>
          <a:lstStyle/>
          <a:p>
            <a:pPr marL="0" indent="0" algn="ctr">
              <a:buNone/>
            </a:pPr>
            <a:r>
              <a:rPr lang="en-US" sz="1700" b="1" dirty="0">
                <a:solidFill>
                  <a:srgbClr val="F0A868"/>
                </a:solidFill>
                <a:latin typeface="Quicksand" pitchFamily="34" charset="0"/>
                <a:ea typeface="Quicksand" pitchFamily="34" charset="-122"/>
                <a:cs typeface="Quicksand" pitchFamily="34" charset="-120"/>
              </a:rPr>
              <a:t>Entreprise</a:t>
            </a:r>
            <a:endParaRPr lang="en-US" sz="1700" dirty="0"/>
          </a:p>
        </p:txBody>
      </p:sp>
      <p:sp>
        <p:nvSpPr>
          <p:cNvPr id="20" name="Text 17"/>
          <p:cNvSpPr/>
          <p:nvPr/>
        </p:nvSpPr>
        <p:spPr>
          <a:xfrm>
            <a:off x="9244584" y="3063240"/>
            <a:ext cx="2606040" cy="548640"/>
          </a:xfrm>
          <a:prstGeom prst="rect">
            <a:avLst/>
          </a:prstGeom>
          <a:noFill/>
          <a:ln/>
        </p:spPr>
        <p:txBody>
          <a:bodyPr wrap="square" lIns="0" tIns="0" rIns="0" bIns="0" rtlCol="0" anchor="ctr"/>
          <a:lstStyle/>
          <a:p>
            <a:pPr marL="0" indent="0" algn="ctr">
              <a:buNone/>
            </a:pPr>
            <a:r>
              <a:rPr lang="en-US" sz="2600" b="1" dirty="0">
                <a:solidFill>
                  <a:srgbClr val="F4F1F8"/>
                </a:solidFill>
                <a:latin typeface="Quicksand" pitchFamily="34" charset="0"/>
                <a:ea typeface="Quicksand" pitchFamily="34" charset="-122"/>
                <a:cs typeface="Quicksand" pitchFamily="34" charset="-120"/>
              </a:rPr>
              <a:t>sur devis</a:t>
            </a:r>
            <a:endParaRPr lang="en-US" sz="2600" dirty="0"/>
          </a:p>
        </p:txBody>
      </p:sp>
      <p:sp>
        <p:nvSpPr>
          <p:cNvPr id="21" name="Text 18"/>
          <p:cNvSpPr/>
          <p:nvPr/>
        </p:nvSpPr>
        <p:spPr>
          <a:xfrm>
            <a:off x="9244584" y="3749040"/>
            <a:ext cx="2606040" cy="365760"/>
          </a:xfrm>
          <a:prstGeom prst="rect">
            <a:avLst/>
          </a:prstGeom>
          <a:noFill/>
          <a:ln/>
        </p:spPr>
        <p:txBody>
          <a:bodyPr wrap="square" lIns="0" tIns="0" rIns="0" bIns="0" rtlCol="0" anchor="ctr"/>
          <a:lstStyle/>
          <a:p>
            <a:pPr marL="0" indent="0" algn="ctr">
              <a:buNone/>
            </a:pPr>
            <a:r>
              <a:rPr lang="en-US" sz="1400" dirty="0">
                <a:solidFill>
                  <a:srgbClr val="B9B1C9"/>
                </a:solidFill>
                <a:latin typeface="Nunito" pitchFamily="34" charset="0"/>
                <a:ea typeface="Nunito" pitchFamily="34" charset="-122"/>
                <a:cs typeface="Nunito" pitchFamily="34" charset="-120"/>
              </a:rPr>
              <a:t>studios</a:t>
            </a:r>
            <a:endParaRPr lang="en-US" sz="1400" dirty="0"/>
          </a:p>
        </p:txBody>
      </p:sp>
      <p:sp>
        <p:nvSpPr>
          <p:cNvPr id="22" name="Text 19"/>
          <p:cNvSpPr/>
          <p:nvPr/>
        </p:nvSpPr>
        <p:spPr>
          <a:xfrm>
            <a:off x="822960" y="5029200"/>
            <a:ext cx="10515600" cy="548640"/>
          </a:xfrm>
          <a:prstGeom prst="rect">
            <a:avLst/>
          </a:prstGeom>
          <a:noFill/>
          <a:ln/>
        </p:spPr>
        <p:txBody>
          <a:bodyPr wrap="square" lIns="0" tIns="0" rIns="0" bIns="0" rtlCol="0" anchor="ctr"/>
          <a:lstStyle/>
          <a:p>
            <a:pPr marL="0" indent="0">
              <a:lnSpc>
                <a:spcPts val="2200"/>
              </a:lnSpc>
              <a:buNone/>
            </a:pPr>
            <a:r>
              <a:rPr lang="en-US" sz="1550" i="1" dirty="0">
                <a:solidFill>
                  <a:srgbClr val="B9B1C9"/>
                </a:solidFill>
                <a:latin typeface="Nunito" pitchFamily="34" charset="0"/>
                <a:ea typeface="Nunito" pitchFamily="34" charset="-122"/>
                <a:cs typeface="Nunito" pitchFamily="34" charset="-120"/>
              </a:rPr>
              <a:t>Même qualité </a:t>
            </a:r>
            <a:r>
              <a:rPr lang="en-US" sz="1550" b="1" i="1" dirty="0">
                <a:solidFill>
                  <a:srgbClr val="C7A4FF"/>
                </a:solidFill>
                <a:latin typeface="Nunito" pitchFamily="34" charset="0"/>
                <a:ea typeface="Nunito" pitchFamily="34" charset="-122"/>
                <a:cs typeface="Nunito" pitchFamily="34" charset="-120"/>
              </a:rPr>
              <a:t>FLUX.2 Pro</a:t>
            </a:r>
            <a:r>
              <a:rPr lang="en-US" sz="1550" i="1" dirty="0">
                <a:solidFill>
                  <a:srgbClr val="B9B1C9"/>
                </a:solidFill>
                <a:latin typeface="Nunito" pitchFamily="34" charset="0"/>
                <a:ea typeface="Nunito" pitchFamily="34" charset="-122"/>
                <a:cs typeface="Nunito" pitchFamily="34" charset="-120"/>
              </a:rPr>
              <a:t> pour tous, </a:t>
            </a:r>
            <a:r>
              <a:rPr lang="en-US" sz="1550" b="1" i="1" dirty="0">
                <a:solidFill>
                  <a:srgbClr val="6FD6BD"/>
                </a:solidFill>
                <a:latin typeface="Nunito" pitchFamily="34" charset="0"/>
                <a:ea typeface="Nunito" pitchFamily="34" charset="-122"/>
                <a:cs typeface="Nunito" pitchFamily="34" charset="-120"/>
              </a:rPr>
              <a:t>100 % des fonctions</a:t>
            </a:r>
            <a:r>
              <a:rPr lang="en-US" sz="1550" i="1" dirty="0">
                <a:solidFill>
                  <a:srgbClr val="B9B1C9"/>
                </a:solidFill>
                <a:latin typeface="Nunito" pitchFamily="34" charset="0"/>
                <a:ea typeface="Nunito" pitchFamily="34" charset="-122"/>
                <a:cs typeface="Nunito" pitchFamily="34" charset="-120"/>
              </a:rPr>
              <a:t> </a:t>
            </a:r>
            <a:r>
              <a:rPr lang="en-US" sz="1550" b="1" i="1" dirty="0">
                <a:solidFill>
                  <a:srgbClr val="6FD6BD"/>
                </a:solidFill>
                <a:latin typeface="Nunito" pitchFamily="34" charset="0"/>
                <a:ea typeface="Nunito" pitchFamily="34" charset="-122"/>
                <a:cs typeface="Nunito" pitchFamily="34" charset="-120"/>
              </a:rPr>
              <a:t>même en gratuit</a:t>
            </a:r>
            <a:r>
              <a:rPr lang="en-US" sz="1550" i="1" dirty="0">
                <a:solidFill>
                  <a:srgbClr val="B9B1C9"/>
                </a:solidFill>
                <a:latin typeface="Nunito" pitchFamily="34" charset="0"/>
                <a:ea typeface="Nunito" pitchFamily="34" charset="-122"/>
                <a:cs typeface="Nunito" pitchFamily="34" charset="-120"/>
              </a:rPr>
              <a:t>. On convertit par manque de volume, pas par frustration.</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PROJECTIONS AN 1</a:t>
            </a:r>
            <a:endParaRPr lang="en-US" sz="1300" dirty="0"/>
          </a:p>
        </p:txBody>
      </p:sp>
      <p:pic>
        <p:nvPicPr>
          <p:cNvPr id="3" name="Image 0" descr="C:\Users\kirit\AppData\Local\Temp\claude\C--Users-kirit-OneDrive-Bureau-DreamWeave\1dfcbb64-69b7-40e1-93a9-2561d034242f\scratchpad\deck-memoire\imgb\t18.png"/>
          <p:cNvPicPr>
            <a:picLocks noChangeAspect="1"/>
          </p:cNvPicPr>
          <p:nvPr/>
        </p:nvPicPr>
        <p:blipFill>
          <a:blip r:embed="rId3"/>
          <a:stretch>
            <a:fillRect/>
          </a:stretch>
        </p:blipFill>
        <p:spPr>
          <a:xfrm>
            <a:off x="822960" y="1097280"/>
            <a:ext cx="6537698" cy="477472"/>
          </a:xfrm>
          <a:prstGeom prst="rect">
            <a:avLst/>
          </a:prstGeom>
        </p:spPr>
      </p:pic>
      <p:pic>
        <p:nvPicPr>
          <p:cNvPr id="4" name="Image 1" descr="C:\Users\kirit\AppData\Local\Temp\claude\C--Users-kirit-OneDrive-Bureau-DreamWeave\1dfcbb64-69b7-40e1-93a9-2561d034242f\scratchpad\deck-memoire\imgb\h_be.png"/>
          <p:cNvPicPr>
            <a:picLocks noChangeAspect="1"/>
          </p:cNvPicPr>
          <p:nvPr/>
        </p:nvPicPr>
        <p:blipFill>
          <a:blip r:embed="rId4"/>
          <a:stretch>
            <a:fillRect/>
          </a:stretch>
        </p:blipFill>
        <p:spPr>
          <a:xfrm>
            <a:off x="868680" y="3429000"/>
            <a:ext cx="3281257" cy="1051560"/>
          </a:xfrm>
          <a:prstGeom prst="rect">
            <a:avLst/>
          </a:prstGeom>
        </p:spPr>
      </p:pic>
      <p:sp>
        <p:nvSpPr>
          <p:cNvPr id="5" name="Text 1"/>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abonnés Créateur suffisent pour être </a:t>
            </a:r>
            <a:r>
              <a:rPr lang="en-US" sz="1650" b="1" dirty="0">
                <a:solidFill>
                  <a:srgbClr val="6FD6BD"/>
                </a:solidFill>
                <a:latin typeface="Nunito" pitchFamily="34" charset="0"/>
                <a:ea typeface="Nunito" pitchFamily="34" charset="-122"/>
                <a:cs typeface="Nunito" pitchFamily="34" charset="-120"/>
              </a:rPr>
              <a:t>rentable</a:t>
            </a:r>
            <a:endParaRPr lang="en-US" sz="1650" dirty="0"/>
          </a:p>
        </p:txBody>
      </p:sp>
      <p:sp>
        <p:nvSpPr>
          <p:cNvPr id="6" name="Text 2"/>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Un chapitre : de 1-4 semaines à 2-4 heures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Un coût de </a:t>
            </a:r>
            <a:r>
              <a:rPr lang="en-US" sz="1700" b="1" dirty="0">
                <a:solidFill>
                  <a:srgbClr val="E389B5"/>
                </a:solidFill>
                <a:latin typeface="Nunito" pitchFamily="34" charset="0"/>
                <a:ea typeface="Nunito" pitchFamily="34" charset="-122"/>
                <a:cs typeface="Nunito" pitchFamily="34" charset="-120"/>
              </a:rPr>
              <a:t>300-1 500 €</a:t>
            </a:r>
            <a:r>
              <a:rPr lang="en-US" sz="1700" dirty="0">
                <a:solidFill>
                  <a:srgbClr val="E7E2F0"/>
                </a:solidFill>
                <a:latin typeface="Nunito" pitchFamily="34" charset="0"/>
                <a:ea typeface="Nunito" pitchFamily="34" charset="-122"/>
                <a:cs typeface="Nunito" pitchFamily="34" charset="-120"/>
              </a:rPr>
              <a:t> tombe </a:t>
            </a:r>
            <a:r>
              <a:rPr lang="en-US" sz="1700" b="1" dirty="0">
                <a:solidFill>
                  <a:srgbClr val="6FD6BD"/>
                </a:solidFill>
                <a:latin typeface="Nunito" pitchFamily="34" charset="0"/>
                <a:ea typeface="Nunito" pitchFamily="34" charset="-122"/>
                <a:cs typeface="Nunito" pitchFamily="34" charset="-120"/>
              </a:rPr>
              <a:t>sous 5 €</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Conversion prudente, de </a:t>
            </a:r>
            <a:r>
              <a:rPr lang="en-US" sz="1700" b="1" dirty="0">
                <a:solidFill>
                  <a:srgbClr val="F0A868"/>
                </a:solidFill>
                <a:latin typeface="Nunito" pitchFamily="34" charset="0"/>
                <a:ea typeface="Nunito" pitchFamily="34" charset="-122"/>
                <a:cs typeface="Nunito" pitchFamily="34" charset="-120"/>
              </a:rPr>
              <a:t>2 % à 6 %</a:t>
            </a:r>
            <a:r>
              <a:rPr lang="en-US" sz="1700" dirty="0">
                <a:solidFill>
                  <a:srgbClr val="E7E2F0"/>
                </a:solidFill>
                <a:latin typeface="Nunito" pitchFamily="34" charset="0"/>
                <a:ea typeface="Nunito" pitchFamily="34" charset="-122"/>
                <a:cs typeface="Nunito" pitchFamily="34" charset="-120"/>
              </a:rPr>
              <a:t> sur 12 mois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600 payants</a:t>
            </a:r>
            <a:r>
              <a:rPr lang="en-US" sz="1700" dirty="0">
                <a:solidFill>
                  <a:srgbClr val="E7E2F0"/>
                </a:solidFill>
                <a:latin typeface="Nunito" pitchFamily="34" charset="0"/>
                <a:ea typeface="Nunito" pitchFamily="34" charset="-122"/>
                <a:cs typeface="Nunito" pitchFamily="34" charset="-120"/>
              </a:rPr>
              <a:t> à M12, soit un </a:t>
            </a:r>
            <a:r>
              <a:rPr lang="en-US" sz="1700" b="1" dirty="0">
                <a:solidFill>
                  <a:srgbClr val="F0A868"/>
                </a:solidFill>
                <a:latin typeface="Nunito" pitchFamily="34" charset="0"/>
                <a:ea typeface="Nunito" pitchFamily="34" charset="-122"/>
                <a:cs typeface="Nunito" pitchFamily="34" charset="-120"/>
              </a:rPr>
              <a:t>ARR ~137 000 €</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ORGANISATION</a:t>
            </a:r>
            <a:endParaRPr lang="en-US" sz="1300" dirty="0"/>
          </a:p>
        </p:txBody>
      </p:sp>
      <p:pic>
        <p:nvPicPr>
          <p:cNvPr id="3" name="Image 0" descr="C:\Users\kirit\AppData\Local\Temp\claude\C--Users-kirit-OneDrive-Bureau-DreamWeave\1dfcbb64-69b7-40e1-93a9-2561d034242f\scratchpad\deck-memoire\imgb\t19.png"/>
          <p:cNvPicPr>
            <a:picLocks noChangeAspect="1"/>
          </p:cNvPicPr>
          <p:nvPr/>
        </p:nvPicPr>
        <p:blipFill>
          <a:blip r:embed="rId3"/>
          <a:stretch>
            <a:fillRect/>
          </a:stretch>
        </p:blipFill>
        <p:spPr>
          <a:xfrm>
            <a:off x="822960" y="1097280"/>
            <a:ext cx="6264856" cy="493213"/>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D5</a:t>
            </a:r>
            <a:endParaRPr lang="en-US" sz="1100" dirty="0"/>
          </a:p>
        </p:txBody>
      </p:sp>
      <p:sp>
        <p:nvSpPr>
          <p:cNvPr id="6" name="Shape 3"/>
          <p:cNvSpPr/>
          <p:nvPr/>
        </p:nvSpPr>
        <p:spPr>
          <a:xfrm>
            <a:off x="822960" y="2743200"/>
            <a:ext cx="338328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7" name="Text 4"/>
          <p:cNvSpPr/>
          <p:nvPr/>
        </p:nvSpPr>
        <p:spPr>
          <a:xfrm>
            <a:off x="1051560" y="2971800"/>
            <a:ext cx="2926080" cy="457200"/>
          </a:xfrm>
          <a:prstGeom prst="rect">
            <a:avLst/>
          </a:prstGeom>
          <a:noFill/>
          <a:ln/>
        </p:spPr>
        <p:txBody>
          <a:bodyPr wrap="square" lIns="0" tIns="0" rIns="0" bIns="0" rtlCol="0" anchor="ctr"/>
          <a:lstStyle/>
          <a:p>
            <a:pPr marL="0" indent="0">
              <a:buNone/>
            </a:pPr>
            <a:r>
              <a:rPr lang="en-US" sz="1700" b="1" dirty="0">
                <a:solidFill>
                  <a:srgbClr val="B18CF0"/>
                </a:solidFill>
                <a:latin typeface="Quicksand" pitchFamily="34" charset="0"/>
                <a:ea typeface="Quicksand" pitchFamily="34" charset="-122"/>
                <a:cs typeface="Quicksand" pitchFamily="34" charset="-120"/>
              </a:rPr>
              <a:t>Auto-entrepreneur</a:t>
            </a:r>
            <a:endParaRPr lang="en-US" sz="1700" dirty="0"/>
          </a:p>
        </p:txBody>
      </p:sp>
      <p:sp>
        <p:nvSpPr>
          <p:cNvPr id="8" name="Text 5"/>
          <p:cNvSpPr/>
          <p:nvPr/>
        </p:nvSpPr>
        <p:spPr>
          <a:xfrm>
            <a:off x="1051560" y="3474720"/>
            <a:ext cx="2926080" cy="640080"/>
          </a:xfrm>
          <a:prstGeom prst="rect">
            <a:avLst/>
          </a:prstGeom>
          <a:noFill/>
          <a:ln/>
        </p:spPr>
        <p:txBody>
          <a:bodyPr wrap="square" lIns="0" tIns="0" rIns="0" bIns="0" rtlCol="0" anchor="t"/>
          <a:lstStyle/>
          <a:p>
            <a:pPr marL="0" indent="0">
              <a:lnSpc>
                <a:spcPts val="1900"/>
              </a:lnSpc>
              <a:buNone/>
            </a:pPr>
            <a:r>
              <a:rPr lang="en-US" sz="1400" dirty="0">
                <a:solidFill>
                  <a:srgbClr val="E7E2F0"/>
                </a:solidFill>
                <a:latin typeface="Nunito" pitchFamily="34" charset="0"/>
                <a:ea typeface="Nunito" pitchFamily="34" charset="-122"/>
                <a:cs typeface="Nunito" pitchFamily="34" charset="-120"/>
              </a:rPr>
              <a:t>démarrage</a:t>
            </a:r>
            <a:endParaRPr lang="en-US" sz="1400" dirty="0"/>
          </a:p>
        </p:txBody>
      </p:sp>
      <p:sp>
        <p:nvSpPr>
          <p:cNvPr id="9" name="Text 6"/>
          <p:cNvSpPr/>
          <p:nvPr/>
        </p:nvSpPr>
        <p:spPr>
          <a:xfrm>
            <a:off x="4160520" y="3200400"/>
            <a:ext cx="365760" cy="457200"/>
          </a:xfrm>
          <a:prstGeom prst="rect">
            <a:avLst/>
          </a:prstGeom>
          <a:noFill/>
          <a:ln/>
        </p:spPr>
        <p:txBody>
          <a:bodyPr wrap="square" lIns="0" tIns="0" rIns="0" bIns="0" rtlCol="0" anchor="ctr"/>
          <a:lstStyle/>
          <a:p>
            <a:pPr marL="0" indent="0" algn="ctr">
              <a:buNone/>
            </a:pPr>
            <a:r>
              <a:rPr lang="en-US" sz="2200" b="1" dirty="0">
                <a:solidFill>
                  <a:srgbClr val="F0A868"/>
                </a:solidFill>
                <a:latin typeface="Quicksand" pitchFamily="34" charset="0"/>
                <a:ea typeface="Quicksand" pitchFamily="34" charset="-122"/>
                <a:cs typeface="Quicksand" pitchFamily="34" charset="-120"/>
              </a:rPr>
              <a:t>→</a:t>
            </a:r>
            <a:endParaRPr lang="en-US" sz="2200" dirty="0"/>
          </a:p>
        </p:txBody>
      </p:sp>
      <p:sp>
        <p:nvSpPr>
          <p:cNvPr id="10" name="Shape 7"/>
          <p:cNvSpPr/>
          <p:nvPr/>
        </p:nvSpPr>
        <p:spPr>
          <a:xfrm>
            <a:off x="4434840" y="2743200"/>
            <a:ext cx="338328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1" name="Text 8"/>
          <p:cNvSpPr/>
          <p:nvPr/>
        </p:nvSpPr>
        <p:spPr>
          <a:xfrm>
            <a:off x="4663440" y="2971800"/>
            <a:ext cx="2926080" cy="457200"/>
          </a:xfrm>
          <a:prstGeom prst="rect">
            <a:avLst/>
          </a:prstGeom>
          <a:noFill/>
          <a:ln/>
        </p:spPr>
        <p:txBody>
          <a:bodyPr wrap="square" lIns="0" tIns="0" rIns="0" bIns="0" rtlCol="0" anchor="ctr"/>
          <a:lstStyle/>
          <a:p>
            <a:pPr marL="0" indent="0">
              <a:buNone/>
            </a:pPr>
            <a:r>
              <a:rPr lang="en-US" sz="1700" b="1" dirty="0">
                <a:solidFill>
                  <a:srgbClr val="B18CF0"/>
                </a:solidFill>
                <a:latin typeface="Quicksand" pitchFamily="34" charset="0"/>
                <a:ea typeface="Quicksand" pitchFamily="34" charset="-122"/>
                <a:cs typeface="Quicksand" pitchFamily="34" charset="-120"/>
              </a:rPr>
              <a:t>SASU</a:t>
            </a:r>
            <a:endParaRPr lang="en-US" sz="1700" dirty="0"/>
          </a:p>
        </p:txBody>
      </p:sp>
      <p:sp>
        <p:nvSpPr>
          <p:cNvPr id="12" name="Text 9"/>
          <p:cNvSpPr/>
          <p:nvPr/>
        </p:nvSpPr>
        <p:spPr>
          <a:xfrm>
            <a:off x="4663440" y="3474720"/>
            <a:ext cx="2926080" cy="640080"/>
          </a:xfrm>
          <a:prstGeom prst="rect">
            <a:avLst/>
          </a:prstGeom>
          <a:noFill/>
          <a:ln/>
        </p:spPr>
        <p:txBody>
          <a:bodyPr wrap="square" lIns="0" tIns="0" rIns="0" bIns="0" rtlCol="0" anchor="t"/>
          <a:lstStyle/>
          <a:p>
            <a:pPr marL="0" indent="0">
              <a:lnSpc>
                <a:spcPts val="1900"/>
              </a:lnSpc>
              <a:buNone/>
            </a:pPr>
            <a:r>
              <a:rPr lang="en-US" sz="1400" dirty="0">
                <a:solidFill>
                  <a:srgbClr val="E7E2F0"/>
                </a:solidFill>
                <a:latin typeface="Nunito" pitchFamily="34" charset="0"/>
                <a:ea typeface="Nunito" pitchFamily="34" charset="-122"/>
                <a:cs typeface="Nunito" pitchFamily="34" charset="-120"/>
              </a:rPr>
              <a:t>30 k€ CA ou 1er salarié</a:t>
            </a:r>
            <a:endParaRPr lang="en-US" sz="1400" dirty="0"/>
          </a:p>
        </p:txBody>
      </p:sp>
      <p:sp>
        <p:nvSpPr>
          <p:cNvPr id="13" name="Text 10"/>
          <p:cNvSpPr/>
          <p:nvPr/>
        </p:nvSpPr>
        <p:spPr>
          <a:xfrm>
            <a:off x="7772400" y="3200400"/>
            <a:ext cx="365760" cy="457200"/>
          </a:xfrm>
          <a:prstGeom prst="rect">
            <a:avLst/>
          </a:prstGeom>
          <a:noFill/>
          <a:ln/>
        </p:spPr>
        <p:txBody>
          <a:bodyPr wrap="square" lIns="0" tIns="0" rIns="0" bIns="0" rtlCol="0" anchor="ctr"/>
          <a:lstStyle/>
          <a:p>
            <a:pPr marL="0" indent="0" algn="ctr">
              <a:buNone/>
            </a:pPr>
            <a:r>
              <a:rPr lang="en-US" sz="2200" b="1" dirty="0">
                <a:solidFill>
                  <a:srgbClr val="F0A868"/>
                </a:solidFill>
                <a:latin typeface="Quicksand" pitchFamily="34" charset="0"/>
                <a:ea typeface="Quicksand" pitchFamily="34" charset="-122"/>
                <a:cs typeface="Quicksand" pitchFamily="34" charset="-120"/>
              </a:rPr>
              <a:t>→</a:t>
            </a:r>
            <a:endParaRPr lang="en-US" sz="2200" dirty="0"/>
          </a:p>
        </p:txBody>
      </p:sp>
      <p:sp>
        <p:nvSpPr>
          <p:cNvPr id="14" name="Shape 11"/>
          <p:cNvSpPr/>
          <p:nvPr/>
        </p:nvSpPr>
        <p:spPr>
          <a:xfrm>
            <a:off x="8046720" y="2743200"/>
            <a:ext cx="3383280" cy="1554480"/>
          </a:xfrm>
          <a:prstGeom prst="roundRect">
            <a:avLst>
              <a:gd name="adj" fmla="val 5882"/>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5" name="Text 12"/>
          <p:cNvSpPr/>
          <p:nvPr/>
        </p:nvSpPr>
        <p:spPr>
          <a:xfrm>
            <a:off x="8275320" y="2971800"/>
            <a:ext cx="2926080" cy="457200"/>
          </a:xfrm>
          <a:prstGeom prst="rect">
            <a:avLst/>
          </a:prstGeom>
          <a:noFill/>
          <a:ln/>
        </p:spPr>
        <p:txBody>
          <a:bodyPr wrap="square" lIns="0" tIns="0" rIns="0" bIns="0" rtlCol="0" anchor="ctr"/>
          <a:lstStyle/>
          <a:p>
            <a:pPr marL="0" indent="0">
              <a:buNone/>
            </a:pPr>
            <a:r>
              <a:rPr lang="en-US" sz="1700" b="1" dirty="0">
                <a:solidFill>
                  <a:srgbClr val="B18CF0"/>
                </a:solidFill>
                <a:latin typeface="Quicksand" pitchFamily="34" charset="0"/>
                <a:ea typeface="Quicksand" pitchFamily="34" charset="-122"/>
                <a:cs typeface="Quicksand" pitchFamily="34" charset="-120"/>
              </a:rPr>
              <a:t>SAS</a:t>
            </a:r>
            <a:endParaRPr lang="en-US" sz="1700" dirty="0"/>
          </a:p>
        </p:txBody>
      </p:sp>
      <p:sp>
        <p:nvSpPr>
          <p:cNvPr id="16" name="Text 13"/>
          <p:cNvSpPr/>
          <p:nvPr/>
        </p:nvSpPr>
        <p:spPr>
          <a:xfrm>
            <a:off x="8275320" y="3474720"/>
            <a:ext cx="2926080" cy="640080"/>
          </a:xfrm>
          <a:prstGeom prst="rect">
            <a:avLst/>
          </a:prstGeom>
          <a:noFill/>
          <a:ln/>
        </p:spPr>
        <p:txBody>
          <a:bodyPr wrap="square" lIns="0" tIns="0" rIns="0" bIns="0" rtlCol="0" anchor="t"/>
          <a:lstStyle/>
          <a:p>
            <a:pPr marL="0" indent="0">
              <a:lnSpc>
                <a:spcPts val="1900"/>
              </a:lnSpc>
              <a:buNone/>
            </a:pPr>
            <a:r>
              <a:rPr lang="en-US" sz="1400" dirty="0">
                <a:solidFill>
                  <a:srgbClr val="E7E2F0"/>
                </a:solidFill>
                <a:latin typeface="Nunito" pitchFamily="34" charset="0"/>
                <a:ea typeface="Nunito" pitchFamily="34" charset="-122"/>
                <a:cs typeface="Nunito" pitchFamily="34" charset="-120"/>
              </a:rPr>
              <a:t>associés / levée</a:t>
            </a:r>
            <a:endParaRPr lang="en-US" sz="1400" dirty="0"/>
          </a:p>
        </p:txBody>
      </p:sp>
      <p:sp>
        <p:nvSpPr>
          <p:cNvPr id="17" name="Text 14"/>
          <p:cNvSpPr/>
          <p:nvPr/>
        </p:nvSpPr>
        <p:spPr>
          <a:xfrm>
            <a:off x="822960" y="4754880"/>
            <a:ext cx="10515600" cy="731520"/>
          </a:xfrm>
          <a:prstGeom prst="rect">
            <a:avLst/>
          </a:prstGeom>
          <a:noFill/>
          <a:ln/>
        </p:spPr>
        <p:txBody>
          <a:bodyPr wrap="square" lIns="0" tIns="0" rIns="0" bIns="0" rtlCol="0" anchor="ctr"/>
          <a:lstStyle/>
          <a:p>
            <a:pPr marL="0" indent="0">
              <a:lnSpc>
                <a:spcPts val="2200"/>
              </a:lnSpc>
              <a:buNone/>
            </a:pPr>
            <a:r>
              <a:rPr lang="en-US" sz="1550" dirty="0">
                <a:solidFill>
                  <a:srgbClr val="B9B1C9"/>
                </a:solidFill>
                <a:latin typeface="Nunito" pitchFamily="34" charset="0"/>
                <a:ea typeface="Nunito" pitchFamily="34" charset="-122"/>
                <a:cs typeface="Nunito" pitchFamily="34" charset="-120"/>
              </a:rPr>
              <a:t>Une personne outillée par l'IA porte la complexité d'une équipe de 3 à 5. Chaque transition est déclenchée par un fait. Développement : 4 à 6 mois.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GO TO MARKET</a:t>
            </a:r>
            <a:endParaRPr lang="en-US" sz="1300" dirty="0"/>
          </a:p>
        </p:txBody>
      </p:sp>
      <p:pic>
        <p:nvPicPr>
          <p:cNvPr id="3" name="Image 0" descr="C:\Users\kirit\AppData\Local\Temp\claude\C--Users-kirit-OneDrive-Bureau-DreamWeave\1dfcbb64-69b7-40e1-93a9-2561d034242f\scratchpad\deck-memoire\imgb\t20.png"/>
          <p:cNvPicPr>
            <a:picLocks noChangeAspect="1"/>
          </p:cNvPicPr>
          <p:nvPr/>
        </p:nvPicPr>
        <p:blipFill>
          <a:blip r:embed="rId3"/>
          <a:stretch>
            <a:fillRect/>
          </a:stretch>
        </p:blipFill>
        <p:spPr>
          <a:xfrm>
            <a:off x="822960" y="1097280"/>
            <a:ext cx="10058400" cy="508954"/>
          </a:xfrm>
          <a:prstGeom prst="rect">
            <a:avLst/>
          </a:prstGeom>
        </p:spPr>
      </p:pic>
      <p:sp>
        <p:nvSpPr>
          <p:cNvPr id="4" name="Shape 1"/>
          <p:cNvSpPr/>
          <p:nvPr/>
        </p:nvSpPr>
        <p:spPr>
          <a:xfrm>
            <a:off x="868680" y="2331720"/>
            <a:ext cx="457200" cy="457200"/>
          </a:xfrm>
          <a:prstGeom prst="ellipse">
            <a:avLst/>
          </a:prstGeom>
          <a:solidFill>
            <a:srgbClr val="B18CF0"/>
          </a:solidFill>
          <a:ln/>
        </p:spPr>
      </p:sp>
      <p:sp>
        <p:nvSpPr>
          <p:cNvPr id="5" name="Text 2"/>
          <p:cNvSpPr/>
          <p:nvPr/>
        </p:nvSpPr>
        <p:spPr>
          <a:xfrm>
            <a:off x="868680" y="2386584"/>
            <a:ext cx="457200" cy="347472"/>
          </a:xfrm>
          <a:prstGeom prst="rect">
            <a:avLst/>
          </a:prstGeom>
          <a:noFill/>
          <a:ln/>
        </p:spPr>
        <p:txBody>
          <a:bodyPr wrap="square" lIns="0" tIns="0" rIns="0" bIns="0" rtlCol="0" anchor="ctr"/>
          <a:lstStyle/>
          <a:p>
            <a:pPr marL="0" indent="0" algn="ctr">
              <a:buNone/>
            </a:pPr>
            <a:r>
              <a:rPr lang="en-US" sz="1500" b="1" dirty="0">
                <a:solidFill>
                  <a:srgbClr val="0D0A12"/>
                </a:solidFill>
                <a:latin typeface="Quicksand" pitchFamily="34" charset="0"/>
                <a:ea typeface="Quicksand" pitchFamily="34" charset="-122"/>
                <a:cs typeface="Quicksand" pitchFamily="34" charset="-120"/>
              </a:rPr>
              <a:t>1</a:t>
            </a:r>
            <a:endParaRPr lang="en-US" sz="1500" dirty="0"/>
          </a:p>
        </p:txBody>
      </p:sp>
      <p:sp>
        <p:nvSpPr>
          <p:cNvPr id="6" name="Text 3"/>
          <p:cNvSpPr/>
          <p:nvPr/>
        </p:nvSpPr>
        <p:spPr>
          <a:xfrm>
            <a:off x="1508760" y="2350008"/>
            <a:ext cx="6400800" cy="457200"/>
          </a:xfrm>
          <a:prstGeom prst="rect">
            <a:avLst/>
          </a:prstGeom>
          <a:noFill/>
          <a:ln/>
        </p:spPr>
        <p:txBody>
          <a:bodyPr wrap="square" lIns="0" tIns="0" rIns="0" bIns="0" rtlCol="0" anchor="ctr"/>
          <a:lstStyle/>
          <a:p>
            <a:pPr marL="0" indent="0">
              <a:buNone/>
            </a:pPr>
            <a:r>
              <a:rPr lang="en-US" sz="1600" dirty="0">
                <a:solidFill>
                  <a:srgbClr val="E7E2F0"/>
                </a:solidFill>
                <a:latin typeface="Nunito" pitchFamily="34" charset="0"/>
                <a:ea typeface="Nunito" pitchFamily="34" charset="-122"/>
                <a:cs typeface="Nunito" pitchFamily="34" charset="-120"/>
              </a:rPr>
              <a:t>Bêta : 10 pilotes</a:t>
            </a:r>
            <a:endParaRPr lang="en-US" sz="1600" dirty="0"/>
          </a:p>
        </p:txBody>
      </p:sp>
      <p:sp>
        <p:nvSpPr>
          <p:cNvPr id="7" name="Shape 4"/>
          <p:cNvSpPr/>
          <p:nvPr/>
        </p:nvSpPr>
        <p:spPr>
          <a:xfrm>
            <a:off x="868680" y="2971800"/>
            <a:ext cx="457200" cy="457200"/>
          </a:xfrm>
          <a:prstGeom prst="ellipse">
            <a:avLst/>
          </a:prstGeom>
          <a:solidFill>
            <a:srgbClr val="B18CF0"/>
          </a:solidFill>
          <a:ln/>
        </p:spPr>
      </p:sp>
      <p:sp>
        <p:nvSpPr>
          <p:cNvPr id="8" name="Text 5"/>
          <p:cNvSpPr/>
          <p:nvPr/>
        </p:nvSpPr>
        <p:spPr>
          <a:xfrm>
            <a:off x="868680" y="3026664"/>
            <a:ext cx="457200" cy="347472"/>
          </a:xfrm>
          <a:prstGeom prst="rect">
            <a:avLst/>
          </a:prstGeom>
          <a:noFill/>
          <a:ln/>
        </p:spPr>
        <p:txBody>
          <a:bodyPr wrap="square" lIns="0" tIns="0" rIns="0" bIns="0" rtlCol="0" anchor="ctr"/>
          <a:lstStyle/>
          <a:p>
            <a:pPr marL="0" indent="0" algn="ctr">
              <a:buNone/>
            </a:pPr>
            <a:r>
              <a:rPr lang="en-US" sz="1500" b="1" dirty="0">
                <a:solidFill>
                  <a:srgbClr val="0D0A12"/>
                </a:solidFill>
                <a:latin typeface="Quicksand" pitchFamily="34" charset="0"/>
                <a:ea typeface="Quicksand" pitchFamily="34" charset="-122"/>
                <a:cs typeface="Quicksand" pitchFamily="34" charset="-120"/>
              </a:rPr>
              <a:t>2</a:t>
            </a:r>
            <a:endParaRPr lang="en-US" sz="1500" dirty="0"/>
          </a:p>
        </p:txBody>
      </p:sp>
      <p:sp>
        <p:nvSpPr>
          <p:cNvPr id="9" name="Text 6"/>
          <p:cNvSpPr/>
          <p:nvPr/>
        </p:nvSpPr>
        <p:spPr>
          <a:xfrm>
            <a:off x="1508760" y="2990088"/>
            <a:ext cx="6400800" cy="457200"/>
          </a:xfrm>
          <a:prstGeom prst="rect">
            <a:avLst/>
          </a:prstGeom>
          <a:noFill/>
          <a:ln/>
        </p:spPr>
        <p:txBody>
          <a:bodyPr wrap="square" lIns="0" tIns="0" rIns="0" bIns="0" rtlCol="0" anchor="ctr"/>
          <a:lstStyle/>
          <a:p>
            <a:pPr marL="0" indent="0">
              <a:buNone/>
            </a:pPr>
            <a:r>
              <a:rPr lang="en-US" sz="1600" dirty="0">
                <a:solidFill>
                  <a:srgbClr val="E7E2F0"/>
                </a:solidFill>
                <a:latin typeface="Nunito" pitchFamily="34" charset="0"/>
                <a:ea typeface="Nunito" pitchFamily="34" charset="-122"/>
                <a:cs typeface="Nunito" pitchFamily="34" charset="-120"/>
              </a:rPr>
              <a:t>Lancement freemium public</a:t>
            </a:r>
            <a:endParaRPr lang="en-US" sz="1600" dirty="0"/>
          </a:p>
        </p:txBody>
      </p:sp>
      <p:sp>
        <p:nvSpPr>
          <p:cNvPr id="10" name="Shape 7"/>
          <p:cNvSpPr/>
          <p:nvPr/>
        </p:nvSpPr>
        <p:spPr>
          <a:xfrm>
            <a:off x="868680" y="3611880"/>
            <a:ext cx="457200" cy="457200"/>
          </a:xfrm>
          <a:prstGeom prst="ellipse">
            <a:avLst/>
          </a:prstGeom>
          <a:solidFill>
            <a:srgbClr val="B18CF0"/>
          </a:solidFill>
          <a:ln/>
        </p:spPr>
      </p:sp>
      <p:sp>
        <p:nvSpPr>
          <p:cNvPr id="11" name="Text 8"/>
          <p:cNvSpPr/>
          <p:nvPr/>
        </p:nvSpPr>
        <p:spPr>
          <a:xfrm>
            <a:off x="868680" y="3666744"/>
            <a:ext cx="457200" cy="347472"/>
          </a:xfrm>
          <a:prstGeom prst="rect">
            <a:avLst/>
          </a:prstGeom>
          <a:noFill/>
          <a:ln/>
        </p:spPr>
        <p:txBody>
          <a:bodyPr wrap="square" lIns="0" tIns="0" rIns="0" bIns="0" rtlCol="0" anchor="ctr"/>
          <a:lstStyle/>
          <a:p>
            <a:pPr marL="0" indent="0" algn="ctr">
              <a:buNone/>
            </a:pPr>
            <a:r>
              <a:rPr lang="en-US" sz="1500" b="1" dirty="0">
                <a:solidFill>
                  <a:srgbClr val="0D0A12"/>
                </a:solidFill>
                <a:latin typeface="Quicksand" pitchFamily="34" charset="0"/>
                <a:ea typeface="Quicksand" pitchFamily="34" charset="-122"/>
                <a:cs typeface="Quicksand" pitchFamily="34" charset="-120"/>
              </a:rPr>
              <a:t>3</a:t>
            </a:r>
            <a:endParaRPr lang="en-US" sz="1500" dirty="0"/>
          </a:p>
        </p:txBody>
      </p:sp>
      <p:sp>
        <p:nvSpPr>
          <p:cNvPr id="12" name="Text 9"/>
          <p:cNvSpPr/>
          <p:nvPr/>
        </p:nvSpPr>
        <p:spPr>
          <a:xfrm>
            <a:off x="1508760" y="3630168"/>
            <a:ext cx="6400800" cy="457200"/>
          </a:xfrm>
          <a:prstGeom prst="rect">
            <a:avLst/>
          </a:prstGeom>
          <a:noFill/>
          <a:ln/>
        </p:spPr>
        <p:txBody>
          <a:bodyPr wrap="square" lIns="0" tIns="0" rIns="0" bIns="0" rtlCol="0" anchor="ctr"/>
          <a:lstStyle/>
          <a:p>
            <a:pPr marL="0" indent="0">
              <a:buNone/>
            </a:pPr>
            <a:r>
              <a:rPr lang="en-US" sz="1600" dirty="0">
                <a:solidFill>
                  <a:srgbClr val="E7E2F0"/>
                </a:solidFill>
                <a:latin typeface="Nunito" pitchFamily="34" charset="0"/>
                <a:ea typeface="Nunito" pitchFamily="34" charset="-122"/>
                <a:cs typeface="Nunito" pitchFamily="34" charset="-120"/>
              </a:rPr>
              <a:t>Content marketing SEO / tutos</a:t>
            </a:r>
            <a:endParaRPr lang="en-US" sz="1600" dirty="0"/>
          </a:p>
        </p:txBody>
      </p:sp>
      <p:sp>
        <p:nvSpPr>
          <p:cNvPr id="13" name="Shape 10"/>
          <p:cNvSpPr/>
          <p:nvPr/>
        </p:nvSpPr>
        <p:spPr>
          <a:xfrm>
            <a:off x="868680" y="4251960"/>
            <a:ext cx="457200" cy="457200"/>
          </a:xfrm>
          <a:prstGeom prst="ellipse">
            <a:avLst/>
          </a:prstGeom>
          <a:solidFill>
            <a:srgbClr val="B18CF0"/>
          </a:solidFill>
          <a:ln/>
        </p:spPr>
      </p:sp>
      <p:sp>
        <p:nvSpPr>
          <p:cNvPr id="14" name="Text 11"/>
          <p:cNvSpPr/>
          <p:nvPr/>
        </p:nvSpPr>
        <p:spPr>
          <a:xfrm>
            <a:off x="868680" y="4306824"/>
            <a:ext cx="457200" cy="347472"/>
          </a:xfrm>
          <a:prstGeom prst="rect">
            <a:avLst/>
          </a:prstGeom>
          <a:noFill/>
          <a:ln/>
        </p:spPr>
        <p:txBody>
          <a:bodyPr wrap="square" lIns="0" tIns="0" rIns="0" bIns="0" rtlCol="0" anchor="ctr"/>
          <a:lstStyle/>
          <a:p>
            <a:pPr marL="0" indent="0" algn="ctr">
              <a:buNone/>
            </a:pPr>
            <a:r>
              <a:rPr lang="en-US" sz="1500" b="1" dirty="0">
                <a:solidFill>
                  <a:srgbClr val="0D0A12"/>
                </a:solidFill>
                <a:latin typeface="Quicksand" pitchFamily="34" charset="0"/>
                <a:ea typeface="Quicksand" pitchFamily="34" charset="-122"/>
                <a:cs typeface="Quicksand" pitchFamily="34" charset="-120"/>
              </a:rPr>
              <a:t>4</a:t>
            </a:r>
            <a:endParaRPr lang="en-US" sz="1500" dirty="0"/>
          </a:p>
        </p:txBody>
      </p:sp>
      <p:sp>
        <p:nvSpPr>
          <p:cNvPr id="15" name="Text 12"/>
          <p:cNvSpPr/>
          <p:nvPr/>
        </p:nvSpPr>
        <p:spPr>
          <a:xfrm>
            <a:off x="1508760" y="4270248"/>
            <a:ext cx="6400800" cy="457200"/>
          </a:xfrm>
          <a:prstGeom prst="rect">
            <a:avLst/>
          </a:prstGeom>
          <a:noFill/>
          <a:ln/>
        </p:spPr>
        <p:txBody>
          <a:bodyPr wrap="square" lIns="0" tIns="0" rIns="0" bIns="0" rtlCol="0" anchor="ctr"/>
          <a:lstStyle/>
          <a:p>
            <a:pPr marL="0" indent="0">
              <a:buNone/>
            </a:pPr>
            <a:r>
              <a:rPr lang="en-US" sz="1600" dirty="0">
                <a:solidFill>
                  <a:srgbClr val="E7E2F0"/>
                </a:solidFill>
                <a:latin typeface="Nunito" pitchFamily="34" charset="0"/>
                <a:ea typeface="Nunito" pitchFamily="34" charset="-122"/>
                <a:cs typeface="Nunito" pitchFamily="34" charset="-120"/>
              </a:rPr>
              <a:t>Influence créateurs</a:t>
            </a:r>
            <a:endParaRPr lang="en-US" sz="1600" dirty="0"/>
          </a:p>
        </p:txBody>
      </p:sp>
      <p:sp>
        <p:nvSpPr>
          <p:cNvPr id="16" name="Shape 13"/>
          <p:cNvSpPr/>
          <p:nvPr/>
        </p:nvSpPr>
        <p:spPr>
          <a:xfrm>
            <a:off x="868680" y="4892040"/>
            <a:ext cx="457200" cy="457200"/>
          </a:xfrm>
          <a:prstGeom prst="ellipse">
            <a:avLst/>
          </a:prstGeom>
          <a:solidFill>
            <a:srgbClr val="B18CF0"/>
          </a:solidFill>
          <a:ln/>
        </p:spPr>
      </p:sp>
      <p:sp>
        <p:nvSpPr>
          <p:cNvPr id="17" name="Text 14"/>
          <p:cNvSpPr/>
          <p:nvPr/>
        </p:nvSpPr>
        <p:spPr>
          <a:xfrm>
            <a:off x="868680" y="4946904"/>
            <a:ext cx="457200" cy="347472"/>
          </a:xfrm>
          <a:prstGeom prst="rect">
            <a:avLst/>
          </a:prstGeom>
          <a:noFill/>
          <a:ln/>
        </p:spPr>
        <p:txBody>
          <a:bodyPr wrap="square" lIns="0" tIns="0" rIns="0" bIns="0" rtlCol="0" anchor="ctr"/>
          <a:lstStyle/>
          <a:p>
            <a:pPr marL="0" indent="0" algn="ctr">
              <a:buNone/>
            </a:pPr>
            <a:r>
              <a:rPr lang="en-US" sz="1500" b="1" dirty="0">
                <a:solidFill>
                  <a:srgbClr val="0D0A12"/>
                </a:solidFill>
                <a:latin typeface="Quicksand" pitchFamily="34" charset="0"/>
                <a:ea typeface="Quicksand" pitchFamily="34" charset="-122"/>
                <a:cs typeface="Quicksand" pitchFamily="34" charset="-120"/>
              </a:rPr>
              <a:t>5</a:t>
            </a:r>
            <a:endParaRPr lang="en-US" sz="1500" dirty="0"/>
          </a:p>
        </p:txBody>
      </p:sp>
      <p:sp>
        <p:nvSpPr>
          <p:cNvPr id="18" name="Text 15"/>
          <p:cNvSpPr/>
          <p:nvPr/>
        </p:nvSpPr>
        <p:spPr>
          <a:xfrm>
            <a:off x="1508760" y="4910328"/>
            <a:ext cx="6400800" cy="457200"/>
          </a:xfrm>
          <a:prstGeom prst="rect">
            <a:avLst/>
          </a:prstGeom>
          <a:noFill/>
          <a:ln/>
        </p:spPr>
        <p:txBody>
          <a:bodyPr wrap="square" lIns="0" tIns="0" rIns="0" bIns="0" rtlCol="0" anchor="ctr"/>
          <a:lstStyle/>
          <a:p>
            <a:pPr marL="0" indent="0">
              <a:buNone/>
            </a:pPr>
            <a:r>
              <a:rPr lang="en-US" sz="1600" dirty="0">
                <a:solidFill>
                  <a:srgbClr val="E7E2F0"/>
                </a:solidFill>
                <a:latin typeface="Nunito" pitchFamily="34" charset="0"/>
                <a:ea typeface="Nunito" pitchFamily="34" charset="-122"/>
                <a:cs typeface="Nunito" pitchFamily="34" charset="-120"/>
              </a:rPr>
              <a:t>B2B studios</a:t>
            </a:r>
            <a:endParaRPr lang="en-US" sz="1600" dirty="0"/>
          </a:p>
        </p:txBody>
      </p:sp>
      <p:sp>
        <p:nvSpPr>
          <p:cNvPr id="19" name="Text 16"/>
          <p:cNvSpPr/>
          <p:nvPr/>
        </p:nvSpPr>
        <p:spPr>
          <a:xfrm>
            <a:off x="822960" y="5669280"/>
            <a:ext cx="10515600" cy="640080"/>
          </a:xfrm>
          <a:prstGeom prst="rect">
            <a:avLst/>
          </a:prstGeom>
          <a:noFill/>
          <a:ln/>
        </p:spPr>
        <p:txBody>
          <a:bodyPr wrap="square" lIns="0" tIns="0" rIns="0" bIns="0" rtlCol="0" anchor="ctr"/>
          <a:lstStyle/>
          <a:p>
            <a:pPr marL="0" indent="0">
              <a:lnSpc>
                <a:spcPts val="2100"/>
              </a:lnSpc>
              <a:buNone/>
            </a:pPr>
            <a:r>
              <a:rPr lang="en-US" sz="1500" i="1" dirty="0">
                <a:solidFill>
                  <a:srgbClr val="B9B1C9"/>
                </a:solidFill>
                <a:latin typeface="Nunito" pitchFamily="34" charset="0"/>
                <a:ea typeface="Nunito" pitchFamily="34" charset="-122"/>
                <a:cs typeface="Nunito" pitchFamily="34" charset="-120"/>
              </a:rPr>
              <a:t>Le point critique n'est pas l'acquisition, c'est l'activation : le wow moment en moins de 10 minutes. On ne dépense qu'une fois l'activation prouvée.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STACK TECHNIQUE</a:t>
            </a:r>
            <a:endParaRPr lang="en-US" sz="1300" dirty="0"/>
          </a:p>
        </p:txBody>
      </p:sp>
      <p:pic>
        <p:nvPicPr>
          <p:cNvPr id="3" name="Image 0" descr="C:\Users\kirit\AppData\Local\Temp\claude\C--Users-kirit-OneDrive-Bureau-DreamWeave\1dfcbb64-69b7-40e1-93a9-2561d034242f\scratchpad\deck-memoire\imgb\t21.png"/>
          <p:cNvPicPr>
            <a:picLocks noChangeAspect="1"/>
          </p:cNvPicPr>
          <p:nvPr/>
        </p:nvPicPr>
        <p:blipFill>
          <a:blip r:embed="rId3"/>
          <a:stretch>
            <a:fillRect/>
          </a:stretch>
        </p:blipFill>
        <p:spPr>
          <a:xfrm>
            <a:off x="822960" y="1097280"/>
            <a:ext cx="5981521" cy="409262"/>
          </a:xfrm>
          <a:prstGeom prst="rect">
            <a:avLst/>
          </a:prstGeom>
        </p:spPr>
      </p:pic>
      <p:sp>
        <p:nvSpPr>
          <p:cNvPr id="4" name="Shape 1"/>
          <p:cNvSpPr/>
          <p:nvPr/>
        </p:nvSpPr>
        <p:spPr>
          <a:xfrm>
            <a:off x="9829800" y="530352"/>
            <a:ext cx="1691640" cy="384048"/>
          </a:xfrm>
          <a:prstGeom prst="roundRect">
            <a:avLst>
              <a:gd name="adj" fmla="val 23810"/>
            </a:avLst>
          </a:prstGeom>
          <a:solidFill>
            <a:srgbClr val="1D1729"/>
          </a:solidFill>
          <a:ln w="12700">
            <a:solidFill>
              <a:srgbClr val="2C2440"/>
            </a:solidFill>
            <a:prstDash val="solid"/>
          </a:ln>
        </p:spPr>
      </p:sp>
      <p:sp>
        <p:nvSpPr>
          <p:cNvPr id="5" name="Text 2"/>
          <p:cNvSpPr/>
          <p:nvPr/>
        </p:nvSpPr>
        <p:spPr>
          <a:xfrm>
            <a:off x="9829800" y="530352"/>
            <a:ext cx="1691640" cy="384048"/>
          </a:xfrm>
          <a:prstGeom prst="rect">
            <a:avLst/>
          </a:prstGeom>
          <a:noFill/>
          <a:ln/>
        </p:spPr>
        <p:txBody>
          <a:bodyPr wrap="square" lIns="0" tIns="0" rIns="0" bIns="0" rtlCol="0" anchor="ctr"/>
          <a:lstStyle/>
          <a:p>
            <a:pPr marL="0" indent="0" algn="ctr">
              <a:buNone/>
            </a:pPr>
            <a:r>
              <a:rPr lang="en-US" sz="1100" b="1" dirty="0">
                <a:solidFill>
                  <a:srgbClr val="C7A4FF"/>
                </a:solidFill>
                <a:latin typeface="Quicksand" pitchFamily="34" charset="0"/>
                <a:ea typeface="Quicksand" pitchFamily="34" charset="-122"/>
                <a:cs typeface="Quicksand" pitchFamily="34" charset="-120"/>
              </a:rPr>
              <a:t>DÉCISION · D9-12</a:t>
            </a:r>
            <a:endParaRPr lang="en-US" sz="1100" dirty="0"/>
          </a:p>
        </p:txBody>
      </p:sp>
      <p:sp>
        <p:nvSpPr>
          <p:cNvPr id="6" name="Text 3"/>
          <p:cNvSpPr/>
          <p:nvPr/>
        </p:nvSpPr>
        <p:spPr>
          <a:xfrm>
            <a:off x="822960" y="2331720"/>
            <a:ext cx="475488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Supabase</a:t>
            </a:r>
            <a:endParaRPr lang="en-US" sz="1600" dirty="0"/>
          </a:p>
        </p:txBody>
      </p:sp>
      <p:sp>
        <p:nvSpPr>
          <p:cNvPr id="7" name="Text 4"/>
          <p:cNvSpPr/>
          <p:nvPr/>
        </p:nvSpPr>
        <p:spPr>
          <a:xfrm>
            <a:off x="5760720" y="2331720"/>
            <a:ext cx="5486400" cy="457200"/>
          </a:xfrm>
          <a:prstGeom prst="rect">
            <a:avLst/>
          </a:prstGeom>
          <a:noFill/>
          <a:ln/>
        </p:spPr>
        <p:txBody>
          <a:bodyPr wrap="square" lIns="0" tIns="0" rIns="0" bIns="0" rtlCol="0" anchor="ctr"/>
          <a:lstStyle/>
          <a:p>
            <a:pPr marL="0" indent="0">
              <a:buNone/>
            </a:pPr>
            <a:r>
              <a:rPr lang="en-US" sz="1500" dirty="0">
                <a:solidFill>
                  <a:srgbClr val="E7E2F0"/>
                </a:solidFill>
                <a:latin typeface="Nunito" pitchFamily="34" charset="0"/>
                <a:ea typeface="Nunito" pitchFamily="34" charset="-122"/>
                <a:cs typeface="Nunito" pitchFamily="34" charset="-120"/>
              </a:rPr>
              <a:t>RLS native, multi-tenant dès J0</a:t>
            </a:r>
            <a:endParaRPr lang="en-US" sz="1500" dirty="0"/>
          </a:p>
        </p:txBody>
      </p:sp>
      <p:sp>
        <p:nvSpPr>
          <p:cNvPr id="8" name="Text 5"/>
          <p:cNvSpPr/>
          <p:nvPr/>
        </p:nvSpPr>
        <p:spPr>
          <a:xfrm>
            <a:off x="822960" y="2990088"/>
            <a:ext cx="475488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FAL.ai / FLUX.2 Pro</a:t>
            </a:r>
            <a:endParaRPr lang="en-US" sz="1600" dirty="0"/>
          </a:p>
        </p:txBody>
      </p:sp>
      <p:sp>
        <p:nvSpPr>
          <p:cNvPr id="9" name="Text 6"/>
          <p:cNvSpPr/>
          <p:nvPr/>
        </p:nvSpPr>
        <p:spPr>
          <a:xfrm>
            <a:off x="5760720" y="2990088"/>
            <a:ext cx="5486400" cy="457200"/>
          </a:xfrm>
          <a:prstGeom prst="rect">
            <a:avLst/>
          </a:prstGeom>
          <a:noFill/>
          <a:ln/>
        </p:spPr>
        <p:txBody>
          <a:bodyPr wrap="square" lIns="0" tIns="0" rIns="0" bIns="0" rtlCol="0" anchor="ctr"/>
          <a:lstStyle/>
          <a:p>
            <a:pPr marL="0" indent="0">
              <a:buNone/>
            </a:pPr>
            <a:r>
              <a:rPr lang="en-US" sz="1500" dirty="0">
                <a:solidFill>
                  <a:srgbClr val="E7E2F0"/>
                </a:solidFill>
                <a:latin typeface="Nunito" pitchFamily="34" charset="0"/>
                <a:ea typeface="Nunito" pitchFamily="34" charset="-122"/>
                <a:cs typeface="Nunito" pitchFamily="34" charset="-120"/>
              </a:rPr>
              <a:t>Multi-référence native + copyright</a:t>
            </a:r>
            <a:endParaRPr lang="en-US" sz="1500" dirty="0"/>
          </a:p>
        </p:txBody>
      </p:sp>
      <p:sp>
        <p:nvSpPr>
          <p:cNvPr id="10" name="Text 7"/>
          <p:cNvSpPr/>
          <p:nvPr/>
        </p:nvSpPr>
        <p:spPr>
          <a:xfrm>
            <a:off x="822960" y="3648456"/>
            <a:ext cx="475488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Gemini Flash + Groq</a:t>
            </a:r>
            <a:endParaRPr lang="en-US" sz="1600" dirty="0"/>
          </a:p>
        </p:txBody>
      </p:sp>
      <p:sp>
        <p:nvSpPr>
          <p:cNvPr id="11" name="Text 8"/>
          <p:cNvSpPr/>
          <p:nvPr/>
        </p:nvSpPr>
        <p:spPr>
          <a:xfrm>
            <a:off x="5760720" y="3648456"/>
            <a:ext cx="5486400" cy="457200"/>
          </a:xfrm>
          <a:prstGeom prst="rect">
            <a:avLst/>
          </a:prstGeom>
          <a:noFill/>
          <a:ln/>
        </p:spPr>
        <p:txBody>
          <a:bodyPr wrap="square" lIns="0" tIns="0" rIns="0" bIns="0" rtlCol="0" anchor="ctr"/>
          <a:lstStyle/>
          <a:p>
            <a:pPr marL="0" indent="0">
              <a:buNone/>
            </a:pPr>
            <a:r>
              <a:rPr lang="en-US" sz="1500" dirty="0">
                <a:solidFill>
                  <a:srgbClr val="E7E2F0"/>
                </a:solidFill>
                <a:latin typeface="Nunito" pitchFamily="34" charset="0"/>
                <a:ea typeface="Nunito" pitchFamily="34" charset="-122"/>
                <a:cs typeface="Nunito" pitchFamily="34" charset="-120"/>
              </a:rPr>
              <a:t>Fallback auto sur surcharge</a:t>
            </a:r>
            <a:endParaRPr lang="en-US" sz="1500" dirty="0"/>
          </a:p>
        </p:txBody>
      </p:sp>
      <p:sp>
        <p:nvSpPr>
          <p:cNvPr id="12" name="Text 9"/>
          <p:cNvSpPr/>
          <p:nvPr/>
        </p:nvSpPr>
        <p:spPr>
          <a:xfrm>
            <a:off x="822960" y="4306824"/>
            <a:ext cx="4754880" cy="457200"/>
          </a:xfrm>
          <a:prstGeom prst="rect">
            <a:avLst/>
          </a:prstGeom>
          <a:noFill/>
          <a:ln/>
        </p:spPr>
        <p:txBody>
          <a:bodyPr wrap="square" lIns="0" tIns="0" rIns="0" bIns="0" rtlCol="0" anchor="ctr"/>
          <a:lstStyle/>
          <a:p>
            <a:pPr marL="0" indent="0">
              <a:buNone/>
            </a:pPr>
            <a:r>
              <a:rPr lang="en-US" sz="1600" b="1" dirty="0">
                <a:solidFill>
                  <a:srgbClr val="C7A4FF"/>
                </a:solidFill>
                <a:latin typeface="Quicksand" pitchFamily="34" charset="0"/>
                <a:ea typeface="Quicksand" pitchFamily="34" charset="-122"/>
                <a:cs typeface="Quicksand" pitchFamily="34" charset="-120"/>
              </a:rPr>
              <a:t>React · Vite · Edge Functions</a:t>
            </a:r>
            <a:endParaRPr lang="en-US" sz="1600" dirty="0"/>
          </a:p>
        </p:txBody>
      </p:sp>
      <p:sp>
        <p:nvSpPr>
          <p:cNvPr id="13" name="Text 10"/>
          <p:cNvSpPr/>
          <p:nvPr/>
        </p:nvSpPr>
        <p:spPr>
          <a:xfrm>
            <a:off x="5760720" y="4306824"/>
            <a:ext cx="5486400" cy="457200"/>
          </a:xfrm>
          <a:prstGeom prst="rect">
            <a:avLst/>
          </a:prstGeom>
          <a:noFill/>
          <a:ln/>
        </p:spPr>
        <p:txBody>
          <a:bodyPr wrap="square" lIns="0" tIns="0" rIns="0" bIns="0" rtlCol="0" anchor="ctr"/>
          <a:lstStyle/>
          <a:p>
            <a:pPr marL="0" indent="0">
              <a:buNone/>
            </a:pPr>
            <a:r>
              <a:rPr lang="en-US" sz="1500" dirty="0">
                <a:solidFill>
                  <a:srgbClr val="E7E2F0"/>
                </a:solidFill>
                <a:latin typeface="Nunito" pitchFamily="34" charset="0"/>
                <a:ea typeface="Nunito" pitchFamily="34" charset="-122"/>
                <a:cs typeface="Nunito" pitchFamily="34" charset="-120"/>
              </a:rPr>
              <a:t>Zéro friction en dev solo</a:t>
            </a:r>
            <a:endParaRPr lang="en-US" sz="1500" dirty="0"/>
          </a:p>
        </p:txBody>
      </p:sp>
      <p:sp>
        <p:nvSpPr>
          <p:cNvPr id="14" name="Text 11"/>
          <p:cNvSpPr/>
          <p:nvPr/>
        </p:nvSpPr>
        <p:spPr>
          <a:xfrm>
            <a:off x="822960" y="5577840"/>
            <a:ext cx="10515600" cy="457200"/>
          </a:xfrm>
          <a:prstGeom prst="rect">
            <a:avLst/>
          </a:prstGeom>
          <a:noFill/>
          <a:ln/>
        </p:spPr>
        <p:txBody>
          <a:bodyPr wrap="square" lIns="0" tIns="0" rIns="0" bIns="0" rtlCol="0" anchor="ctr"/>
          <a:lstStyle/>
          <a:p>
            <a:pPr marL="0" indent="0">
              <a:buNone/>
            </a:pPr>
            <a:r>
              <a:rPr lang="en-US" sz="1500" i="1" dirty="0">
                <a:solidFill>
                  <a:srgbClr val="B9B1C9"/>
                </a:solidFill>
                <a:latin typeface="Nunito" pitchFamily="34" charset="0"/>
                <a:ea typeface="Nunito" pitchFamily="34" charset="-122"/>
                <a:cs typeface="Nunito" pitchFamily="34" charset="-120"/>
              </a:rPr>
              <a:t>Fil conducteur : maximiser ce qu'une seule personne peut livrer. Dépendances assumées et </a:t>
            </a:r>
            <a:r>
              <a:rPr lang="en-US" sz="1500" b="1" i="1" dirty="0">
                <a:solidFill>
                  <a:srgbClr val="6FD6BD"/>
                </a:solidFill>
                <a:latin typeface="Nunito" pitchFamily="34" charset="0"/>
                <a:ea typeface="Nunito" pitchFamily="34" charset="-122"/>
                <a:cs typeface="Nunito" pitchFamily="34" charset="-120"/>
              </a:rPr>
              <a:t>réversibles</a:t>
            </a:r>
            <a:r>
              <a:rPr lang="en-US" sz="1500" i="1" dirty="0">
                <a:solidFill>
                  <a:srgbClr val="B9B1C9"/>
                </a:solidFill>
                <a:latin typeface="Nunito" pitchFamily="34" charset="0"/>
                <a:ea typeface="Nunito" pitchFamily="34" charset="-122"/>
                <a:cs typeface="Nunito" pitchFamily="34" charset="-120"/>
              </a:rPr>
              <a: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CADRE JURIDIQUE IA</a:t>
            </a:r>
            <a:endParaRPr lang="en-US" sz="1300" dirty="0"/>
          </a:p>
        </p:txBody>
      </p:sp>
      <p:pic>
        <p:nvPicPr>
          <p:cNvPr id="3" name="Image 0" descr="C:\Users\kirit\AppData\Local\Temp\claude\C--Users-kirit-OneDrive-Bureau-DreamWeave\1dfcbb64-69b7-40e1-93a9-2561d034242f\scratchpad\deck-memoire\imgb\t22.png"/>
          <p:cNvPicPr>
            <a:picLocks noChangeAspect="1"/>
          </p:cNvPicPr>
          <p:nvPr/>
        </p:nvPicPr>
        <p:blipFill>
          <a:blip r:embed="rId3"/>
          <a:stretch>
            <a:fillRect/>
          </a:stretch>
        </p:blipFill>
        <p:spPr>
          <a:xfrm>
            <a:off x="822960" y="1097280"/>
            <a:ext cx="8206227" cy="508954"/>
          </a:xfrm>
          <a:prstGeom prst="rect">
            <a:avLst/>
          </a:prstGeom>
        </p:spPr>
      </p:pic>
      <p:sp>
        <p:nvSpPr>
          <p:cNvPr id="4" name="Shape 1"/>
          <p:cNvSpPr/>
          <p:nvPr/>
        </p:nvSpPr>
        <p:spPr>
          <a:xfrm>
            <a:off x="822960" y="2651760"/>
            <a:ext cx="3383280" cy="2011680"/>
          </a:xfrm>
          <a:prstGeom prst="roundRect">
            <a:avLst>
              <a:gd name="adj" fmla="val 4545"/>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5" name="Text 2"/>
          <p:cNvSpPr/>
          <p:nvPr/>
        </p:nvSpPr>
        <p:spPr>
          <a:xfrm>
            <a:off x="1051560" y="2926080"/>
            <a:ext cx="2926080" cy="731520"/>
          </a:xfrm>
          <a:prstGeom prst="rect">
            <a:avLst/>
          </a:prstGeom>
          <a:noFill/>
          <a:ln/>
        </p:spPr>
        <p:txBody>
          <a:bodyPr wrap="square" lIns="0" tIns="0" rIns="0" bIns="0" rtlCol="0" anchor="t"/>
          <a:lstStyle/>
          <a:p>
            <a:pPr marL="0" indent="0">
              <a:lnSpc>
                <a:spcPts val="2100"/>
              </a:lnSpc>
              <a:buNone/>
            </a:pPr>
            <a:r>
              <a:rPr lang="en-US" sz="1600" b="1" dirty="0">
                <a:solidFill>
                  <a:srgbClr val="6FD6BD"/>
                </a:solidFill>
                <a:latin typeface="Quicksand" pitchFamily="34" charset="0"/>
                <a:ea typeface="Quicksand" pitchFamily="34" charset="-122"/>
                <a:cs typeface="Quicksand" pitchFamily="34" charset="-120"/>
              </a:rPr>
              <a:t>Intervention humaine</a:t>
            </a:r>
            <a:endParaRPr lang="en-US" sz="1600" dirty="0"/>
          </a:p>
        </p:txBody>
      </p:sp>
      <p:sp>
        <p:nvSpPr>
          <p:cNvPr id="6" name="Text 3"/>
          <p:cNvSpPr/>
          <p:nvPr/>
        </p:nvSpPr>
        <p:spPr>
          <a:xfrm>
            <a:off x="1051560" y="3749040"/>
            <a:ext cx="2926080" cy="822960"/>
          </a:xfrm>
          <a:prstGeom prst="rect">
            <a:avLst/>
          </a:prstGeom>
          <a:noFill/>
          <a:ln/>
        </p:spPr>
        <p:txBody>
          <a:bodyPr wrap="square" lIns="0" tIns="0" rIns="0" bIns="0" rtlCol="0" anchor="t"/>
          <a:lstStyle/>
          <a:p>
            <a:pPr marL="0" indent="0">
              <a:lnSpc>
                <a:spcPts val="2000"/>
              </a:lnSpc>
              <a:buNone/>
            </a:pPr>
            <a:r>
              <a:rPr lang="en-US" sz="1400" dirty="0">
                <a:solidFill>
                  <a:srgbClr val="E7E2F0"/>
                </a:solidFill>
                <a:latin typeface="Nunito" pitchFamily="34" charset="0"/>
                <a:ea typeface="Nunito" pitchFamily="34" charset="-122"/>
                <a:cs typeface="Nunito" pitchFamily="34" charset="-120"/>
              </a:rPr>
              <a:t>sécurise la propriété (L.111-1 CPI)</a:t>
            </a:r>
            <a:endParaRPr lang="en-US" sz="1400" dirty="0"/>
          </a:p>
        </p:txBody>
      </p:sp>
      <p:sp>
        <p:nvSpPr>
          <p:cNvPr id="7" name="Shape 4"/>
          <p:cNvSpPr/>
          <p:nvPr/>
        </p:nvSpPr>
        <p:spPr>
          <a:xfrm>
            <a:off x="4434840" y="2651760"/>
            <a:ext cx="3383280" cy="2011680"/>
          </a:xfrm>
          <a:prstGeom prst="roundRect">
            <a:avLst>
              <a:gd name="adj" fmla="val 4545"/>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8" name="Text 5"/>
          <p:cNvSpPr/>
          <p:nvPr/>
        </p:nvSpPr>
        <p:spPr>
          <a:xfrm>
            <a:off x="4663440" y="2926080"/>
            <a:ext cx="2926080" cy="731520"/>
          </a:xfrm>
          <a:prstGeom prst="rect">
            <a:avLst/>
          </a:prstGeom>
          <a:noFill/>
          <a:ln/>
        </p:spPr>
        <p:txBody>
          <a:bodyPr wrap="square" lIns="0" tIns="0" rIns="0" bIns="0" rtlCol="0" anchor="t"/>
          <a:lstStyle/>
          <a:p>
            <a:pPr marL="0" indent="0">
              <a:lnSpc>
                <a:spcPts val="2100"/>
              </a:lnSpc>
              <a:buNone/>
            </a:pPr>
            <a:r>
              <a:rPr lang="en-US" sz="1600" b="1" dirty="0">
                <a:solidFill>
                  <a:srgbClr val="6FD6BD"/>
                </a:solidFill>
                <a:latin typeface="Quicksand" pitchFamily="34" charset="0"/>
                <a:ea typeface="Quicksand" pitchFamily="34" charset="-122"/>
                <a:cs typeface="Quicksand" pitchFamily="34" charset="-120"/>
              </a:rPr>
              <a:t>Badge de transparence</a:t>
            </a:r>
            <a:endParaRPr lang="en-US" sz="1600" dirty="0"/>
          </a:p>
        </p:txBody>
      </p:sp>
      <p:sp>
        <p:nvSpPr>
          <p:cNvPr id="9" name="Text 6"/>
          <p:cNvSpPr/>
          <p:nvPr/>
        </p:nvSpPr>
        <p:spPr>
          <a:xfrm>
            <a:off x="4663440" y="3749040"/>
            <a:ext cx="2926080" cy="822960"/>
          </a:xfrm>
          <a:prstGeom prst="rect">
            <a:avLst/>
          </a:prstGeom>
          <a:noFill/>
          <a:ln/>
        </p:spPr>
        <p:txBody>
          <a:bodyPr wrap="square" lIns="0" tIns="0" rIns="0" bIns="0" rtlCol="0" anchor="t"/>
          <a:lstStyle/>
          <a:p>
            <a:pPr marL="0" indent="0">
              <a:lnSpc>
                <a:spcPts val="2000"/>
              </a:lnSpc>
              <a:buNone/>
            </a:pPr>
            <a:r>
              <a:rPr lang="en-US" sz="1400" dirty="0">
                <a:solidFill>
                  <a:srgbClr val="E7E2F0"/>
                </a:solidFill>
                <a:latin typeface="Nunito" pitchFamily="34" charset="0"/>
                <a:ea typeface="Nunito" pitchFamily="34" charset="-122"/>
                <a:cs typeface="Nunito" pitchFamily="34" charset="-120"/>
              </a:rPr>
              <a:t>anticipe l'AI Act sur les exports</a:t>
            </a:r>
            <a:endParaRPr lang="en-US" sz="1400" dirty="0"/>
          </a:p>
        </p:txBody>
      </p:sp>
      <p:sp>
        <p:nvSpPr>
          <p:cNvPr id="10" name="Shape 7"/>
          <p:cNvSpPr/>
          <p:nvPr/>
        </p:nvSpPr>
        <p:spPr>
          <a:xfrm>
            <a:off x="8046720" y="2651760"/>
            <a:ext cx="3383280" cy="2011680"/>
          </a:xfrm>
          <a:prstGeom prst="roundRect">
            <a:avLst>
              <a:gd name="adj" fmla="val 4545"/>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11" name="Text 8"/>
          <p:cNvSpPr/>
          <p:nvPr/>
        </p:nvSpPr>
        <p:spPr>
          <a:xfrm>
            <a:off x="8275320" y="2926080"/>
            <a:ext cx="2926080" cy="731520"/>
          </a:xfrm>
          <a:prstGeom prst="rect">
            <a:avLst/>
          </a:prstGeom>
          <a:noFill/>
          <a:ln/>
        </p:spPr>
        <p:txBody>
          <a:bodyPr wrap="square" lIns="0" tIns="0" rIns="0" bIns="0" rtlCol="0" anchor="t"/>
          <a:lstStyle/>
          <a:p>
            <a:pPr marL="0" indent="0">
              <a:lnSpc>
                <a:spcPts val="2100"/>
              </a:lnSpc>
              <a:buNone/>
            </a:pPr>
            <a:r>
              <a:rPr lang="en-US" sz="1600" b="1" dirty="0">
                <a:solidFill>
                  <a:srgbClr val="6FD6BD"/>
                </a:solidFill>
                <a:latin typeface="Quicksand" pitchFamily="34" charset="0"/>
                <a:ea typeface="Quicksand" pitchFamily="34" charset="-122"/>
                <a:cs typeface="Quicksand" pitchFamily="34" charset="-120"/>
              </a:rPr>
              <a:t>Couverture copyright</a:t>
            </a:r>
            <a:endParaRPr lang="en-US" sz="1600" dirty="0"/>
          </a:p>
        </p:txBody>
      </p:sp>
      <p:sp>
        <p:nvSpPr>
          <p:cNvPr id="12" name="Text 9"/>
          <p:cNvSpPr/>
          <p:nvPr/>
        </p:nvSpPr>
        <p:spPr>
          <a:xfrm>
            <a:off x="8275320" y="3749040"/>
            <a:ext cx="2926080" cy="822960"/>
          </a:xfrm>
          <a:prstGeom prst="rect">
            <a:avLst/>
          </a:prstGeom>
          <a:noFill/>
          <a:ln/>
        </p:spPr>
        <p:txBody>
          <a:bodyPr wrap="square" lIns="0" tIns="0" rIns="0" bIns="0" rtlCol="0" anchor="t"/>
          <a:lstStyle/>
          <a:p>
            <a:pPr marL="0" indent="0">
              <a:lnSpc>
                <a:spcPts val="2000"/>
              </a:lnSpc>
              <a:buNone/>
            </a:pPr>
            <a:r>
              <a:rPr lang="en-US" sz="1400" dirty="0">
                <a:solidFill>
                  <a:srgbClr val="E7E2F0"/>
                </a:solidFill>
                <a:latin typeface="Nunito" pitchFamily="34" charset="0"/>
                <a:ea typeface="Nunito" pitchFamily="34" charset="-122"/>
                <a:cs typeface="Nunito" pitchFamily="34" charset="-120"/>
              </a:rPr>
              <a:t>héritée de FAL.ai</a:t>
            </a:r>
            <a:endParaRPr lang="en-US" sz="1400" dirty="0"/>
          </a:p>
        </p:txBody>
      </p:sp>
      <p:sp>
        <p:nvSpPr>
          <p:cNvPr id="13" name="Text 10"/>
          <p:cNvSpPr/>
          <p:nvPr/>
        </p:nvSpPr>
        <p:spPr>
          <a:xfrm>
            <a:off x="822960" y="5029200"/>
            <a:ext cx="10515600" cy="457200"/>
          </a:xfrm>
          <a:prstGeom prst="rect">
            <a:avLst/>
          </a:prstGeom>
          <a:noFill/>
          <a:ln/>
        </p:spPr>
        <p:txBody>
          <a:bodyPr wrap="square" lIns="0" tIns="0" rIns="0" bIns="0" rtlCol="0" anchor="ctr"/>
          <a:lstStyle/>
          <a:p>
            <a:pPr marL="0" indent="0">
              <a:buNone/>
            </a:pPr>
            <a:r>
              <a:rPr lang="en-US" sz="1550" b="1" i="1" dirty="0">
                <a:solidFill>
                  <a:srgbClr val="C7A4FF"/>
                </a:solidFill>
                <a:latin typeface="Nunito" pitchFamily="34" charset="0"/>
                <a:ea typeface="Nunito" pitchFamily="34" charset="-122"/>
                <a:cs typeface="Nunito" pitchFamily="34" charset="-120"/>
              </a:rPr>
              <a:t>DreamWeave</a:t>
            </a:r>
            <a:r>
              <a:rPr lang="en-US" sz="1550" i="1" dirty="0">
                <a:solidFill>
                  <a:srgbClr val="B9B1C9"/>
                </a:solidFill>
                <a:latin typeface="Nunito" pitchFamily="34" charset="0"/>
                <a:ea typeface="Nunito" pitchFamily="34" charset="-122"/>
                <a:cs typeface="Nunito" pitchFamily="34" charset="-120"/>
              </a:rPr>
              <a:t> se positionne comme l'outil le plus </a:t>
            </a:r>
            <a:r>
              <a:rPr lang="en-US" sz="1550" b="1" i="1" dirty="0">
                <a:solidFill>
                  <a:srgbClr val="6FD6BD"/>
                </a:solidFill>
                <a:latin typeface="Nunito" pitchFamily="34" charset="0"/>
                <a:ea typeface="Nunito" pitchFamily="34" charset="-122"/>
                <a:cs typeface="Nunito" pitchFamily="34" charset="-120"/>
              </a:rPr>
              <a:t>conforme</a:t>
            </a:r>
            <a:r>
              <a:rPr lang="en-US" sz="1550" i="1" dirty="0">
                <a:solidFill>
                  <a:srgbClr val="B9B1C9"/>
                </a:solidFill>
                <a:latin typeface="Nunito" pitchFamily="34" charset="0"/>
                <a:ea typeface="Nunito" pitchFamily="34" charset="-122"/>
                <a:cs typeface="Nunito" pitchFamily="34" charset="-120"/>
              </a:rPr>
              <a:t> du secteur : la contrainte devient un argument.</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ARCHITECTURE DE SCALE</a:t>
            </a:r>
            <a:endParaRPr lang="en-US" sz="1300" dirty="0"/>
          </a:p>
        </p:txBody>
      </p:sp>
      <p:pic>
        <p:nvPicPr>
          <p:cNvPr id="3" name="Image 0" descr="C:\Users\kirit\AppData\Local\Temp\claude\C--Users-kirit-OneDrive-Bureau-DreamWeave\1dfcbb64-69b7-40e1-93a9-2561d034242f\scratchpad\deck-memoire\imgb\t23.png"/>
          <p:cNvPicPr>
            <a:picLocks noChangeAspect="1"/>
          </p:cNvPicPr>
          <p:nvPr/>
        </p:nvPicPr>
        <p:blipFill>
          <a:blip r:embed="rId3"/>
          <a:stretch>
            <a:fillRect/>
          </a:stretch>
        </p:blipFill>
        <p:spPr>
          <a:xfrm>
            <a:off x="822960" y="1097280"/>
            <a:ext cx="5246948" cy="409262"/>
          </a:xfrm>
          <a:prstGeom prst="rect">
            <a:avLst/>
          </a:prstGeom>
        </p:spPr>
      </p:pic>
      <p:sp>
        <p:nvSpPr>
          <p:cNvPr id="4" name="Text 1"/>
          <p:cNvSpPr/>
          <p:nvPr/>
        </p:nvSpPr>
        <p:spPr>
          <a:xfrm>
            <a:off x="822960" y="2560320"/>
            <a:ext cx="1005840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Pour chaque composant : sa limite actuelle et son évolution priorisée (P1/P2/P3)</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Objectif : passer les 10 000 utilisateurs actifs mensuels</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Le LoRA reste planifié comme une évolution de scale, pas comme un socle</a:t>
            </a:r>
            <a:endParaRPr lang="en-US" sz="1700" dirty="0"/>
          </a:p>
        </p:txBody>
      </p:sp>
      <p:sp>
        <p:nvSpPr>
          <p:cNvPr id="5" name="Text 2"/>
          <p:cNvSpPr/>
          <p:nvPr/>
        </p:nvSpPr>
        <p:spPr>
          <a:xfrm>
            <a:off x="822960" y="4937760"/>
            <a:ext cx="10515600" cy="640080"/>
          </a:xfrm>
          <a:prstGeom prst="rect">
            <a:avLst/>
          </a:prstGeom>
          <a:noFill/>
          <a:ln/>
        </p:spPr>
        <p:txBody>
          <a:bodyPr wrap="square" lIns="0" tIns="0" rIns="0" bIns="0" rtlCol="0" anchor="ctr"/>
          <a:lstStyle/>
          <a:p>
            <a:pPr marL="0" indent="0">
              <a:lnSpc>
                <a:spcPts val="2300"/>
              </a:lnSpc>
              <a:buNone/>
            </a:pPr>
            <a:r>
              <a:rPr lang="en-US" sz="1600" i="1" dirty="0">
                <a:solidFill>
                  <a:srgbClr val="C7A4FF"/>
                </a:solidFill>
                <a:latin typeface="Nunito" pitchFamily="34" charset="0"/>
                <a:ea typeface="Nunito" pitchFamily="34" charset="-122"/>
                <a:cs typeface="Nunito" pitchFamily="34" charset="-120"/>
              </a:rPr>
              <a:t>Les choix d'aujourd'hui sont des choix de phase de lancement, pas des impasses. Chaque limite a déjà son plan de dépassement.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CONCLUSION</a:t>
            </a:r>
            <a:endParaRPr lang="en-US" sz="1300" dirty="0"/>
          </a:p>
        </p:txBody>
      </p:sp>
      <p:pic>
        <p:nvPicPr>
          <p:cNvPr id="3" name="Image 0" descr="C:\Users\kirit\AppData\Local\Temp\claude\C--Users-kirit-OneDrive-Bureau-DreamWeave\1dfcbb64-69b7-40e1-93a9-2561d034242f\scratchpad\deck-memoire\imgb\t24.png"/>
          <p:cNvPicPr>
            <a:picLocks noChangeAspect="1"/>
          </p:cNvPicPr>
          <p:nvPr/>
        </p:nvPicPr>
        <p:blipFill>
          <a:blip r:embed="rId3"/>
          <a:stretch>
            <a:fillRect/>
          </a:stretch>
        </p:blipFill>
        <p:spPr>
          <a:xfrm>
            <a:off x="822960" y="1097280"/>
            <a:ext cx="7985855" cy="493213"/>
          </a:xfrm>
          <a:prstGeom prst="rect">
            <a:avLst/>
          </a:prstGeom>
        </p:spPr>
      </p:pic>
      <p:pic>
        <p:nvPicPr>
          <p:cNvPr id="4" name="Image 1" descr="C:\Users\kirit\AppData\Local\Temp\claude\C--Users-kirit-OneDrive-Bureau-DreamWeave\1dfcbb64-69b7-40e1-93a9-2561d034242f\scratchpad\deck-memoire\imgb\h_eur.png"/>
          <p:cNvPicPr>
            <a:picLocks noChangeAspect="1"/>
          </p:cNvPicPr>
          <p:nvPr/>
        </p:nvPicPr>
        <p:blipFill>
          <a:blip r:embed="rId4"/>
          <a:stretch>
            <a:fillRect/>
          </a:stretch>
        </p:blipFill>
        <p:spPr>
          <a:xfrm>
            <a:off x="868680" y="3429000"/>
            <a:ext cx="3281845" cy="1051560"/>
          </a:xfrm>
          <a:prstGeom prst="rect">
            <a:avLst/>
          </a:prstGeom>
        </p:spPr>
      </p:pic>
      <p:sp>
        <p:nvSpPr>
          <p:cNvPr id="5" name="Text 1"/>
          <p:cNvSpPr/>
          <p:nvPr/>
        </p:nvSpPr>
        <p:spPr>
          <a:xfrm>
            <a:off x="914400" y="4754880"/>
            <a:ext cx="5394960" cy="1005840"/>
          </a:xfrm>
          <a:prstGeom prst="rect">
            <a:avLst/>
          </a:prstGeom>
          <a:noFill/>
          <a:ln/>
        </p:spPr>
        <p:txBody>
          <a:bodyPr wrap="square" lIns="0" tIns="0" rIns="0" bIns="0" rtlCol="0" anchor="t"/>
          <a:lstStyle/>
          <a:p>
            <a:pPr marL="0" indent="0">
              <a:lnSpc>
                <a:spcPts val="2400"/>
              </a:lnSpc>
              <a:buNone/>
            </a:pPr>
            <a:r>
              <a:rPr lang="en-US" sz="1650" dirty="0">
                <a:solidFill>
                  <a:srgbClr val="B9B1C9"/>
                </a:solidFill>
                <a:latin typeface="Nunito" pitchFamily="34" charset="0"/>
                <a:ea typeface="Nunito" pitchFamily="34" charset="-122"/>
                <a:cs typeface="Nunito" pitchFamily="34" charset="-120"/>
              </a:rPr>
              <a:t>le chapitre, contre </a:t>
            </a:r>
            <a:r>
              <a:rPr lang="en-US" sz="1650" b="1" dirty="0">
                <a:solidFill>
                  <a:srgbClr val="E389B5"/>
                </a:solidFill>
                <a:latin typeface="Nunito" pitchFamily="34" charset="0"/>
                <a:ea typeface="Nunito" pitchFamily="34" charset="-122"/>
                <a:cs typeface="Nunito" pitchFamily="34" charset="-120"/>
              </a:rPr>
              <a:t>300 à 1 500 €</a:t>
            </a:r>
            <a:r>
              <a:rPr lang="en-US" sz="1650" dirty="0">
                <a:solidFill>
                  <a:srgbClr val="B9B1C9"/>
                </a:solidFill>
                <a:latin typeface="Nunito" pitchFamily="34" charset="0"/>
                <a:ea typeface="Nunito" pitchFamily="34" charset="-122"/>
                <a:cs typeface="Nunito" pitchFamily="34" charset="-120"/>
              </a:rPr>
              <a:t> aujourd'hui</a:t>
            </a:r>
            <a:endParaRPr lang="en-US" sz="1650" dirty="0"/>
          </a:p>
        </p:txBody>
      </p:sp>
      <p:sp>
        <p:nvSpPr>
          <p:cNvPr id="6" name="Text 2"/>
          <p:cNvSpPr/>
          <p:nvPr/>
        </p:nvSpPr>
        <p:spPr>
          <a:xfrm>
            <a:off x="6720840" y="2926080"/>
            <a:ext cx="4892040" cy="3657600"/>
          </a:xfrm>
          <a:prstGeom prst="rect">
            <a:avLst/>
          </a:prstGeom>
          <a:noFill/>
          <a:ln/>
        </p:spPr>
        <p:txBody>
          <a:bodyPr wrap="square" lIns="0" tIns="0" rIns="0" bIns="0" rtlCol="0" anchor="t"/>
          <a:lstStyle/>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Un marché qui grandit vite</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b="1" dirty="0">
                <a:solidFill>
                  <a:srgbClr val="F0A868"/>
                </a:solidFill>
                <a:latin typeface="Nunito" pitchFamily="34" charset="0"/>
                <a:ea typeface="Nunito" pitchFamily="34" charset="-122"/>
                <a:cs typeface="Nunito" pitchFamily="34" charset="-120"/>
              </a:rPr>
              <a:t>86 %</a:t>
            </a:r>
            <a:r>
              <a:rPr lang="en-US" sz="1700" dirty="0">
                <a:solidFill>
                  <a:srgbClr val="E7E2F0"/>
                </a:solidFill>
                <a:latin typeface="Nunito" pitchFamily="34" charset="0"/>
                <a:ea typeface="Nunito" pitchFamily="34" charset="-122"/>
                <a:cs typeface="Nunito" pitchFamily="34" charset="-120"/>
              </a:rPr>
              <a:t> des créateurs utilisent déjà l'IA</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Personne ne résout vraiment la cohérence</a:t>
            </a:r>
            <a:endParaRPr lang="en-US" sz="1700" dirty="0"/>
          </a:p>
          <a:p>
            <a:pPr marL="0" indent="0">
              <a:lnSpc>
                <a:spcPts val="2380"/>
              </a:lnSpc>
              <a:buNone/>
            </a:pPr>
            <a:r>
              <a:rPr lang="en-US" sz="1700" b="1" dirty="0">
                <a:solidFill>
                  <a:srgbClr val="B18CF0"/>
                </a:solidFill>
                <a:latin typeface="Nunito" pitchFamily="34" charset="0"/>
                <a:ea typeface="Nunito" pitchFamily="34" charset="-122"/>
                <a:cs typeface="Nunito" pitchFamily="34" charset="-120"/>
              </a:rPr>
              <a:t>•   </a:t>
            </a:r>
            <a:r>
              <a:rPr lang="en-US" sz="1700" dirty="0">
                <a:solidFill>
                  <a:srgbClr val="E7E2F0"/>
                </a:solidFill>
                <a:latin typeface="Nunito" pitchFamily="34" charset="0"/>
                <a:ea typeface="Nunito" pitchFamily="34" charset="-122"/>
                <a:cs typeface="Nunito" pitchFamily="34" charset="-120"/>
              </a:rPr>
              <a:t>Le prototype tourne, modèle soutenable dès le 1er utilisateur </a:t>
            </a:r>
            <a:r>
              <a:rPr lang="en-US" sz="1700" b="1" dirty="0">
                <a:solidFill>
                  <a:srgbClr val="6FD6BD"/>
                </a:solidFill>
                <a:latin typeface="Nunito" pitchFamily="34" charset="0"/>
                <a:ea typeface="Nunito" pitchFamily="34" charset="-122"/>
                <a:cs typeface="Nunito" pitchFamily="34" charset="-120"/>
              </a:rPr>
              <a:t>gratuit</a:t>
            </a:r>
            <a:endParaRPr lang="en-US" sz="1700" dirty="0"/>
          </a:p>
        </p:txBody>
      </p:sp>
      <p:sp>
        <p:nvSpPr>
          <p:cNvPr id="7" name="Text 3"/>
          <p:cNvSpPr/>
          <p:nvPr/>
        </p:nvSpPr>
        <p:spPr>
          <a:xfrm>
            <a:off x="822960" y="6172200"/>
            <a:ext cx="10515600" cy="457200"/>
          </a:xfrm>
          <a:prstGeom prst="rect">
            <a:avLst/>
          </a:prstGeom>
          <a:noFill/>
          <a:ln/>
        </p:spPr>
        <p:txBody>
          <a:bodyPr wrap="square" lIns="0" tIns="0" rIns="0" bIns="0" rtlCol="0" anchor="ctr"/>
          <a:lstStyle/>
          <a:p>
            <a:pPr marL="0" indent="0">
              <a:buNone/>
            </a:pPr>
            <a:r>
              <a:rPr lang="en-US" sz="1550" b="1" i="1" dirty="0">
                <a:solidFill>
                  <a:srgbClr val="C7A4FF"/>
                </a:solidFill>
                <a:latin typeface="Quicksand" pitchFamily="34" charset="0"/>
                <a:ea typeface="Quicksand" pitchFamily="34" charset="-122"/>
                <a:cs typeface="Quicksand" pitchFamily="34" charset="-120"/>
              </a:rPr>
              <a:t>« La solution suffisante et livrable bat la solution parfaite et inatteignable. »</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0A12"/>
        </a:solidFill>
        <a:effectLst/>
      </p:bgPr>
    </p:bg>
    <p:spTree>
      <p:nvGrpSpPr>
        <p:cNvPr id="1" name=""/>
        <p:cNvGrpSpPr/>
        <p:nvPr/>
      </p:nvGrpSpPr>
      <p:grpSpPr>
        <a:xfrm>
          <a:off x="0" y="0"/>
          <a:ext cx="0" cy="0"/>
          <a:chOff x="0" y="0"/>
          <a:chExt cx="0" cy="0"/>
        </a:xfrm>
      </p:grpSpPr>
      <p:sp>
        <p:nvSpPr>
          <p:cNvPr id="2" name="Text 0"/>
          <p:cNvSpPr/>
          <p:nvPr/>
        </p:nvSpPr>
        <p:spPr>
          <a:xfrm>
            <a:off x="822960" y="566928"/>
            <a:ext cx="8229600" cy="292608"/>
          </a:xfrm>
          <a:prstGeom prst="rect">
            <a:avLst/>
          </a:prstGeom>
          <a:noFill/>
          <a:ln/>
        </p:spPr>
        <p:txBody>
          <a:bodyPr wrap="square" lIns="0" tIns="0" rIns="0" bIns="0" rtlCol="0" anchor="ctr"/>
          <a:lstStyle/>
          <a:p>
            <a:pPr marL="0" indent="0">
              <a:buNone/>
            </a:pPr>
            <a:r>
              <a:rPr lang="en-US" sz="1300" b="1" kern="0" spc="300" dirty="0">
                <a:solidFill>
                  <a:srgbClr val="F0A868"/>
                </a:solidFill>
                <a:latin typeface="Quicksand" pitchFamily="34" charset="0"/>
                <a:ea typeface="Quicksand" pitchFamily="34" charset="-122"/>
                <a:cs typeface="Quicksand" pitchFamily="34" charset="-120"/>
              </a:rPr>
              <a:t>RIGUEUR</a:t>
            </a:r>
            <a:endParaRPr lang="en-US" sz="1300" dirty="0"/>
          </a:p>
        </p:txBody>
      </p:sp>
      <p:pic>
        <p:nvPicPr>
          <p:cNvPr id="3" name="Image 0" descr="C:\Users\kirit\AppData\Local\Temp\claude\C--Users-kirit-OneDrive-Bureau-DreamWeave\1dfcbb64-69b7-40e1-93a9-2561d034242f\scratchpad\deck-memoire\imgb\t25.png"/>
          <p:cNvPicPr>
            <a:picLocks noChangeAspect="1"/>
          </p:cNvPicPr>
          <p:nvPr/>
        </p:nvPicPr>
        <p:blipFill>
          <a:blip r:embed="rId3"/>
          <a:stretch>
            <a:fillRect/>
          </a:stretch>
        </p:blipFill>
        <p:spPr>
          <a:xfrm>
            <a:off x="822960" y="1097280"/>
            <a:ext cx="6013003" cy="493213"/>
          </a:xfrm>
          <a:prstGeom prst="rect">
            <a:avLst/>
          </a:prstGeom>
        </p:spPr>
      </p:pic>
      <p:sp>
        <p:nvSpPr>
          <p:cNvPr id="4" name="Shape 1"/>
          <p:cNvSpPr/>
          <p:nvPr/>
        </p:nvSpPr>
        <p:spPr>
          <a:xfrm>
            <a:off x="822960" y="2194560"/>
            <a:ext cx="5212080" cy="3749040"/>
          </a:xfrm>
          <a:prstGeom prst="roundRect">
            <a:avLst>
              <a:gd name="adj" fmla="val 2439"/>
            </a:avLst>
          </a:prstGeom>
          <a:solidFill>
            <a:srgbClr val="181320"/>
          </a:solidFill>
          <a:ln w="12700">
            <a:solidFill>
              <a:srgbClr val="2C2440"/>
            </a:solidFill>
            <a:prstDash val="solid"/>
          </a:ln>
          <a:effectLst>
            <a:outerShdw blurRad="228600" dist="63500" dir="5400000" algn="bl" rotWithShape="0">
              <a:srgbClr val="000000">
                <a:alpha val="45000"/>
              </a:srgbClr>
            </a:outerShdw>
          </a:effectLst>
        </p:spPr>
      </p:sp>
      <p:sp>
        <p:nvSpPr>
          <p:cNvPr id="5" name="Text 2"/>
          <p:cNvSpPr/>
          <p:nvPr/>
        </p:nvSpPr>
        <p:spPr>
          <a:xfrm>
            <a:off x="1097280" y="2423160"/>
            <a:ext cx="4572000" cy="274320"/>
          </a:xfrm>
          <a:prstGeom prst="rect">
            <a:avLst/>
          </a:prstGeom>
          <a:noFill/>
          <a:ln/>
        </p:spPr>
        <p:txBody>
          <a:bodyPr wrap="square" lIns="0" tIns="0" rIns="0" bIns="0" rtlCol="0" anchor="ctr"/>
          <a:lstStyle/>
          <a:p>
            <a:pPr marL="0" indent="0">
              <a:buNone/>
            </a:pPr>
            <a:r>
              <a:rPr lang="en-US" sz="1200" b="1" kern="0" spc="200" dirty="0">
                <a:solidFill>
                  <a:srgbClr val="F0A868"/>
                </a:solidFill>
                <a:latin typeface="Quicksand" pitchFamily="34" charset="0"/>
                <a:ea typeface="Quicksand" pitchFamily="34" charset="-122"/>
                <a:cs typeface="Quicksand" pitchFamily="34" charset="-120"/>
              </a:rPr>
              <a:t>SOURCES EXTERNES</a:t>
            </a:r>
            <a:endParaRPr lang="en-US" sz="1200" dirty="0"/>
          </a:p>
        </p:txBody>
      </p:sp>
      <p:sp>
        <p:nvSpPr>
          <p:cNvPr id="6" name="Text 3"/>
          <p:cNvSpPr/>
          <p:nvPr/>
        </p:nvSpPr>
        <p:spPr>
          <a:xfrm>
            <a:off x="1097280" y="2788920"/>
            <a:ext cx="4754880" cy="2926080"/>
          </a:xfrm>
          <a:prstGeom prst="rect">
            <a:avLst/>
          </a:prstGeom>
          <a:noFill/>
          <a:ln/>
        </p:spPr>
        <p:txBody>
          <a:bodyPr wrap="square" lIns="0" tIns="0" rIns="0" bIns="0" rtlCol="0" anchor="t"/>
          <a:lstStyle/>
          <a:p>
            <a:pPr marL="0" indent="0">
              <a:lnSpc>
                <a:spcPts val="2300"/>
              </a:lnSpc>
              <a:buNone/>
            </a:pPr>
            <a:r>
              <a:rPr lang="en-US" sz="1350" dirty="0">
                <a:solidFill>
                  <a:srgbClr val="E7E2F0"/>
                </a:solidFill>
                <a:latin typeface="Nunito" pitchFamily="34" charset="0"/>
                <a:ea typeface="Nunito" pitchFamily="34" charset="-122"/>
                <a:cs typeface="Nunito" pitchFamily="34" charset="-120"/>
              </a:rPr>
              <a:t>[1] Cho, Adkins &amp; Long (2025)</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[2] SEC S-1 Webtoon (2024) · 170 M / 24 M</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[3] Grand View Research · 45,3 Md$</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[4] Adobe Creators' Toolkit · 86 %</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[5] Dashtoon x KWIA (2024)</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[6] Vox Illustration · 300-1 500 €</a:t>
            </a:r>
            <a:endParaRPr lang="en-US" sz="1350" dirty="0"/>
          </a:p>
          <a:p>
            <a:pPr marL="0" indent="0">
              <a:lnSpc>
                <a:spcPts val="2300"/>
              </a:lnSpc>
              <a:buNone/>
            </a:pPr>
            <a:r>
              <a:rPr lang="en-US" sz="1350" dirty="0">
                <a:solidFill>
                  <a:srgbClr val="E7E2F0"/>
                </a:solidFill>
                <a:latin typeface="Nunito" pitchFamily="34" charset="0"/>
                <a:ea typeface="Nunito" pitchFamily="34" charset="-122"/>
                <a:cs typeface="Nunito" pitchFamily="34" charset="-120"/>
              </a:rPr>
              <a:t>Google Trends · +200 %</a:t>
            </a:r>
            <a:endParaRPr lang="en-US" sz="1350" dirty="0"/>
          </a:p>
        </p:txBody>
      </p:sp>
      <p:sp>
        <p:nvSpPr>
          <p:cNvPr id="7" name="Shape 4"/>
          <p:cNvSpPr/>
          <p:nvPr/>
        </p:nvSpPr>
        <p:spPr>
          <a:xfrm>
            <a:off x="6309360" y="2194560"/>
            <a:ext cx="5029200" cy="3749040"/>
          </a:xfrm>
          <a:prstGeom prst="roundRect">
            <a:avLst>
              <a:gd name="adj" fmla="val 2439"/>
            </a:avLst>
          </a:prstGeom>
          <a:solidFill>
            <a:srgbClr val="14101B"/>
          </a:solidFill>
          <a:ln w="12700">
            <a:solidFill>
              <a:srgbClr val="2C2440"/>
            </a:solidFill>
            <a:prstDash val="solid"/>
          </a:ln>
          <a:effectLst>
            <a:outerShdw blurRad="228600" dist="63500" dir="5400000" algn="bl" rotWithShape="0">
              <a:srgbClr val="000000">
                <a:alpha val="45000"/>
              </a:srgbClr>
            </a:outerShdw>
          </a:effectLst>
        </p:spPr>
      </p:sp>
      <p:sp>
        <p:nvSpPr>
          <p:cNvPr id="8" name="Text 5"/>
          <p:cNvSpPr/>
          <p:nvPr/>
        </p:nvSpPr>
        <p:spPr>
          <a:xfrm>
            <a:off x="6583680" y="2423160"/>
            <a:ext cx="4572000" cy="274320"/>
          </a:xfrm>
          <a:prstGeom prst="rect">
            <a:avLst/>
          </a:prstGeom>
          <a:noFill/>
          <a:ln/>
        </p:spPr>
        <p:txBody>
          <a:bodyPr wrap="square" lIns="0" tIns="0" rIns="0" bIns="0" rtlCol="0" anchor="ctr"/>
          <a:lstStyle/>
          <a:p>
            <a:pPr marL="0" indent="0">
              <a:buNone/>
            </a:pPr>
            <a:r>
              <a:rPr lang="en-US" sz="1200" b="1" kern="0" spc="200" dirty="0">
                <a:solidFill>
                  <a:srgbClr val="6FD6BD"/>
                </a:solidFill>
                <a:latin typeface="Quicksand" pitchFamily="34" charset="0"/>
                <a:ea typeface="Quicksand" pitchFamily="34" charset="-122"/>
                <a:cs typeface="Quicksand" pitchFamily="34" charset="-120"/>
              </a:rPr>
              <a:t>PREUVES DE RÉFLEXION</a:t>
            </a:r>
            <a:endParaRPr lang="en-US" sz="1200" dirty="0"/>
          </a:p>
        </p:txBody>
      </p:sp>
      <p:sp>
        <p:nvSpPr>
          <p:cNvPr id="9" name="Text 6"/>
          <p:cNvSpPr/>
          <p:nvPr/>
        </p:nvSpPr>
        <p:spPr>
          <a:xfrm>
            <a:off x="6583680" y="2788920"/>
            <a:ext cx="4572000" cy="2926080"/>
          </a:xfrm>
          <a:prstGeom prst="rect">
            <a:avLst/>
          </a:prstGeom>
          <a:noFill/>
          <a:ln/>
        </p:spPr>
        <p:txBody>
          <a:bodyPr wrap="square" lIns="0" tIns="0" rIns="0" bIns="0" rtlCol="0" anchor="t"/>
          <a:lstStyle/>
          <a:p>
            <a:pPr marL="0" indent="0">
              <a:lnSpc>
                <a:spcPts val="2600"/>
              </a:lnSpc>
              <a:buNone/>
            </a:pPr>
            <a:r>
              <a:rPr lang="en-US" sz="1350" dirty="0">
                <a:solidFill>
                  <a:srgbClr val="E7E2F0"/>
                </a:solidFill>
                <a:latin typeface="Nunito" pitchFamily="34" charset="0"/>
                <a:ea typeface="Nunito" pitchFamily="34" charset="-122"/>
                <a:cs typeface="Nunito" pitchFamily="34" charset="-120"/>
              </a:rPr>
              <a:t>WTP personas (prix marché SaaS)</a:t>
            </a:r>
            <a:endParaRPr lang="en-US" sz="1350" dirty="0"/>
          </a:p>
          <a:p>
            <a:pPr marL="0" indent="0">
              <a:lnSpc>
                <a:spcPts val="2600"/>
              </a:lnSpc>
              <a:buNone/>
            </a:pPr>
            <a:r>
              <a:rPr lang="en-US" sz="1350" dirty="0">
                <a:solidFill>
                  <a:srgbClr val="E7E2F0"/>
                </a:solidFill>
                <a:latin typeface="Nunito" pitchFamily="34" charset="0"/>
                <a:ea typeface="Nunito" pitchFamily="34" charset="-122"/>
                <a:cs typeface="Nunito" pitchFamily="34" charset="-120"/>
              </a:rPr>
              <a:t>0,065 €/génération (API FAL.ai)</a:t>
            </a:r>
            <a:endParaRPr lang="en-US" sz="1350" dirty="0"/>
          </a:p>
          <a:p>
            <a:pPr marL="0" indent="0">
              <a:lnSpc>
                <a:spcPts val="2600"/>
              </a:lnSpc>
              <a:buNone/>
            </a:pPr>
            <a:r>
              <a:rPr lang="en-US" sz="1350" dirty="0">
                <a:solidFill>
                  <a:srgbClr val="E7E2F0"/>
                </a:solidFill>
                <a:latin typeface="Nunito" pitchFamily="34" charset="0"/>
                <a:ea typeface="Nunito" pitchFamily="34" charset="-122"/>
                <a:cs typeface="Nunito" pitchFamily="34" charset="-120"/>
              </a:rPr>
              <a:t>ARR ~137 000 € (600 × 19 € × 12)</a:t>
            </a:r>
            <a:endParaRPr lang="en-US" sz="1350" dirty="0"/>
          </a:p>
          <a:p>
            <a:pPr marL="0" indent="0">
              <a:lnSpc>
                <a:spcPts val="2600"/>
              </a:lnSpc>
              <a:buNone/>
            </a:pPr>
            <a:r>
              <a:rPr lang="en-US" sz="1350" dirty="0">
                <a:solidFill>
                  <a:srgbClr val="E7E2F0"/>
                </a:solidFill>
                <a:latin typeface="Nunito" pitchFamily="34" charset="0"/>
                <a:ea typeface="Nunito" pitchFamily="34" charset="-122"/>
                <a:cs typeface="Nunito" pitchFamily="34" charset="-120"/>
              </a:rPr>
              <a:t>Break-even 10-15 abonnés</a:t>
            </a:r>
            <a:endParaRPr lang="en-US" sz="1350" dirty="0"/>
          </a:p>
          <a:p>
            <a:pPr marL="0" indent="0">
              <a:lnSpc>
                <a:spcPts val="2600"/>
              </a:lnSpc>
              <a:buNone/>
            </a:pPr>
            <a:r>
              <a:rPr lang="en-US" sz="1350" dirty="0">
                <a:solidFill>
                  <a:srgbClr val="E7E2F0"/>
                </a:solidFill>
                <a:latin typeface="Nunito" pitchFamily="34" charset="0"/>
                <a:ea typeface="Nunito" pitchFamily="34" charset="-122"/>
                <a:cs typeface="Nunito" pitchFamily="34" charset="-120"/>
              </a:rPr>
              <a:t>~50 tokens · ~90 % du LoRA (POC)</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0A12"/>
        </a:solidFill>
        <a:effectLst/>
      </p:bgPr>
    </p:bg>
    <p:spTree>
      <p:nvGrpSpPr>
        <p:cNvPr id="1" name=""/>
        <p:cNvGrpSpPr/>
        <p:nvPr/>
      </p:nvGrpSpPr>
      <p:grpSpPr>
        <a:xfrm>
          <a:off x="0" y="0"/>
          <a:ext cx="0" cy="0"/>
          <a:chOff x="0" y="0"/>
          <a:chExt cx="0" cy="0"/>
        </a:xfrm>
      </p:grpSpPr>
      <p:pic>
        <p:nvPicPr>
          <p:cNvPr id="2" name="Image 0" descr="C:\Users\kirit\AppData\Local\Temp\claude\C--Users-kirit-OneDrive-Bureau-DreamWeave\1dfcbb64-69b7-40e1-93a9-2561d034242f\scratchpad\deck-memoire\imgb\merci.png"/>
          <p:cNvPicPr>
            <a:picLocks noChangeAspect="1"/>
          </p:cNvPicPr>
          <p:nvPr/>
        </p:nvPicPr>
        <p:blipFill>
          <a:blip r:embed="rId3"/>
          <a:stretch>
            <a:fillRect/>
          </a:stretch>
        </p:blipFill>
        <p:spPr>
          <a:xfrm>
            <a:off x="3234191" y="2240280"/>
            <a:ext cx="5723313" cy="1554480"/>
          </a:xfrm>
          <a:prstGeom prst="rect">
            <a:avLst/>
          </a:prstGeom>
        </p:spPr>
      </p:pic>
      <p:pic>
        <p:nvPicPr>
          <p:cNvPr id="3" name="Image 1" descr="C:\Users\kirit\AppData\Local\Temp\claude\C--Users-kirit-OneDrive-Bureau-DreamWeave\1dfcbb64-69b7-40e1-93a9-2561d034242f\scratchpad\deck-memoire\imgb\rule.png"/>
          <p:cNvPicPr>
            <a:picLocks noChangeAspect="1"/>
          </p:cNvPicPr>
          <p:nvPr/>
        </p:nvPicPr>
        <p:blipFill>
          <a:blip r:embed="rId4"/>
          <a:stretch>
            <a:fillRect/>
          </a:stretch>
        </p:blipFill>
        <p:spPr>
          <a:xfrm>
            <a:off x="4678528" y="3840480"/>
            <a:ext cx="2834640" cy="64008"/>
          </a:xfrm>
          <a:prstGeom prst="rect">
            <a:avLst/>
          </a:prstGeom>
        </p:spPr>
      </p:pic>
      <p:sp>
        <p:nvSpPr>
          <p:cNvPr id="4" name="Text 0"/>
          <p:cNvSpPr/>
          <p:nvPr/>
        </p:nvSpPr>
        <p:spPr>
          <a:xfrm>
            <a:off x="0" y="4069080"/>
            <a:ext cx="12191695" cy="548640"/>
          </a:xfrm>
          <a:prstGeom prst="rect">
            <a:avLst/>
          </a:prstGeom>
          <a:noFill/>
          <a:ln/>
        </p:spPr>
        <p:txBody>
          <a:bodyPr wrap="square" lIns="0" tIns="0" rIns="0" bIns="0" rtlCol="0" anchor="ctr"/>
          <a:lstStyle/>
          <a:p>
            <a:pPr marL="0" indent="0" algn="ctr">
              <a:buNone/>
            </a:pPr>
            <a:r>
              <a:rPr lang="en-US" sz="2000" i="1" dirty="0">
                <a:solidFill>
                  <a:srgbClr val="B9B1C9"/>
                </a:solidFill>
                <a:latin typeface="Nunito" pitchFamily="34" charset="0"/>
                <a:ea typeface="Nunito" pitchFamily="34" charset="-122"/>
                <a:cs typeface="Nunito" pitchFamily="34" charset="-120"/>
              </a:rPr>
              <a:t>Je suis à votre disposition pour vos questions.</a:t>
            </a:r>
            <a:endParaRPr lang="en-US" sz="2000" dirty="0"/>
          </a:p>
        </p:txBody>
      </p:sp>
      <p:sp>
        <p:nvSpPr>
          <p:cNvPr id="5" name="Text 1"/>
          <p:cNvSpPr/>
          <p:nvPr/>
        </p:nvSpPr>
        <p:spPr>
          <a:xfrm>
            <a:off x="0" y="4983480"/>
            <a:ext cx="12191695" cy="365760"/>
          </a:xfrm>
          <a:prstGeom prst="rect">
            <a:avLst/>
          </a:prstGeom>
          <a:noFill/>
          <a:ln/>
        </p:spPr>
        <p:txBody>
          <a:bodyPr wrap="square" lIns="0" tIns="0" rIns="0" bIns="0" rtlCol="0" anchor="ctr"/>
          <a:lstStyle/>
          <a:p>
            <a:pPr marL="0" indent="0" algn="ctr">
              <a:buNone/>
            </a:pPr>
            <a:r>
              <a:rPr lang="en-US" sz="1500" b="1" dirty="0">
                <a:solidFill>
                  <a:srgbClr val="6FD6BD"/>
                </a:solidFill>
                <a:latin typeface="Quicksand" pitchFamily="34" charset="0"/>
                <a:ea typeface="Quicksand" pitchFamily="34" charset="-122"/>
                <a:cs typeface="Quicksand" pitchFamily="34" charset="-120"/>
              </a:rPr>
              <a:t>Louis Basnier   ·   louis.basnier@naxos.fr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3306</Words>
  <Application>Microsoft Office PowerPoint</Application>
  <PresentationFormat>Grand écran</PresentationFormat>
  <Paragraphs>295</Paragraphs>
  <Slides>26</Slides>
  <Notes>26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26</vt:i4>
      </vt:variant>
    </vt:vector>
  </HeadingPairs>
  <TitlesOfParts>
    <vt:vector size="30" baseType="lpstr">
      <vt:lpstr>Arial</vt:lpstr>
      <vt:lpstr>Nunito</vt:lpstr>
      <vt:lpstr>Quicksand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Project — DreamWeave</dc:title>
  <dc:subject>PptxGenJS Presentation</dc:subject>
  <dc:creator>Louis Basnier</dc:creator>
  <cp:lastModifiedBy>Viktor Dragnir</cp:lastModifiedBy>
  <cp:revision>2</cp:revision>
  <dcterms:created xsi:type="dcterms:W3CDTF">2026-08-25T19:41:25Z</dcterms:created>
  <dcterms:modified xsi:type="dcterms:W3CDTF">2026-08-25T19:41:41Z</dcterms:modified>
</cp:coreProperties>
</file>