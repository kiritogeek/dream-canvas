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Mon mémoire s'intitule « Grandir sans s'en apercevoir ». Ce n'est pas un CV chronologique : c'est un retour honnête sur cinq années, à travers les objets que j'ai réellement produits, pour comprendre comment ma façon de penser a changé sans que je m'en rende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préparant ce mémoire, j'ai retrouvé un texte écrit à 19 ans où je me décrivais. Je n'en avais aucun souvenir, et pourtant j'y reconnaissais chaque phrase. J'ai refusé le CV chronologique : je repars des objets que j'ai vraiment produits, et je me demande pour chacun ce qu'il a changé en moi. « Sans concession », c'est regarder ce que chaque projet a réellement coûté et appris.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année, le choix. J'arrive à la WSF un peu par hasard. Le choc, c'est la découverte de l'UX : je croyais que faire un site c'était coder, je découvre la réflexion sur l'utilisateur, et c'est elle qui m'attire. L'été, deux stages opposés : du React à l'Aéroclub, du CRM et du marketing chez Jones Lang LaSalle. Je n'ai jamais tranché entre technique et business. Cinq ans plus tard, ça porte un nom : Product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année, le miroir. Une ethnographie sur les personnes sans-abri du métro. Elle m'a appris à me demander d'où je regarde avant de juger un utilisateur, un réflexe que je garde. J'y ai compris que la forme compte autant que le fond. Et c'est cette année-là que l'IA est entrée dans ma vie, discrètement, sans que je réalise que c'était une bascule.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année, le saut. L'année la plus technique : du Flutter, une application Star Wars, et surtout un semestre à Dublin, à l'ISB. Ce que je retiens : la différence entre démontrer et livrer, tenir un projet seul de bout en bout. Et Dublin, c'est le dépaysement et l'autonomie : vivre seul, gérer un quotidien entier en anglais. Une expérience qui ne se répète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année, le terrain. L'étude de cas John Deere, qui m'a montré qu'un bon cadre d'analyse se réutilise. Et surtout le début de mon alternance chez Naxos, comme Product Owner apprenti sur les logiciels immobiliers du groupe Arche. Mon métier : recueillir un besoin, le spécifier, créer les tickets, faire développer, tester, faire les retours. On n'apprend pas ce métier en l'observant : on l'apprend en produisant. Et ce qui change vraiment, c'est le rythme et la responsabilité.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année, l'outil. L'IA devient centrale : un rapport sur l'IA et le droit européen, un procès fictif, et surtout le vibe coding. Ma conviction : l'IA ne remplace pas la compétence, elle démultiplie ce qu'une personne seule peut produire. Le vibe coding est devenu mon point d'équilibre. Et ma vraie découverte, c'est une évidence sur ce que j'aime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miroir, c'est DreamWeave : un logiciel de création de webtoons par IA que j'ai construit seul, sans qu'on me donne le sujet. Un projet mené par envie en dit bien plus sur qui l'on est qu'un exercice imposé. C'est la preuve concrète de ce que je sais faire de bout en bout, de l'idée au produit qui tourne.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sans concession. Ce que je sais faire : tenir toute la chaîne, du besoin à la spécification jusqu'au système, seul. Ma limite n'est pas technique : c'est la décision sans filet, porter seul un choix qui coûterait cher, sans supervision. Le vrai test viendra quand elle disparaîtra. Mais exécuter les produits des autres et porter les miens, c'est la même compétence.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que je veux devenir est clair. Product Owner, parce que c'est là que se rejoignent mes compétences techniques et produit : recueillir un besoin, le traduire en spécification, l'intégrer dans un système. Et au-delà, Product Builder : penser le produit et me donner les moyens de le construire moi-même, en faisant de l'IA un prolongement de qui je suis.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écoute.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gblob_light.png">    </p:cNvPr>
          <p:cNvPicPr>
            <a:picLocks noChangeAspect="1"/>
          </p:cNvPicPr>
          <p:nvPr/>
        </p:nvPicPr>
        <p:blipFill>
          <a:blip r:embed="rId1"/>
          <a:stretch>
            <a:fillRect/>
          </a:stretch>
        </p:blipFill>
        <p:spPr>
          <a:xfrm>
            <a:off x="7589520" y="-2377440"/>
            <a:ext cx="6217920" cy="6217920"/>
          </a:xfrm>
          <a:prstGeom prst="rect">
            <a:avLst/>
          </a:prstGeom>
        </p:spPr>
      </p:pic>
      <p:pic>
        <p:nvPicPr>
          <p:cNvPr id="3" name="Image 1" descr="gblob_light.png">    </p:cNvPr>
          <p:cNvPicPr>
            <a:picLocks noChangeAspect="1"/>
          </p:cNvPicPr>
          <p:nvPr/>
        </p:nvPicPr>
        <p:blipFill>
          <a:blip r:embed="rId2"/>
          <a:stretch>
            <a:fillRect/>
          </a:stretch>
        </p:blipFill>
        <p:spPr>
          <a:xfrm>
            <a:off x="-2377440" y="3566160"/>
            <a:ext cx="5669280" cy="5669280"/>
          </a:xfrm>
          <a:prstGeom prst="rect">
            <a:avLst/>
          </a:prstGeom>
        </p:spPr>
      </p:pic>
      <p:sp>
        <p:nvSpPr>
          <p:cNvPr id="4" name="Text 0"/>
          <p:cNvSpPr/>
          <p:nvPr/>
        </p:nvSpPr>
        <p:spPr>
          <a:xfrm>
            <a:off x="914400" y="1828800"/>
            <a:ext cx="10332720" cy="347472"/>
          </a:xfrm>
          <a:prstGeom prst="rect">
            <a:avLst/>
          </a:prstGeom>
          <a:noFill/>
          <a:ln/>
        </p:spPr>
        <p:txBody>
          <a:bodyPr wrap="square" rtlCol="0" anchor="ctr"/>
          <a:lstStyle/>
          <a:p>
            <a:pPr algn="ctr" indent="0" marL="0">
              <a:buNone/>
            </a:pPr>
            <a:r>
              <a:rPr lang="en-US" sz="1300" b="1" spc="300" kern="0" dirty="0">
                <a:solidFill>
                  <a:srgbClr val="C9701E"/>
                </a:solidFill>
                <a:latin typeface="Quicksand" pitchFamily="34" charset="0"/>
                <a:ea typeface="Quicksand" pitchFamily="34" charset="-122"/>
                <a:cs typeface="Quicksand" pitchFamily="34" charset="-120"/>
              </a:rPr>
              <a:t>MÉMOIRE DE FIN D'ÉTUDES · WSF · PROMOTION 2026</a:t>
            </a:r>
            <a:endParaRPr lang="en-US" sz="1300" dirty="0"/>
          </a:p>
        </p:txBody>
      </p:sp>
      <p:sp>
        <p:nvSpPr>
          <p:cNvPr id="5" name="Text 1"/>
          <p:cNvSpPr/>
          <p:nvPr/>
        </p:nvSpPr>
        <p:spPr>
          <a:xfrm>
            <a:off x="731520" y="2286000"/>
            <a:ext cx="10698480" cy="1554480"/>
          </a:xfrm>
          <a:prstGeom prst="rect">
            <a:avLst/>
          </a:prstGeom>
          <a:noFill/>
          <a:ln/>
        </p:spPr>
        <p:txBody>
          <a:bodyPr wrap="square" rtlCol="0" anchor="ctr"/>
          <a:lstStyle/>
          <a:p>
            <a:pPr algn="ctr" indent="0" marL="0">
              <a:lnSpc>
                <a:spcPct val="102000"/>
              </a:lnSpc>
              <a:buNone/>
            </a:pPr>
            <a:r>
              <a:rPr lang="en-US" sz="4600" b="1" dirty="0">
                <a:solidFill>
                  <a:srgbClr val="7A4FD0"/>
                </a:solidFill>
                <a:latin typeface="Quicksand" pitchFamily="34" charset="0"/>
                <a:ea typeface="Quicksand" pitchFamily="34" charset="-122"/>
                <a:cs typeface="Quicksand" pitchFamily="34" charset="-120"/>
              </a:rPr>
              <a:t>Grandir sans</a:t>
            </a:r>
            <a:endParaRPr lang="en-US" sz="4600" dirty="0"/>
          </a:p>
          <a:p>
            <a:pPr algn="ctr" indent="0" marL="0">
              <a:lnSpc>
                <a:spcPct val="102000"/>
              </a:lnSpc>
              <a:buNone/>
            </a:pPr>
            <a:r>
              <a:rPr lang="en-US" sz="4600" b="1" dirty="0">
                <a:solidFill>
                  <a:srgbClr val="7A4FD0"/>
                </a:solidFill>
                <a:latin typeface="Quicksand" pitchFamily="34" charset="0"/>
                <a:ea typeface="Quicksand" pitchFamily="34" charset="-122"/>
                <a:cs typeface="Quicksand" pitchFamily="34" charset="-120"/>
              </a:rPr>
              <a:t>s'en apercevoir</a:t>
            </a:r>
            <a:endParaRPr lang="en-US" sz="4600" dirty="0"/>
          </a:p>
        </p:txBody>
      </p:sp>
      <p:pic>
        <p:nvPicPr>
          <p:cNvPr id="6" name="Image 2" descr="gbar_light.png">    </p:cNvPr>
          <p:cNvPicPr>
            <a:picLocks noChangeAspect="1"/>
          </p:cNvPicPr>
          <p:nvPr/>
        </p:nvPicPr>
        <p:blipFill>
          <a:blip r:embed="rId3"/>
          <a:stretch>
            <a:fillRect/>
          </a:stretch>
        </p:blipFill>
        <p:spPr>
          <a:xfrm>
            <a:off x="5303520" y="3977640"/>
            <a:ext cx="1554480" cy="109728"/>
          </a:xfrm>
          <a:prstGeom prst="rect">
            <a:avLst/>
          </a:prstGeom>
        </p:spPr>
      </p:pic>
      <p:sp>
        <p:nvSpPr>
          <p:cNvPr id="7" name="Text 2"/>
          <p:cNvSpPr/>
          <p:nvPr/>
        </p:nvSpPr>
        <p:spPr>
          <a:xfrm>
            <a:off x="1828800" y="4251960"/>
            <a:ext cx="8503920" cy="914400"/>
          </a:xfrm>
          <a:prstGeom prst="rect">
            <a:avLst/>
          </a:prstGeom>
          <a:noFill/>
          <a:ln/>
        </p:spPr>
        <p:txBody>
          <a:bodyPr wrap="square" rtlCol="0" anchor="ctr"/>
          <a:lstStyle/>
          <a:p>
            <a:pPr algn="ctr" indent="0" marL="0">
              <a:lnSpc>
                <a:spcPct val="120000"/>
              </a:lnSpc>
              <a:buNone/>
            </a:pPr>
            <a:r>
              <a:rPr lang="en-US" sz="1600" dirty="0">
                <a:solidFill>
                  <a:srgbClr val="6A6380"/>
                </a:solidFill>
                <a:latin typeface="Quicksand" pitchFamily="34" charset="0"/>
                <a:ea typeface="Quicksand" pitchFamily="34" charset="-122"/>
                <a:cs typeface="Quicksand" pitchFamily="34" charset="-120"/>
              </a:rPr>
              <a:t>Cinq années à la Web School Factory : mon parcours, mes projets, et comment ma manière de penser a changé</a:t>
            </a:r>
            <a:endParaRPr lang="en-US" sz="1600" dirty="0"/>
          </a:p>
        </p:txBody>
      </p:sp>
      <p:sp>
        <p:nvSpPr>
          <p:cNvPr id="8" name="Text 3"/>
          <p:cNvSpPr/>
          <p:nvPr/>
        </p:nvSpPr>
        <p:spPr>
          <a:xfrm>
            <a:off x="914400" y="5440680"/>
            <a:ext cx="10332720" cy="365760"/>
          </a:xfrm>
          <a:prstGeom prst="rect">
            <a:avLst/>
          </a:prstGeom>
          <a:noFill/>
          <a:ln/>
        </p:spPr>
        <p:txBody>
          <a:bodyPr wrap="square" rtlCol="0" anchor="ctr"/>
          <a:lstStyle/>
          <a:p>
            <a:pPr algn="ctr" indent="0" marL="0">
              <a:buNone/>
            </a:pPr>
            <a:r>
              <a:rPr lang="en-US" sz="1700" b="1" dirty="0">
                <a:solidFill>
                  <a:srgbClr val="12977A"/>
                </a:solidFill>
                <a:latin typeface="Quicksand" pitchFamily="34" charset="0"/>
                <a:ea typeface="Quicksand" pitchFamily="34" charset="-122"/>
                <a:cs typeface="Quicksand" pitchFamily="34" charset="-120"/>
              </a:rPr>
              <a:t>Louis Basnier</a:t>
            </a:r>
            <a:endParaRPr lang="en-US" sz="1700" dirty="0"/>
          </a:p>
        </p:txBody>
      </p:sp>
      <p:sp>
        <p:nvSpPr>
          <p:cNvPr id="9" name="Text 4"/>
          <p:cNvSpPr/>
          <p:nvPr/>
        </p:nvSpPr>
        <p:spPr>
          <a:xfrm>
            <a:off x="914400" y="5852160"/>
            <a:ext cx="10332720" cy="320040"/>
          </a:xfrm>
          <a:prstGeom prst="rect">
            <a:avLst/>
          </a:prstGeom>
          <a:noFill/>
          <a:ln/>
        </p:spPr>
        <p:txBody>
          <a:bodyPr wrap="square" rtlCol="0" anchor="ctr"/>
          <a:lstStyle/>
          <a:p>
            <a:pPr algn="ctr" indent="0" marL="0">
              <a:buNone/>
            </a:pPr>
            <a:r>
              <a:rPr lang="en-US" sz="1200" dirty="0">
                <a:solidFill>
                  <a:srgbClr val="6A6380"/>
                </a:solidFill>
                <a:latin typeface="Quicksand" pitchFamily="34" charset="0"/>
                <a:ea typeface="Quicksand" pitchFamily="34" charset="-122"/>
                <a:cs typeface="Quicksand" pitchFamily="34" charset="-120"/>
              </a:rPr>
              <a:t>Product Owner apprenti chez Naxos (Arche Groupe)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INTRODUCTION · L'ANGLE</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Un retour sans concession</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76072" y="2157984"/>
            <a:ext cx="164592" cy="164592"/>
          </a:xfrm>
          <a:prstGeom prst="roundRect">
            <a:avLst>
              <a:gd name="adj" fmla="val 27778"/>
            </a:avLst>
          </a:prstGeom>
          <a:solidFill>
            <a:srgbClr val="12977A"/>
          </a:solidFill>
          <a:ln/>
        </p:spPr>
      </p:sp>
      <p:sp>
        <p:nvSpPr>
          <p:cNvPr id="6" name="Text 3"/>
          <p:cNvSpPr/>
          <p:nvPr/>
        </p:nvSpPr>
        <p:spPr>
          <a:xfrm>
            <a:off x="987552" y="20574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Point de départ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un texte que j'avais écrit à 19 ans, retrouvé dans mes archives.</a:t>
            </a:r>
            <a:endParaRPr lang="en-US" sz="1450" dirty="0"/>
          </a:p>
        </p:txBody>
      </p:sp>
      <p:sp>
        <p:nvSpPr>
          <p:cNvPr id="7" name="Shape 4"/>
          <p:cNvSpPr/>
          <p:nvPr/>
        </p:nvSpPr>
        <p:spPr>
          <a:xfrm>
            <a:off x="576072" y="2706624"/>
            <a:ext cx="164592" cy="164592"/>
          </a:xfrm>
          <a:prstGeom prst="roundRect">
            <a:avLst>
              <a:gd name="adj" fmla="val 27778"/>
            </a:avLst>
          </a:prstGeom>
          <a:solidFill>
            <a:srgbClr val="C9701E"/>
          </a:solidFill>
          <a:ln/>
        </p:spPr>
      </p:sp>
      <p:sp>
        <p:nvSpPr>
          <p:cNvPr id="8" name="Text 5"/>
          <p:cNvSpPr/>
          <p:nvPr/>
        </p:nvSpPr>
        <p:spPr>
          <a:xfrm>
            <a:off x="987552" y="260604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Le parti pris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pas un CV chronologique, mais repartir des objets concrets produits.</a:t>
            </a:r>
            <a:endParaRPr lang="en-US" sz="1450" dirty="0"/>
          </a:p>
        </p:txBody>
      </p:sp>
      <p:sp>
        <p:nvSpPr>
          <p:cNvPr id="9" name="Shape 6"/>
          <p:cNvSpPr/>
          <p:nvPr/>
        </p:nvSpPr>
        <p:spPr>
          <a:xfrm>
            <a:off x="576072" y="3255264"/>
            <a:ext cx="164592" cy="164592"/>
          </a:xfrm>
          <a:prstGeom prst="roundRect">
            <a:avLst>
              <a:gd name="adj" fmla="val 27778"/>
            </a:avLst>
          </a:prstGeom>
          <a:solidFill>
            <a:srgbClr val="7A4FD0"/>
          </a:solidFill>
          <a:ln/>
        </p:spPr>
      </p:sp>
      <p:sp>
        <p:nvSpPr>
          <p:cNvPr id="10" name="Text 7"/>
          <p:cNvSpPr/>
          <p:nvPr/>
        </p:nvSpPr>
        <p:spPr>
          <a:xfrm>
            <a:off x="987552" y="31546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 Sans concession »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refuser la version marketing de soi, celle du CV.</a:t>
            </a:r>
            <a:endParaRPr lang="en-US" sz="1450" dirty="0"/>
          </a:p>
        </p:txBody>
      </p:sp>
      <p:sp>
        <p:nvSpPr>
          <p:cNvPr id="11" name="Shape 8"/>
          <p:cNvSpPr/>
          <p:nvPr/>
        </p:nvSpPr>
        <p:spPr>
          <a:xfrm>
            <a:off x="548640" y="3895344"/>
            <a:ext cx="11064240" cy="777240"/>
          </a:xfrm>
          <a:prstGeom prst="roundRect">
            <a:avLst>
              <a:gd name="adj" fmla="val 14118"/>
            </a:avLst>
          </a:prstGeom>
          <a:solidFill>
            <a:srgbClr val="F1EAFB"/>
          </a:solidFill>
          <a:ln w="12700">
            <a:solidFill>
              <a:srgbClr val="DCD0EC"/>
            </a:solidFill>
            <a:prstDash val="solid"/>
          </a:ln>
        </p:spPr>
      </p:sp>
      <p:pic>
        <p:nvPicPr>
          <p:cNvPr id="12" name="Image 1" descr="gbar_light.png">    </p:cNvPr>
          <p:cNvPicPr>
            <a:picLocks noChangeAspect="1"/>
          </p:cNvPicPr>
          <p:nvPr/>
        </p:nvPicPr>
        <p:blipFill>
          <a:blip r:embed="rId2"/>
          <a:stretch>
            <a:fillRect/>
          </a:stretch>
        </p:blipFill>
        <p:spPr>
          <a:xfrm>
            <a:off x="786384" y="4041648"/>
            <a:ext cx="64008" cy="484632"/>
          </a:xfrm>
          <a:prstGeom prst="rect">
            <a:avLst/>
          </a:prstGeom>
        </p:spPr>
      </p:pic>
      <p:sp>
        <p:nvSpPr>
          <p:cNvPr id="13" name="Text 9"/>
          <p:cNvSpPr/>
          <p:nvPr/>
        </p:nvSpPr>
        <p:spPr>
          <a:xfrm>
            <a:off x="1024128" y="3941064"/>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Le sujet n'est pas ce que j'ai appris, mais comment ma pensée s'est déplacée.</a:t>
            </a:r>
            <a:endParaRPr lang="en-US" sz="1450" dirty="0"/>
          </a:p>
        </p:txBody>
      </p:sp>
      <p:sp>
        <p:nvSpPr>
          <p:cNvPr id="14" name="Text 10"/>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5" name="Text 11"/>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02 / 11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ANNÉE 1 · 2021-2022</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Le choix</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1874520"/>
            <a:ext cx="11064240" cy="548640"/>
          </a:xfrm>
          <a:prstGeom prst="rect">
            <a:avLst/>
          </a:prstGeom>
          <a:noFill/>
          <a:ln/>
        </p:spPr>
        <p:txBody>
          <a:bodyPr wrap="square" lIns="0" tIns="0" rIns="0" bIns="0" rtlCol="0" anchor="t"/>
          <a:lstStyle/>
          <a:p>
            <a:pPr algn="l" indent="0" marL="0">
              <a:lnSpc>
                <a:spcPct val="112000"/>
              </a:lnSpc>
              <a:buNone/>
            </a:pPr>
            <a:r>
              <a:rPr lang="en-US" sz="1450" b="1" dirty="0">
                <a:solidFill>
                  <a:srgbClr val="C9701E"/>
                </a:solidFill>
                <a:latin typeface="Quicksand" pitchFamily="34" charset="0"/>
                <a:ea typeface="Quicksand" pitchFamily="34" charset="-122"/>
                <a:cs typeface="Quicksand" pitchFamily="34" charset="-120"/>
              </a:rPr>
              <a:t>Artefact   </a:t>
            </a:r>
            <a:pPr algn="l" indent="0" marL="0">
              <a:lnSpc>
                <a:spcPct val="112000"/>
              </a:lnSpc>
              <a:buNone/>
            </a:pPr>
            <a:r>
              <a:rPr lang="en-US" sz="1450" i="1" dirty="0">
                <a:solidFill>
                  <a:srgbClr val="6A6380"/>
                </a:solidFill>
                <a:latin typeface="Quicksand" pitchFamily="34" charset="0"/>
                <a:ea typeface="Quicksand" pitchFamily="34" charset="-122"/>
                <a:cs typeface="Quicksand" pitchFamily="34" charset="-120"/>
              </a:rPr>
              <a:t>le choix de l'école, et deux stages opposés : l'Aéroclub Paris Sud (React) et Jones Lang LaSalle (CRM, marketing).</a:t>
            </a:r>
            <a:endParaRPr lang="en-US" sz="1450" dirty="0"/>
          </a:p>
        </p:txBody>
      </p:sp>
      <p:sp>
        <p:nvSpPr>
          <p:cNvPr id="6" name="Shape 3"/>
          <p:cNvSpPr/>
          <p:nvPr/>
        </p:nvSpPr>
        <p:spPr>
          <a:xfrm>
            <a:off x="576072" y="2660904"/>
            <a:ext cx="164592" cy="164592"/>
          </a:xfrm>
          <a:prstGeom prst="roundRect">
            <a:avLst>
              <a:gd name="adj" fmla="val 27778"/>
            </a:avLst>
          </a:prstGeom>
          <a:solidFill>
            <a:srgbClr val="12977A"/>
          </a:solidFill>
          <a:ln/>
        </p:spPr>
      </p:sp>
      <p:sp>
        <p:nvSpPr>
          <p:cNvPr id="7" name="Text 4"/>
          <p:cNvSpPr/>
          <p:nvPr/>
        </p:nvSpPr>
        <p:spPr>
          <a:xfrm>
            <a:off x="987552" y="2560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Le déclic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la découverte de l'UX : « faire un site » n'était plus seulement coder.</a:t>
            </a:r>
            <a:endParaRPr lang="en-US" sz="1450" dirty="0"/>
          </a:p>
        </p:txBody>
      </p:sp>
      <p:sp>
        <p:nvSpPr>
          <p:cNvPr id="8" name="Shape 5"/>
          <p:cNvSpPr/>
          <p:nvPr/>
        </p:nvSpPr>
        <p:spPr>
          <a:xfrm>
            <a:off x="576072" y="3209544"/>
            <a:ext cx="164592" cy="164592"/>
          </a:xfrm>
          <a:prstGeom prst="roundRect">
            <a:avLst>
              <a:gd name="adj" fmla="val 27778"/>
            </a:avLst>
          </a:prstGeom>
          <a:solidFill>
            <a:srgbClr val="C9701E"/>
          </a:solidFill>
          <a:ln/>
        </p:spPr>
      </p:sp>
      <p:sp>
        <p:nvSpPr>
          <p:cNvPr id="9" name="Text 6"/>
          <p:cNvSpPr/>
          <p:nvPr/>
        </p:nvSpPr>
        <p:spPr>
          <a:xfrm>
            <a:off x="987552" y="3108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Deux mondes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la technique d'un côté, le business de l'autre.</a:t>
            </a:r>
            <a:endParaRPr lang="en-US" sz="1450" dirty="0"/>
          </a:p>
        </p:txBody>
      </p:sp>
      <p:sp>
        <p:nvSpPr>
          <p:cNvPr id="10" name="Shape 7"/>
          <p:cNvSpPr/>
          <p:nvPr/>
        </p:nvSpPr>
        <p:spPr>
          <a:xfrm>
            <a:off x="548640" y="3831336"/>
            <a:ext cx="11064240" cy="777240"/>
          </a:xfrm>
          <a:prstGeom prst="roundRect">
            <a:avLst>
              <a:gd name="adj" fmla="val 14118"/>
            </a:avLst>
          </a:prstGeom>
          <a:solidFill>
            <a:srgbClr val="F1EAFB"/>
          </a:solidFill>
          <a:ln w="12700">
            <a:solidFill>
              <a:srgbClr val="DCD0EC"/>
            </a:solidFill>
            <a:prstDash val="solid"/>
          </a:ln>
        </p:spPr>
      </p:sp>
      <p:pic>
        <p:nvPicPr>
          <p:cNvPr id="11" name="Image 1" descr="gbar_light.png">    </p:cNvPr>
          <p:cNvPicPr>
            <a:picLocks noChangeAspect="1"/>
          </p:cNvPicPr>
          <p:nvPr/>
        </p:nvPicPr>
        <p:blipFill>
          <a:blip r:embed="rId2"/>
          <a:stretch>
            <a:fillRect/>
          </a:stretch>
        </p:blipFill>
        <p:spPr>
          <a:xfrm>
            <a:off x="786384" y="3977640"/>
            <a:ext cx="64008" cy="484632"/>
          </a:xfrm>
          <a:prstGeom prst="rect">
            <a:avLst/>
          </a:prstGeom>
        </p:spPr>
      </p:pic>
      <p:sp>
        <p:nvSpPr>
          <p:cNvPr id="12" name="Text 8"/>
          <p:cNvSpPr/>
          <p:nvPr/>
        </p:nvSpPr>
        <p:spPr>
          <a:xfrm>
            <a:off x="1024128" y="3877056"/>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Ne pas choisir n'était pas de l'indécision : c'était déjà le profil de Product Owner.</a:t>
            </a:r>
            <a:endParaRPr lang="en-US" sz="1450" dirty="0"/>
          </a:p>
        </p:txBody>
      </p:sp>
      <p:sp>
        <p:nvSpPr>
          <p:cNvPr id="13" name="Text 9"/>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4" name="Text 10"/>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03 / 11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ANNÉE 2 · 2022-2023</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Le miroir</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1874520"/>
            <a:ext cx="11064240" cy="548640"/>
          </a:xfrm>
          <a:prstGeom prst="rect">
            <a:avLst/>
          </a:prstGeom>
          <a:noFill/>
          <a:ln/>
        </p:spPr>
        <p:txBody>
          <a:bodyPr wrap="square" lIns="0" tIns="0" rIns="0" bIns="0" rtlCol="0" anchor="t"/>
          <a:lstStyle/>
          <a:p>
            <a:pPr algn="l" indent="0" marL="0">
              <a:lnSpc>
                <a:spcPct val="112000"/>
              </a:lnSpc>
              <a:buNone/>
            </a:pPr>
            <a:r>
              <a:rPr lang="en-US" sz="1450" b="1" dirty="0">
                <a:solidFill>
                  <a:srgbClr val="C9701E"/>
                </a:solidFill>
                <a:latin typeface="Quicksand" pitchFamily="34" charset="0"/>
                <a:ea typeface="Quicksand" pitchFamily="34" charset="-122"/>
                <a:cs typeface="Quicksand" pitchFamily="34" charset="-120"/>
              </a:rPr>
              <a:t>Artefact   </a:t>
            </a:r>
            <a:pPr algn="l" indent="0" marL="0">
              <a:lnSpc>
                <a:spcPct val="112000"/>
              </a:lnSpc>
              <a:buNone/>
            </a:pPr>
            <a:r>
              <a:rPr lang="en-US" sz="1450" i="1" dirty="0">
                <a:solidFill>
                  <a:srgbClr val="6A6380"/>
                </a:solidFill>
                <a:latin typeface="Quicksand" pitchFamily="34" charset="0"/>
                <a:ea typeface="Quicksand" pitchFamily="34" charset="-122"/>
                <a:cs typeface="Quicksand" pitchFamily="34" charset="-120"/>
              </a:rPr>
              <a:t>une ethnographie sur les personnes sans-abri du métro parisien.</a:t>
            </a:r>
            <a:endParaRPr lang="en-US" sz="1450" dirty="0"/>
          </a:p>
        </p:txBody>
      </p:sp>
      <p:sp>
        <p:nvSpPr>
          <p:cNvPr id="6" name="Shape 3"/>
          <p:cNvSpPr/>
          <p:nvPr/>
        </p:nvSpPr>
        <p:spPr>
          <a:xfrm>
            <a:off x="576072" y="2660904"/>
            <a:ext cx="164592" cy="164592"/>
          </a:xfrm>
          <a:prstGeom prst="roundRect">
            <a:avLst>
              <a:gd name="adj" fmla="val 27778"/>
            </a:avLst>
          </a:prstGeom>
          <a:solidFill>
            <a:srgbClr val="12977A"/>
          </a:solidFill>
          <a:ln/>
        </p:spPr>
      </p:sp>
      <p:sp>
        <p:nvSpPr>
          <p:cNvPr id="7" name="Text 4"/>
          <p:cNvSpPr/>
          <p:nvPr/>
        </p:nvSpPr>
        <p:spPr>
          <a:xfrm>
            <a:off x="987552" y="2560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D'où je regarde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avant de juger un utilisateur, se demander depuis quelle position on l'observe.</a:t>
            </a:r>
            <a:endParaRPr lang="en-US" sz="1450" dirty="0"/>
          </a:p>
        </p:txBody>
      </p:sp>
      <p:sp>
        <p:nvSpPr>
          <p:cNvPr id="8" name="Shape 5"/>
          <p:cNvSpPr/>
          <p:nvPr/>
        </p:nvSpPr>
        <p:spPr>
          <a:xfrm>
            <a:off x="576072" y="3209544"/>
            <a:ext cx="164592" cy="164592"/>
          </a:xfrm>
          <a:prstGeom prst="roundRect">
            <a:avLst>
              <a:gd name="adj" fmla="val 27778"/>
            </a:avLst>
          </a:prstGeom>
          <a:solidFill>
            <a:srgbClr val="C9701E"/>
          </a:solidFill>
          <a:ln/>
        </p:spPr>
      </p:sp>
      <p:sp>
        <p:nvSpPr>
          <p:cNvPr id="9" name="Text 6"/>
          <p:cNvSpPr/>
          <p:nvPr/>
        </p:nvSpPr>
        <p:spPr>
          <a:xfrm>
            <a:off x="987552" y="3108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La forme compte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bien ordonner ses idées, c'est capter l'autre.</a:t>
            </a:r>
            <a:endParaRPr lang="en-US" sz="1450" dirty="0"/>
          </a:p>
        </p:txBody>
      </p:sp>
      <p:sp>
        <p:nvSpPr>
          <p:cNvPr id="10" name="Shape 7"/>
          <p:cNvSpPr/>
          <p:nvPr/>
        </p:nvSpPr>
        <p:spPr>
          <a:xfrm>
            <a:off x="576072" y="3758184"/>
            <a:ext cx="164592" cy="164592"/>
          </a:xfrm>
          <a:prstGeom prst="roundRect">
            <a:avLst>
              <a:gd name="adj" fmla="val 27778"/>
            </a:avLst>
          </a:prstGeom>
          <a:solidFill>
            <a:srgbClr val="7A4FD0"/>
          </a:solidFill>
          <a:ln/>
        </p:spPr>
      </p:sp>
      <p:sp>
        <p:nvSpPr>
          <p:cNvPr id="11" name="Text 8"/>
          <p:cNvSpPr/>
          <p:nvPr/>
        </p:nvSpPr>
        <p:spPr>
          <a:xfrm>
            <a:off x="987552" y="36576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L'IA entre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discrètement, sans que j'en mesure la bascule.</a:t>
            </a:r>
            <a:endParaRPr lang="en-US" sz="1450" dirty="0"/>
          </a:p>
        </p:txBody>
      </p:sp>
      <p:sp>
        <p:nvSpPr>
          <p:cNvPr id="12" name="Text 9"/>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3" name="Text 10"/>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04 / 11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ANNÉE 3 · 2023-2024</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Le saut</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1874520"/>
            <a:ext cx="11064240" cy="548640"/>
          </a:xfrm>
          <a:prstGeom prst="rect">
            <a:avLst/>
          </a:prstGeom>
          <a:noFill/>
          <a:ln/>
        </p:spPr>
        <p:txBody>
          <a:bodyPr wrap="square" lIns="0" tIns="0" rIns="0" bIns="0" rtlCol="0" anchor="t"/>
          <a:lstStyle/>
          <a:p>
            <a:pPr algn="l" indent="0" marL="0">
              <a:lnSpc>
                <a:spcPct val="112000"/>
              </a:lnSpc>
              <a:buNone/>
            </a:pPr>
            <a:r>
              <a:rPr lang="en-US" sz="1450" b="1" dirty="0">
                <a:solidFill>
                  <a:srgbClr val="C9701E"/>
                </a:solidFill>
                <a:latin typeface="Quicksand" pitchFamily="34" charset="0"/>
                <a:ea typeface="Quicksand" pitchFamily="34" charset="-122"/>
                <a:cs typeface="Quicksand" pitchFamily="34" charset="-120"/>
              </a:rPr>
              <a:t>Artefact   </a:t>
            </a:r>
            <a:pPr algn="l" indent="0" marL="0">
              <a:lnSpc>
                <a:spcPct val="112000"/>
              </a:lnSpc>
              <a:buNone/>
            </a:pPr>
            <a:r>
              <a:rPr lang="en-US" sz="1450" i="1" dirty="0">
                <a:solidFill>
                  <a:srgbClr val="6A6380"/>
                </a:solidFill>
                <a:latin typeface="Quicksand" pitchFamily="34" charset="0"/>
                <a:ea typeface="Quicksand" pitchFamily="34" charset="-122"/>
                <a:cs typeface="Quicksand" pitchFamily="34" charset="-120"/>
              </a:rPr>
              <a:t>trois exercices Flutter, une application « Star Wars » présentée en vidéo, et un semestre à Dublin.</a:t>
            </a:r>
            <a:endParaRPr lang="en-US" sz="1450" dirty="0"/>
          </a:p>
        </p:txBody>
      </p:sp>
      <p:sp>
        <p:nvSpPr>
          <p:cNvPr id="6" name="Shape 3"/>
          <p:cNvSpPr/>
          <p:nvPr/>
        </p:nvSpPr>
        <p:spPr>
          <a:xfrm>
            <a:off x="576072" y="2660904"/>
            <a:ext cx="164592" cy="164592"/>
          </a:xfrm>
          <a:prstGeom prst="roundRect">
            <a:avLst>
              <a:gd name="adj" fmla="val 27778"/>
            </a:avLst>
          </a:prstGeom>
          <a:solidFill>
            <a:srgbClr val="12977A"/>
          </a:solidFill>
          <a:ln/>
        </p:spPr>
      </p:sp>
      <p:sp>
        <p:nvSpPr>
          <p:cNvPr id="7" name="Text 4"/>
          <p:cNvSpPr/>
          <p:nvPr/>
        </p:nvSpPr>
        <p:spPr>
          <a:xfrm>
            <a:off x="987552" y="2560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L'année technique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livrer un projet de bout en bout, seul.</a:t>
            </a:r>
            <a:endParaRPr lang="en-US" sz="1450" dirty="0"/>
          </a:p>
        </p:txBody>
      </p:sp>
      <p:sp>
        <p:nvSpPr>
          <p:cNvPr id="8" name="Shape 5"/>
          <p:cNvSpPr/>
          <p:nvPr/>
        </p:nvSpPr>
        <p:spPr>
          <a:xfrm>
            <a:off x="576072" y="3209544"/>
            <a:ext cx="164592" cy="164592"/>
          </a:xfrm>
          <a:prstGeom prst="roundRect">
            <a:avLst>
              <a:gd name="adj" fmla="val 27778"/>
            </a:avLst>
          </a:prstGeom>
          <a:solidFill>
            <a:srgbClr val="C9701E"/>
          </a:solidFill>
          <a:ln/>
        </p:spPr>
      </p:sp>
      <p:sp>
        <p:nvSpPr>
          <p:cNvPr id="9" name="Text 6"/>
          <p:cNvSpPr/>
          <p:nvPr/>
        </p:nvSpPr>
        <p:spPr>
          <a:xfrm>
            <a:off x="987552" y="3108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Livrer ≠ démontrer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tenir un projet apprend ce qu'aucun cours ne transmet.</a:t>
            </a:r>
            <a:endParaRPr lang="en-US" sz="1450" dirty="0"/>
          </a:p>
        </p:txBody>
      </p:sp>
      <p:sp>
        <p:nvSpPr>
          <p:cNvPr id="10" name="Shape 7"/>
          <p:cNvSpPr/>
          <p:nvPr/>
        </p:nvSpPr>
        <p:spPr>
          <a:xfrm>
            <a:off x="576072" y="3758184"/>
            <a:ext cx="164592" cy="164592"/>
          </a:xfrm>
          <a:prstGeom prst="roundRect">
            <a:avLst>
              <a:gd name="adj" fmla="val 27778"/>
            </a:avLst>
          </a:prstGeom>
          <a:solidFill>
            <a:srgbClr val="7A4FD0"/>
          </a:solidFill>
          <a:ln/>
        </p:spPr>
      </p:sp>
      <p:sp>
        <p:nvSpPr>
          <p:cNvPr id="11" name="Text 8"/>
          <p:cNvSpPr/>
          <p:nvPr/>
        </p:nvSpPr>
        <p:spPr>
          <a:xfrm>
            <a:off x="987552" y="36576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Dublin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dépaysement, vivre seul, communiquer en anglais au quotidien.</a:t>
            </a:r>
            <a:endParaRPr lang="en-US" sz="1450" dirty="0"/>
          </a:p>
        </p:txBody>
      </p:sp>
      <p:sp>
        <p:nvSpPr>
          <p:cNvPr id="12" name="Shape 9"/>
          <p:cNvSpPr/>
          <p:nvPr/>
        </p:nvSpPr>
        <p:spPr>
          <a:xfrm>
            <a:off x="548640" y="4398264"/>
            <a:ext cx="11064240" cy="777240"/>
          </a:xfrm>
          <a:prstGeom prst="roundRect">
            <a:avLst>
              <a:gd name="adj" fmla="val 14118"/>
            </a:avLst>
          </a:prstGeom>
          <a:solidFill>
            <a:srgbClr val="F1EAFB"/>
          </a:solidFill>
          <a:ln w="12700">
            <a:solidFill>
              <a:srgbClr val="DCD0EC"/>
            </a:solidFill>
            <a:prstDash val="solid"/>
          </a:ln>
        </p:spPr>
      </p:sp>
      <p:pic>
        <p:nvPicPr>
          <p:cNvPr id="13" name="Image 1" descr="gbar_light.png">    </p:cNvPr>
          <p:cNvPicPr>
            <a:picLocks noChangeAspect="1"/>
          </p:cNvPicPr>
          <p:nvPr/>
        </p:nvPicPr>
        <p:blipFill>
          <a:blip r:embed="rId2"/>
          <a:stretch>
            <a:fillRect/>
          </a:stretch>
        </p:blipFill>
        <p:spPr>
          <a:xfrm>
            <a:off x="786384" y="4544568"/>
            <a:ext cx="64008" cy="484632"/>
          </a:xfrm>
          <a:prstGeom prst="rect">
            <a:avLst/>
          </a:prstGeom>
        </p:spPr>
      </p:pic>
      <p:sp>
        <p:nvSpPr>
          <p:cNvPr id="14" name="Text 10"/>
          <p:cNvSpPr/>
          <p:nvPr/>
        </p:nvSpPr>
        <p:spPr>
          <a:xfrm>
            <a:off x="1024128" y="4443984"/>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Certaines expériences valent moins par la compétence que par la personne qu'elles forment.</a:t>
            </a:r>
            <a:endParaRPr lang="en-US" sz="1450" dirty="0"/>
          </a:p>
        </p:txBody>
      </p:sp>
      <p:sp>
        <p:nvSpPr>
          <p:cNvPr id="15" name="Text 11"/>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6" name="Text 12"/>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05 / 11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ANNÉE 4 · 2024-2025</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Le terrain</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1874520"/>
            <a:ext cx="11064240" cy="548640"/>
          </a:xfrm>
          <a:prstGeom prst="rect">
            <a:avLst/>
          </a:prstGeom>
          <a:noFill/>
          <a:ln/>
        </p:spPr>
        <p:txBody>
          <a:bodyPr wrap="square" lIns="0" tIns="0" rIns="0" bIns="0" rtlCol="0" anchor="t"/>
          <a:lstStyle/>
          <a:p>
            <a:pPr algn="l" indent="0" marL="0">
              <a:lnSpc>
                <a:spcPct val="112000"/>
              </a:lnSpc>
              <a:buNone/>
            </a:pPr>
            <a:r>
              <a:rPr lang="en-US" sz="1450" b="1" dirty="0">
                <a:solidFill>
                  <a:srgbClr val="C9701E"/>
                </a:solidFill>
                <a:latin typeface="Quicksand" pitchFamily="34" charset="0"/>
                <a:ea typeface="Quicksand" pitchFamily="34" charset="-122"/>
                <a:cs typeface="Quicksand" pitchFamily="34" charset="-120"/>
              </a:rPr>
              <a:t>Artefact   </a:t>
            </a:r>
            <a:pPr algn="l" indent="0" marL="0">
              <a:lnSpc>
                <a:spcPct val="112000"/>
              </a:lnSpc>
              <a:buNone/>
            </a:pPr>
            <a:r>
              <a:rPr lang="en-US" sz="1450" i="1" dirty="0">
                <a:solidFill>
                  <a:srgbClr val="6A6380"/>
                </a:solidFill>
                <a:latin typeface="Quicksand" pitchFamily="34" charset="0"/>
                <a:ea typeface="Quicksand" pitchFamily="34" charset="-122"/>
                <a:cs typeface="Quicksand" pitchFamily="34" charset="-120"/>
              </a:rPr>
              <a:t>l'étude de cas John Deere, et le début de mon alternance chez Naxos comme Product Owner apprenti.</a:t>
            </a:r>
            <a:endParaRPr lang="en-US" sz="1450" dirty="0"/>
          </a:p>
        </p:txBody>
      </p:sp>
      <p:sp>
        <p:nvSpPr>
          <p:cNvPr id="6" name="Shape 3"/>
          <p:cNvSpPr/>
          <p:nvPr/>
        </p:nvSpPr>
        <p:spPr>
          <a:xfrm>
            <a:off x="576072" y="2660904"/>
            <a:ext cx="164592" cy="164592"/>
          </a:xfrm>
          <a:prstGeom prst="roundRect">
            <a:avLst>
              <a:gd name="adj" fmla="val 27778"/>
            </a:avLst>
          </a:prstGeom>
          <a:solidFill>
            <a:srgbClr val="12977A"/>
          </a:solidFill>
          <a:ln/>
        </p:spPr>
      </p:sp>
      <p:sp>
        <p:nvSpPr>
          <p:cNvPr id="7" name="Text 4"/>
          <p:cNvSpPr/>
          <p:nvPr/>
        </p:nvSpPr>
        <p:spPr>
          <a:xfrm>
            <a:off x="987552" y="2560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Le métier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besoin → spécifications → tickets → développement → test → retours.</a:t>
            </a:r>
            <a:endParaRPr lang="en-US" sz="1450" dirty="0"/>
          </a:p>
        </p:txBody>
      </p:sp>
      <p:sp>
        <p:nvSpPr>
          <p:cNvPr id="8" name="Shape 5"/>
          <p:cNvSpPr/>
          <p:nvPr/>
        </p:nvSpPr>
        <p:spPr>
          <a:xfrm>
            <a:off x="576072" y="3209544"/>
            <a:ext cx="164592" cy="164592"/>
          </a:xfrm>
          <a:prstGeom prst="roundRect">
            <a:avLst>
              <a:gd name="adj" fmla="val 27778"/>
            </a:avLst>
          </a:prstGeom>
          <a:solidFill>
            <a:srgbClr val="C9701E"/>
          </a:solidFill>
          <a:ln/>
        </p:spPr>
      </p:sp>
      <p:sp>
        <p:nvSpPr>
          <p:cNvPr id="9" name="Text 6"/>
          <p:cNvSpPr/>
          <p:nvPr/>
        </p:nvSpPr>
        <p:spPr>
          <a:xfrm>
            <a:off x="987552" y="3108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On apprend en produisant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pas en observant de loin.</a:t>
            </a:r>
            <a:endParaRPr lang="en-US" sz="1450" dirty="0"/>
          </a:p>
        </p:txBody>
      </p:sp>
      <p:sp>
        <p:nvSpPr>
          <p:cNvPr id="10" name="Shape 7"/>
          <p:cNvSpPr/>
          <p:nvPr/>
        </p:nvSpPr>
        <p:spPr>
          <a:xfrm>
            <a:off x="576072" y="3758184"/>
            <a:ext cx="164592" cy="164592"/>
          </a:xfrm>
          <a:prstGeom prst="roundRect">
            <a:avLst>
              <a:gd name="adj" fmla="val 27778"/>
            </a:avLst>
          </a:prstGeom>
          <a:solidFill>
            <a:srgbClr val="7A4FD0"/>
          </a:solidFill>
          <a:ln/>
        </p:spPr>
      </p:sp>
      <p:sp>
        <p:nvSpPr>
          <p:cNvPr id="11" name="Text 8"/>
          <p:cNvSpPr/>
          <p:nvPr/>
        </p:nvSpPr>
        <p:spPr>
          <a:xfrm>
            <a:off x="987552" y="36576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Le changement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un rythme d'entreprise, et une vraie responsabilité.</a:t>
            </a:r>
            <a:endParaRPr lang="en-US" sz="1450" dirty="0"/>
          </a:p>
        </p:txBody>
      </p:sp>
      <p:sp>
        <p:nvSpPr>
          <p:cNvPr id="12" name="Shape 9"/>
          <p:cNvSpPr/>
          <p:nvPr/>
        </p:nvSpPr>
        <p:spPr>
          <a:xfrm>
            <a:off x="548640" y="4398264"/>
            <a:ext cx="11064240" cy="777240"/>
          </a:xfrm>
          <a:prstGeom prst="roundRect">
            <a:avLst>
              <a:gd name="adj" fmla="val 14118"/>
            </a:avLst>
          </a:prstGeom>
          <a:solidFill>
            <a:srgbClr val="F1EAFB"/>
          </a:solidFill>
          <a:ln w="12700">
            <a:solidFill>
              <a:srgbClr val="DCD0EC"/>
            </a:solidFill>
            <a:prstDash val="solid"/>
          </a:ln>
        </p:spPr>
      </p:sp>
      <p:pic>
        <p:nvPicPr>
          <p:cNvPr id="13" name="Image 1" descr="gbar_light.png">    </p:cNvPr>
          <p:cNvPicPr>
            <a:picLocks noChangeAspect="1"/>
          </p:cNvPicPr>
          <p:nvPr/>
        </p:nvPicPr>
        <p:blipFill>
          <a:blip r:embed="rId2"/>
          <a:stretch>
            <a:fillRect/>
          </a:stretch>
        </p:blipFill>
        <p:spPr>
          <a:xfrm>
            <a:off x="786384" y="4544568"/>
            <a:ext cx="64008" cy="484632"/>
          </a:xfrm>
          <a:prstGeom prst="rect">
            <a:avLst/>
          </a:prstGeom>
        </p:spPr>
      </p:pic>
      <p:sp>
        <p:nvSpPr>
          <p:cNvPr id="14" name="Text 10"/>
          <p:cNvSpPr/>
          <p:nvPr/>
        </p:nvSpPr>
        <p:spPr>
          <a:xfrm>
            <a:off x="1024128" y="4443984"/>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Le vrai apprentissage de l'entreprise n'est pas un livrable, c'est un changement de rythme.</a:t>
            </a:r>
            <a:endParaRPr lang="en-US" sz="1450" dirty="0"/>
          </a:p>
        </p:txBody>
      </p:sp>
      <p:sp>
        <p:nvSpPr>
          <p:cNvPr id="15" name="Text 11"/>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6" name="Text 12"/>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06 / 11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ANNÉE 5 · 2025-2026</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L'outil</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1874520"/>
            <a:ext cx="11064240" cy="548640"/>
          </a:xfrm>
          <a:prstGeom prst="rect">
            <a:avLst/>
          </a:prstGeom>
          <a:noFill/>
          <a:ln/>
        </p:spPr>
        <p:txBody>
          <a:bodyPr wrap="square" lIns="0" tIns="0" rIns="0" bIns="0" rtlCol="0" anchor="t"/>
          <a:lstStyle/>
          <a:p>
            <a:pPr algn="l" indent="0" marL="0">
              <a:lnSpc>
                <a:spcPct val="112000"/>
              </a:lnSpc>
              <a:buNone/>
            </a:pPr>
            <a:r>
              <a:rPr lang="en-US" sz="1450" b="1" dirty="0">
                <a:solidFill>
                  <a:srgbClr val="C9701E"/>
                </a:solidFill>
                <a:latin typeface="Quicksand" pitchFamily="34" charset="0"/>
                <a:ea typeface="Quicksand" pitchFamily="34" charset="-122"/>
                <a:cs typeface="Quicksand" pitchFamily="34" charset="-120"/>
              </a:rPr>
              <a:t>Artefact   </a:t>
            </a:r>
            <a:pPr algn="l" indent="0" marL="0">
              <a:lnSpc>
                <a:spcPct val="112000"/>
              </a:lnSpc>
              <a:buNone/>
            </a:pPr>
            <a:r>
              <a:rPr lang="en-US" sz="1450" i="1" dirty="0">
                <a:solidFill>
                  <a:srgbClr val="6A6380"/>
                </a:solidFill>
                <a:latin typeface="Quicksand" pitchFamily="34" charset="0"/>
                <a:ea typeface="Quicksand" pitchFamily="34" charset="-122"/>
                <a:cs typeface="Quicksand" pitchFamily="34" charset="-120"/>
              </a:rPr>
              <a:t>un rapport sur l'IA et le droit européen, un procès fictif, et le « vibe coding ».</a:t>
            </a:r>
            <a:endParaRPr lang="en-US" sz="1450" dirty="0"/>
          </a:p>
        </p:txBody>
      </p:sp>
      <p:sp>
        <p:nvSpPr>
          <p:cNvPr id="6" name="Shape 3"/>
          <p:cNvSpPr/>
          <p:nvPr/>
        </p:nvSpPr>
        <p:spPr>
          <a:xfrm>
            <a:off x="576072" y="2660904"/>
            <a:ext cx="164592" cy="164592"/>
          </a:xfrm>
          <a:prstGeom prst="roundRect">
            <a:avLst>
              <a:gd name="adj" fmla="val 27778"/>
            </a:avLst>
          </a:prstGeom>
          <a:solidFill>
            <a:srgbClr val="12977A"/>
          </a:solidFill>
          <a:ln/>
        </p:spPr>
      </p:sp>
      <p:sp>
        <p:nvSpPr>
          <p:cNvPr id="7" name="Text 4"/>
          <p:cNvSpPr/>
          <p:nvPr/>
        </p:nvSpPr>
        <p:spPr>
          <a:xfrm>
            <a:off x="987552" y="2560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L'IA démultiplie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elle ne remplace pas la compétence, elle l'amplifie.</a:t>
            </a:r>
            <a:endParaRPr lang="en-US" sz="1450" dirty="0"/>
          </a:p>
        </p:txBody>
      </p:sp>
      <p:sp>
        <p:nvSpPr>
          <p:cNvPr id="8" name="Shape 5"/>
          <p:cNvSpPr/>
          <p:nvPr/>
        </p:nvSpPr>
        <p:spPr>
          <a:xfrm>
            <a:off x="576072" y="3209544"/>
            <a:ext cx="164592" cy="164592"/>
          </a:xfrm>
          <a:prstGeom prst="roundRect">
            <a:avLst>
              <a:gd name="adj" fmla="val 27778"/>
            </a:avLst>
          </a:prstGeom>
          <a:solidFill>
            <a:srgbClr val="C9701E"/>
          </a:solidFill>
          <a:ln/>
        </p:spPr>
      </p:sp>
      <p:sp>
        <p:nvSpPr>
          <p:cNvPr id="9" name="Text 6"/>
          <p:cNvSpPr/>
          <p:nvPr/>
        </p:nvSpPr>
        <p:spPr>
          <a:xfrm>
            <a:off x="987552" y="3108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Le vibe coding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assez technique pour construire, assez produit pour penser.</a:t>
            </a:r>
            <a:endParaRPr lang="en-US" sz="1450" dirty="0"/>
          </a:p>
        </p:txBody>
      </p:sp>
      <p:sp>
        <p:nvSpPr>
          <p:cNvPr id="10" name="Shape 7"/>
          <p:cNvSpPr/>
          <p:nvPr/>
        </p:nvSpPr>
        <p:spPr>
          <a:xfrm>
            <a:off x="576072" y="3758184"/>
            <a:ext cx="164592" cy="164592"/>
          </a:xfrm>
          <a:prstGeom prst="roundRect">
            <a:avLst>
              <a:gd name="adj" fmla="val 27778"/>
            </a:avLst>
          </a:prstGeom>
          <a:solidFill>
            <a:srgbClr val="7A4FD0"/>
          </a:solidFill>
          <a:ln/>
        </p:spPr>
      </p:sp>
      <p:sp>
        <p:nvSpPr>
          <p:cNvPr id="11" name="Text 8"/>
          <p:cNvSpPr/>
          <p:nvPr/>
        </p:nvSpPr>
        <p:spPr>
          <a:xfrm>
            <a:off x="987552" y="36576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Une évidence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j'ai découvert ce que j'aime vraiment faire.</a:t>
            </a:r>
            <a:endParaRPr lang="en-US" sz="1450" dirty="0"/>
          </a:p>
        </p:txBody>
      </p:sp>
      <p:sp>
        <p:nvSpPr>
          <p:cNvPr id="12" name="Text 9"/>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3" name="Text 10"/>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07 / 11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PROJET MIROIR</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DreamWeave</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1874520"/>
            <a:ext cx="11064240" cy="548640"/>
          </a:xfrm>
          <a:prstGeom prst="rect">
            <a:avLst/>
          </a:prstGeom>
          <a:noFill/>
          <a:ln/>
        </p:spPr>
        <p:txBody>
          <a:bodyPr wrap="square" lIns="0" tIns="0" rIns="0" bIns="0" rtlCol="0" anchor="t"/>
          <a:lstStyle/>
          <a:p>
            <a:pPr algn="l" indent="0" marL="0">
              <a:lnSpc>
                <a:spcPct val="112000"/>
              </a:lnSpc>
              <a:buNone/>
            </a:pPr>
            <a:r>
              <a:rPr lang="en-US" sz="1450" b="1" dirty="0">
                <a:solidFill>
                  <a:srgbClr val="C9701E"/>
                </a:solidFill>
                <a:latin typeface="Quicksand" pitchFamily="34" charset="0"/>
                <a:ea typeface="Quicksand" pitchFamily="34" charset="-122"/>
                <a:cs typeface="Quicksand" pitchFamily="34" charset="-120"/>
              </a:rPr>
              <a:t>Artefact   </a:t>
            </a:r>
            <a:pPr algn="l" indent="0" marL="0">
              <a:lnSpc>
                <a:spcPct val="112000"/>
              </a:lnSpc>
              <a:buNone/>
            </a:pPr>
            <a:r>
              <a:rPr lang="en-US" sz="1450" i="1" dirty="0">
                <a:solidFill>
                  <a:srgbClr val="6A6380"/>
                </a:solidFill>
                <a:latin typeface="Quicksand" pitchFamily="34" charset="0"/>
                <a:ea typeface="Quicksand" pitchFamily="34" charset="-122"/>
                <a:cs typeface="Quicksand" pitchFamily="34" charset="-120"/>
              </a:rPr>
              <a:t>un logiciel de création de webtoons par IA, construit seul, sans consigne imposée.</a:t>
            </a:r>
            <a:endParaRPr lang="en-US" sz="1450" dirty="0"/>
          </a:p>
        </p:txBody>
      </p:sp>
      <p:sp>
        <p:nvSpPr>
          <p:cNvPr id="6" name="Shape 3"/>
          <p:cNvSpPr/>
          <p:nvPr/>
        </p:nvSpPr>
        <p:spPr>
          <a:xfrm>
            <a:off x="576072" y="2660904"/>
            <a:ext cx="164592" cy="164592"/>
          </a:xfrm>
          <a:prstGeom prst="roundRect">
            <a:avLst>
              <a:gd name="adj" fmla="val 27778"/>
            </a:avLst>
          </a:prstGeom>
          <a:solidFill>
            <a:srgbClr val="12977A"/>
          </a:solidFill>
          <a:ln/>
        </p:spPr>
      </p:sp>
      <p:sp>
        <p:nvSpPr>
          <p:cNvPr id="7" name="Text 4"/>
          <p:cNvSpPr/>
          <p:nvPr/>
        </p:nvSpPr>
        <p:spPr>
          <a:xfrm>
            <a:off x="987552" y="2560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La preuve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ce que je sais construire de bout en bout, de l'idée au produit.</a:t>
            </a:r>
            <a:endParaRPr lang="en-US" sz="1450" dirty="0"/>
          </a:p>
        </p:txBody>
      </p:sp>
      <p:sp>
        <p:nvSpPr>
          <p:cNvPr id="8" name="Shape 5"/>
          <p:cNvSpPr/>
          <p:nvPr/>
        </p:nvSpPr>
        <p:spPr>
          <a:xfrm>
            <a:off x="576072" y="3209544"/>
            <a:ext cx="164592" cy="164592"/>
          </a:xfrm>
          <a:prstGeom prst="roundRect">
            <a:avLst>
              <a:gd name="adj" fmla="val 27778"/>
            </a:avLst>
          </a:prstGeom>
          <a:solidFill>
            <a:srgbClr val="C9701E"/>
          </a:solidFill>
          <a:ln/>
        </p:spPr>
      </p:sp>
      <p:sp>
        <p:nvSpPr>
          <p:cNvPr id="9" name="Text 6"/>
          <p:cNvSpPr/>
          <p:nvPr/>
        </p:nvSpPr>
        <p:spPr>
          <a:xfrm>
            <a:off x="987552" y="3108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Par envie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un projet mené avant toute consigne en dit plus long sur qui l'on est.</a:t>
            </a:r>
            <a:endParaRPr lang="en-US" sz="1450" dirty="0"/>
          </a:p>
        </p:txBody>
      </p:sp>
      <p:sp>
        <p:nvSpPr>
          <p:cNvPr id="10" name="Shape 7"/>
          <p:cNvSpPr/>
          <p:nvPr/>
        </p:nvSpPr>
        <p:spPr>
          <a:xfrm>
            <a:off x="548640" y="3831336"/>
            <a:ext cx="11064240" cy="777240"/>
          </a:xfrm>
          <a:prstGeom prst="roundRect">
            <a:avLst>
              <a:gd name="adj" fmla="val 14118"/>
            </a:avLst>
          </a:prstGeom>
          <a:solidFill>
            <a:srgbClr val="F1EAFB"/>
          </a:solidFill>
          <a:ln w="12700">
            <a:solidFill>
              <a:srgbClr val="DCD0EC"/>
            </a:solidFill>
            <a:prstDash val="solid"/>
          </a:ln>
        </p:spPr>
      </p:sp>
      <p:pic>
        <p:nvPicPr>
          <p:cNvPr id="11" name="Image 1" descr="gbar_light.png">    </p:cNvPr>
          <p:cNvPicPr>
            <a:picLocks noChangeAspect="1"/>
          </p:cNvPicPr>
          <p:nvPr/>
        </p:nvPicPr>
        <p:blipFill>
          <a:blip r:embed="rId2"/>
          <a:stretch>
            <a:fillRect/>
          </a:stretch>
        </p:blipFill>
        <p:spPr>
          <a:xfrm>
            <a:off x="786384" y="3977640"/>
            <a:ext cx="64008" cy="484632"/>
          </a:xfrm>
          <a:prstGeom prst="rect">
            <a:avLst/>
          </a:prstGeom>
        </p:spPr>
      </p:pic>
      <p:sp>
        <p:nvSpPr>
          <p:cNvPr id="12" name="Text 8"/>
          <p:cNvSpPr/>
          <p:nvPr/>
        </p:nvSpPr>
        <p:spPr>
          <a:xfrm>
            <a:off x="1024128" y="3877056"/>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Ce que je suis capable de construire seul, quand personne ne me donne le sujet.</a:t>
            </a:r>
            <a:endParaRPr lang="en-US" sz="1450" dirty="0"/>
          </a:p>
        </p:txBody>
      </p:sp>
      <p:sp>
        <p:nvSpPr>
          <p:cNvPr id="13" name="Text 9"/>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4" name="Text 10"/>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08 / 11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SANS CONCESSION</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Bilan</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11680"/>
            <a:ext cx="5394960" cy="2103120"/>
          </a:xfrm>
          <a:prstGeom prst="roundRect">
            <a:avLst>
              <a:gd name="adj" fmla="val 6957"/>
            </a:avLst>
          </a:prstGeom>
          <a:solidFill>
            <a:srgbClr val="ECE5F1"/>
          </a:solidFill>
          <a:ln w="12700">
            <a:solidFill>
              <a:srgbClr val="DCD0EC"/>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31136"/>
            <a:ext cx="4882896" cy="457200"/>
          </a:xfrm>
          <a:prstGeom prst="rect">
            <a:avLst/>
          </a:prstGeom>
          <a:noFill/>
          <a:ln/>
        </p:spPr>
        <p:txBody>
          <a:bodyPr wrap="square" lIns="0" tIns="0" rIns="0" bIns="0" rtlCol="0" anchor="ctr"/>
          <a:lstStyle/>
          <a:p>
            <a:pPr algn="l" indent="0" marL="0">
              <a:buNone/>
            </a:pPr>
            <a:r>
              <a:rPr lang="en-US" sz="1450" b="1" dirty="0">
                <a:solidFill>
                  <a:srgbClr val="C9701E"/>
                </a:solidFill>
                <a:latin typeface="Quicksand" pitchFamily="34" charset="0"/>
                <a:ea typeface="Quicksand" pitchFamily="34" charset="-122"/>
                <a:cs typeface="Quicksand" pitchFamily="34" charset="-120"/>
              </a:rPr>
              <a:t>Ce que je sais faire</a:t>
            </a:r>
            <a:endParaRPr lang="en-US" sz="1450" dirty="0"/>
          </a:p>
        </p:txBody>
      </p:sp>
      <p:sp>
        <p:nvSpPr>
          <p:cNvPr id="7" name="Text 4"/>
          <p:cNvSpPr/>
          <p:nvPr/>
        </p:nvSpPr>
        <p:spPr>
          <a:xfrm>
            <a:off x="804672" y="2706624"/>
            <a:ext cx="4882896" cy="1188720"/>
          </a:xfrm>
          <a:prstGeom prst="rect">
            <a:avLst/>
          </a:prstGeom>
          <a:noFill/>
          <a:ln/>
        </p:spPr>
        <p:txBody>
          <a:bodyPr wrap="square" lIns="0" tIns="0" rIns="0" bIns="0" rtlCol="0" anchor="t"/>
          <a:lstStyle/>
          <a:p>
            <a:pPr algn="l" indent="0" marL="0">
              <a:lnSpc>
                <a:spcPct val="122000"/>
              </a:lnSpc>
              <a:buNone/>
            </a:pPr>
            <a:r>
              <a:rPr lang="en-US" sz="1300" dirty="0">
                <a:solidFill>
                  <a:srgbClr val="1B1626"/>
                </a:solidFill>
                <a:latin typeface="Quicksand" pitchFamily="34" charset="0"/>
                <a:ea typeface="Quicksand" pitchFamily="34" charset="-122"/>
                <a:cs typeface="Quicksand" pitchFamily="34" charset="-120"/>
              </a:rPr>
              <a:t>Tenir la chaîne besoin → spécification → système, de bout en bout, seul.</a:t>
            </a:r>
            <a:endParaRPr lang="en-US" sz="1300" dirty="0"/>
          </a:p>
        </p:txBody>
      </p:sp>
      <p:sp>
        <p:nvSpPr>
          <p:cNvPr id="8" name="Shape 5"/>
          <p:cNvSpPr/>
          <p:nvPr/>
        </p:nvSpPr>
        <p:spPr>
          <a:xfrm>
            <a:off x="6217920" y="2011680"/>
            <a:ext cx="5394960" cy="2103120"/>
          </a:xfrm>
          <a:prstGeom prst="roundRect">
            <a:avLst>
              <a:gd name="adj" fmla="val 6957"/>
            </a:avLst>
          </a:prstGeom>
          <a:solidFill>
            <a:srgbClr val="ECE5F1"/>
          </a:solidFill>
          <a:ln w="12700">
            <a:solidFill>
              <a:srgbClr val="DCD0EC"/>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6473952" y="2231136"/>
            <a:ext cx="4882896" cy="457200"/>
          </a:xfrm>
          <a:prstGeom prst="rect">
            <a:avLst/>
          </a:prstGeom>
          <a:noFill/>
          <a:ln/>
        </p:spPr>
        <p:txBody>
          <a:bodyPr wrap="square" lIns="0" tIns="0" rIns="0" bIns="0" rtlCol="0" anchor="ctr"/>
          <a:lstStyle/>
          <a:p>
            <a:pPr algn="l" indent="0" marL="0">
              <a:buNone/>
            </a:pPr>
            <a:r>
              <a:rPr lang="en-US" sz="1450" b="1" dirty="0">
                <a:solidFill>
                  <a:srgbClr val="12977A"/>
                </a:solidFill>
                <a:latin typeface="Quicksand" pitchFamily="34" charset="0"/>
                <a:ea typeface="Quicksand" pitchFamily="34" charset="-122"/>
                <a:cs typeface="Quicksand" pitchFamily="34" charset="-120"/>
              </a:rPr>
              <a:t>Ce que je ne sais pas encore</a:t>
            </a:r>
            <a:endParaRPr lang="en-US" sz="1450" dirty="0"/>
          </a:p>
        </p:txBody>
      </p:sp>
      <p:sp>
        <p:nvSpPr>
          <p:cNvPr id="10" name="Text 7"/>
          <p:cNvSpPr/>
          <p:nvPr/>
        </p:nvSpPr>
        <p:spPr>
          <a:xfrm>
            <a:off x="6473952" y="2706624"/>
            <a:ext cx="4882896" cy="1188720"/>
          </a:xfrm>
          <a:prstGeom prst="rect">
            <a:avLst/>
          </a:prstGeom>
          <a:noFill/>
          <a:ln/>
        </p:spPr>
        <p:txBody>
          <a:bodyPr wrap="square" lIns="0" tIns="0" rIns="0" bIns="0" rtlCol="0" anchor="t"/>
          <a:lstStyle/>
          <a:p>
            <a:pPr algn="l" indent="0" marL="0">
              <a:lnSpc>
                <a:spcPct val="122000"/>
              </a:lnSpc>
              <a:buNone/>
            </a:pPr>
            <a:r>
              <a:rPr lang="en-US" sz="1300" dirty="0">
                <a:solidFill>
                  <a:srgbClr val="1B1626"/>
                </a:solidFill>
                <a:latin typeface="Quicksand" pitchFamily="34" charset="0"/>
                <a:ea typeface="Quicksand" pitchFamily="34" charset="-122"/>
                <a:cs typeface="Quicksand" pitchFamily="34" charset="-120"/>
              </a:rPr>
              <a:t>La décision sans filet : porter seul un choix qui coûterait cher s'il était mauvais.</a:t>
            </a:r>
            <a:endParaRPr lang="en-US" sz="1300" dirty="0"/>
          </a:p>
        </p:txBody>
      </p:sp>
      <p:sp>
        <p:nvSpPr>
          <p:cNvPr id="11" name="Shape 8"/>
          <p:cNvSpPr/>
          <p:nvPr/>
        </p:nvSpPr>
        <p:spPr>
          <a:xfrm>
            <a:off x="548640" y="4434840"/>
            <a:ext cx="11064240" cy="777240"/>
          </a:xfrm>
          <a:prstGeom prst="roundRect">
            <a:avLst>
              <a:gd name="adj" fmla="val 14118"/>
            </a:avLst>
          </a:prstGeom>
          <a:solidFill>
            <a:srgbClr val="F1EAFB"/>
          </a:solidFill>
          <a:ln w="12700">
            <a:solidFill>
              <a:srgbClr val="DCD0EC"/>
            </a:solidFill>
            <a:prstDash val="solid"/>
          </a:ln>
        </p:spPr>
      </p:sp>
      <p:pic>
        <p:nvPicPr>
          <p:cNvPr id="12" name="Image 1" descr="gbar_light.png">    </p:cNvPr>
          <p:cNvPicPr>
            <a:picLocks noChangeAspect="1"/>
          </p:cNvPicPr>
          <p:nvPr/>
        </p:nvPicPr>
        <p:blipFill>
          <a:blip r:embed="rId2"/>
          <a:stretch>
            <a:fillRect/>
          </a:stretch>
        </p:blipFill>
        <p:spPr>
          <a:xfrm>
            <a:off x="786384" y="4581144"/>
            <a:ext cx="64008" cy="484632"/>
          </a:xfrm>
          <a:prstGeom prst="rect">
            <a:avLst/>
          </a:prstGeom>
        </p:spPr>
      </p:pic>
      <p:sp>
        <p:nvSpPr>
          <p:cNvPr id="13" name="Text 9"/>
          <p:cNvSpPr/>
          <p:nvPr/>
        </p:nvSpPr>
        <p:spPr>
          <a:xfrm>
            <a:off x="1024128" y="4480560"/>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Exécuter les produits des autres et porter les miens : c'est la même compétence.</a:t>
            </a:r>
            <a:endParaRPr lang="en-US" sz="1450" dirty="0"/>
          </a:p>
        </p:txBody>
      </p:sp>
      <p:sp>
        <p:nvSpPr>
          <p:cNvPr id="14" name="Text 10"/>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5" name="Text 11"/>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09 / 11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C9701E"/>
                </a:solidFill>
                <a:latin typeface="Quicksand" pitchFamily="34" charset="0"/>
                <a:ea typeface="Quicksand" pitchFamily="34" charset="-122"/>
                <a:cs typeface="Quicksand" pitchFamily="34" charset="-120"/>
              </a:rPr>
              <a:t>CONCLUSION</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1B1626"/>
                </a:solidFill>
                <a:latin typeface="Quicksand" pitchFamily="34" charset="0"/>
                <a:ea typeface="Quicksand" pitchFamily="34" charset="-122"/>
                <a:cs typeface="Quicksand" pitchFamily="34" charset="-120"/>
              </a:rPr>
              <a:t>Ce que je veux devenir</a:t>
            </a:r>
            <a:endParaRPr lang="en-US" sz="2600" dirty="0"/>
          </a:p>
        </p:txBody>
      </p:sp>
      <p:pic>
        <p:nvPicPr>
          <p:cNvPr id="4" name="Image 0" descr="gbar_light.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76072" y="2157984"/>
            <a:ext cx="164592" cy="164592"/>
          </a:xfrm>
          <a:prstGeom prst="roundRect">
            <a:avLst>
              <a:gd name="adj" fmla="val 27778"/>
            </a:avLst>
          </a:prstGeom>
          <a:solidFill>
            <a:srgbClr val="12977A"/>
          </a:solidFill>
          <a:ln/>
        </p:spPr>
      </p:sp>
      <p:sp>
        <p:nvSpPr>
          <p:cNvPr id="6" name="Text 3"/>
          <p:cNvSpPr/>
          <p:nvPr/>
        </p:nvSpPr>
        <p:spPr>
          <a:xfrm>
            <a:off x="987552" y="20574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Product Owner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là où se rejoignent mes compétences techniques et produit.</a:t>
            </a:r>
            <a:endParaRPr lang="en-US" sz="1450" dirty="0"/>
          </a:p>
        </p:txBody>
      </p:sp>
      <p:sp>
        <p:nvSpPr>
          <p:cNvPr id="7" name="Shape 4"/>
          <p:cNvSpPr/>
          <p:nvPr/>
        </p:nvSpPr>
        <p:spPr>
          <a:xfrm>
            <a:off x="576072" y="2706624"/>
            <a:ext cx="164592" cy="164592"/>
          </a:xfrm>
          <a:prstGeom prst="roundRect">
            <a:avLst>
              <a:gd name="adj" fmla="val 27778"/>
            </a:avLst>
          </a:prstGeom>
          <a:solidFill>
            <a:srgbClr val="C9701E"/>
          </a:solidFill>
          <a:ln/>
        </p:spPr>
      </p:sp>
      <p:sp>
        <p:nvSpPr>
          <p:cNvPr id="8" name="Text 5"/>
          <p:cNvSpPr/>
          <p:nvPr/>
        </p:nvSpPr>
        <p:spPr>
          <a:xfrm>
            <a:off x="987552" y="260604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Product Builder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penser le produit, et me donner les moyens de le construire moi-même.</a:t>
            </a:r>
            <a:endParaRPr lang="en-US" sz="1450" dirty="0"/>
          </a:p>
        </p:txBody>
      </p:sp>
      <p:sp>
        <p:nvSpPr>
          <p:cNvPr id="9" name="Shape 6"/>
          <p:cNvSpPr/>
          <p:nvPr/>
        </p:nvSpPr>
        <p:spPr>
          <a:xfrm>
            <a:off x="576072" y="3255264"/>
            <a:ext cx="164592" cy="164592"/>
          </a:xfrm>
          <a:prstGeom prst="roundRect">
            <a:avLst>
              <a:gd name="adj" fmla="val 27778"/>
            </a:avLst>
          </a:prstGeom>
          <a:solidFill>
            <a:srgbClr val="7A4FD0"/>
          </a:solidFill>
          <a:ln/>
        </p:spPr>
      </p:sp>
      <p:sp>
        <p:nvSpPr>
          <p:cNvPr id="10" name="Text 7"/>
          <p:cNvSpPr/>
          <p:nvPr/>
        </p:nvSpPr>
        <p:spPr>
          <a:xfrm>
            <a:off x="987552" y="31546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7A4FD0"/>
                </a:solidFill>
                <a:latin typeface="Quicksand" pitchFamily="34" charset="0"/>
                <a:ea typeface="Quicksand" pitchFamily="34" charset="-122"/>
                <a:cs typeface="Quicksand" pitchFamily="34" charset="-120"/>
              </a:rPr>
              <a:t>L'IA —  </a:t>
            </a:r>
            <a:pPr algn="l" indent="0" marL="0">
              <a:lnSpc>
                <a:spcPct val="105000"/>
              </a:lnSpc>
              <a:buNone/>
            </a:pPr>
            <a:r>
              <a:rPr lang="en-US" sz="1450" dirty="0">
                <a:solidFill>
                  <a:srgbClr val="1B1626"/>
                </a:solidFill>
                <a:latin typeface="Quicksand" pitchFamily="34" charset="0"/>
                <a:ea typeface="Quicksand" pitchFamily="34" charset="-122"/>
                <a:cs typeface="Quicksand" pitchFamily="34" charset="-120"/>
              </a:rPr>
              <a:t>un prolongement de qui je suis, pas une béquille.</a:t>
            </a:r>
            <a:endParaRPr lang="en-US" sz="1450" dirty="0"/>
          </a:p>
        </p:txBody>
      </p:sp>
      <p:sp>
        <p:nvSpPr>
          <p:cNvPr id="11" name="Shape 8"/>
          <p:cNvSpPr/>
          <p:nvPr/>
        </p:nvSpPr>
        <p:spPr>
          <a:xfrm>
            <a:off x="548640" y="3895344"/>
            <a:ext cx="11064240" cy="777240"/>
          </a:xfrm>
          <a:prstGeom prst="roundRect">
            <a:avLst>
              <a:gd name="adj" fmla="val 14118"/>
            </a:avLst>
          </a:prstGeom>
          <a:solidFill>
            <a:srgbClr val="F1EAFB"/>
          </a:solidFill>
          <a:ln w="12700">
            <a:solidFill>
              <a:srgbClr val="DCD0EC"/>
            </a:solidFill>
            <a:prstDash val="solid"/>
          </a:ln>
        </p:spPr>
      </p:sp>
      <p:pic>
        <p:nvPicPr>
          <p:cNvPr id="12" name="Image 1" descr="gbar_light.png">    </p:cNvPr>
          <p:cNvPicPr>
            <a:picLocks noChangeAspect="1"/>
          </p:cNvPicPr>
          <p:nvPr/>
        </p:nvPicPr>
        <p:blipFill>
          <a:blip r:embed="rId2"/>
          <a:stretch>
            <a:fillRect/>
          </a:stretch>
        </p:blipFill>
        <p:spPr>
          <a:xfrm>
            <a:off x="786384" y="4041648"/>
            <a:ext cx="64008" cy="484632"/>
          </a:xfrm>
          <a:prstGeom prst="rect">
            <a:avLst/>
          </a:prstGeom>
        </p:spPr>
      </p:pic>
      <p:sp>
        <p:nvSpPr>
          <p:cNvPr id="13" name="Text 9"/>
          <p:cNvSpPr/>
          <p:nvPr/>
        </p:nvSpPr>
        <p:spPr>
          <a:xfrm>
            <a:off x="1024128" y="3941064"/>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6A2FB0"/>
                </a:solidFill>
                <a:latin typeface="Quicksand" pitchFamily="34" charset="0"/>
                <a:ea typeface="Quicksand" pitchFamily="34" charset="-122"/>
                <a:cs typeface="Quicksand" pitchFamily="34" charset="-120"/>
              </a:rPr>
              <a:t>La direction que tout ce parcours dessine, et dans laquelle je m'engage pleinement.</a:t>
            </a:r>
            <a:endParaRPr lang="en-US" sz="1450" dirty="0"/>
          </a:p>
        </p:txBody>
      </p:sp>
      <p:sp>
        <p:nvSpPr>
          <p:cNvPr id="14" name="Text 10"/>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6A6380"/>
                </a:solidFill>
                <a:latin typeface="Quicksand" pitchFamily="34" charset="0"/>
                <a:ea typeface="Quicksand" pitchFamily="34" charset="-122"/>
                <a:cs typeface="Quicksand" pitchFamily="34" charset="-120"/>
              </a:rPr>
              <a:t>Mémoire de fin d'études — Louis Basnier</a:t>
            </a:r>
            <a:endParaRPr lang="en-US" sz="1000" dirty="0"/>
          </a:p>
        </p:txBody>
      </p:sp>
      <p:sp>
        <p:nvSpPr>
          <p:cNvPr id="15" name="Text 11"/>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6A6380"/>
                </a:solidFill>
                <a:latin typeface="Quicksand" pitchFamily="34" charset="0"/>
                <a:ea typeface="Quicksand" pitchFamily="34" charset="-122"/>
                <a:cs typeface="Quicksand" pitchFamily="34" charset="-120"/>
              </a:rPr>
              <a:t>10 / 11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gblob_light.png">    </p:cNvPr>
          <p:cNvPicPr>
            <a:picLocks noChangeAspect="1"/>
          </p:cNvPicPr>
          <p:nvPr/>
        </p:nvPicPr>
        <p:blipFill>
          <a:blip r:embed="rId1"/>
          <a:stretch>
            <a:fillRect/>
          </a:stretch>
        </p:blipFill>
        <p:spPr>
          <a:xfrm>
            <a:off x="3337560" y="365760"/>
            <a:ext cx="5486400" cy="5486400"/>
          </a:xfrm>
          <a:prstGeom prst="rect">
            <a:avLst/>
          </a:prstGeom>
        </p:spPr>
      </p:pic>
      <p:sp>
        <p:nvSpPr>
          <p:cNvPr id="3" name="Text 0"/>
          <p:cNvSpPr/>
          <p:nvPr/>
        </p:nvSpPr>
        <p:spPr>
          <a:xfrm>
            <a:off x="914400" y="2011680"/>
            <a:ext cx="10332720" cy="365760"/>
          </a:xfrm>
          <a:prstGeom prst="rect">
            <a:avLst/>
          </a:prstGeom>
          <a:noFill/>
          <a:ln/>
        </p:spPr>
        <p:txBody>
          <a:bodyPr wrap="square" rtlCol="0" anchor="ctr"/>
          <a:lstStyle/>
          <a:p>
            <a:pPr algn="ctr" indent="0" marL="0">
              <a:buNone/>
            </a:pPr>
            <a:r>
              <a:rPr lang="en-US" sz="1500" b="1" spc="400" kern="0" dirty="0">
                <a:solidFill>
                  <a:srgbClr val="C9701E"/>
                </a:solidFill>
                <a:latin typeface="Quicksand" pitchFamily="34" charset="0"/>
                <a:ea typeface="Quicksand" pitchFamily="34" charset="-122"/>
                <a:cs typeface="Quicksand" pitchFamily="34" charset="-120"/>
              </a:rPr>
              <a:t>POINT FINAL</a:t>
            </a:r>
            <a:endParaRPr lang="en-US" sz="1500" dirty="0"/>
          </a:p>
        </p:txBody>
      </p:sp>
      <p:sp>
        <p:nvSpPr>
          <p:cNvPr id="4" name="Text 1"/>
          <p:cNvSpPr/>
          <p:nvPr/>
        </p:nvSpPr>
        <p:spPr>
          <a:xfrm>
            <a:off x="914400" y="2468880"/>
            <a:ext cx="10332720" cy="1371600"/>
          </a:xfrm>
          <a:prstGeom prst="rect">
            <a:avLst/>
          </a:prstGeom>
          <a:noFill/>
          <a:ln/>
        </p:spPr>
        <p:txBody>
          <a:bodyPr wrap="square" rtlCol="0" anchor="ctr"/>
          <a:lstStyle/>
          <a:p>
            <a:pPr algn="ctr" indent="0" marL="0">
              <a:buNone/>
            </a:pPr>
            <a:r>
              <a:rPr lang="en-US" sz="6200" b="1" dirty="0">
                <a:solidFill>
                  <a:srgbClr val="7A4FD0"/>
                </a:solidFill>
                <a:latin typeface="Quicksand" pitchFamily="34" charset="0"/>
                <a:ea typeface="Quicksand" pitchFamily="34" charset="-122"/>
                <a:cs typeface="Quicksand" pitchFamily="34" charset="-120"/>
              </a:rPr>
              <a:t>Merci</a:t>
            </a:r>
            <a:endParaRPr lang="en-US" sz="6200" dirty="0"/>
          </a:p>
        </p:txBody>
      </p:sp>
      <p:pic>
        <p:nvPicPr>
          <p:cNvPr id="5" name="Image 1" descr="gbar_light.png">    </p:cNvPr>
          <p:cNvPicPr>
            <a:picLocks noChangeAspect="1"/>
          </p:cNvPicPr>
          <p:nvPr/>
        </p:nvPicPr>
        <p:blipFill>
          <a:blip r:embed="rId2"/>
          <a:stretch>
            <a:fillRect/>
          </a:stretch>
        </p:blipFill>
        <p:spPr>
          <a:xfrm>
            <a:off x="5303520" y="4069080"/>
            <a:ext cx="1554480" cy="109728"/>
          </a:xfrm>
          <a:prstGeom prst="rect">
            <a:avLst/>
          </a:prstGeom>
        </p:spPr>
      </p:pic>
      <p:sp>
        <p:nvSpPr>
          <p:cNvPr id="6" name="Text 2"/>
          <p:cNvSpPr/>
          <p:nvPr/>
        </p:nvSpPr>
        <p:spPr>
          <a:xfrm>
            <a:off x="914400" y="4343400"/>
            <a:ext cx="10332720" cy="548640"/>
          </a:xfrm>
          <a:prstGeom prst="rect">
            <a:avLst/>
          </a:prstGeom>
          <a:noFill/>
          <a:ln/>
        </p:spPr>
        <p:txBody>
          <a:bodyPr wrap="square" rtlCol="0" anchor="ctr"/>
          <a:lstStyle/>
          <a:p>
            <a:pPr algn="ctr" indent="0" marL="0">
              <a:buNone/>
            </a:pPr>
            <a:r>
              <a:rPr lang="en-US" sz="1900" dirty="0">
                <a:solidFill>
                  <a:srgbClr val="6A6380"/>
                </a:solidFill>
                <a:latin typeface="Quicksand" pitchFamily="34" charset="0"/>
                <a:ea typeface="Quicksand" pitchFamily="34" charset="-122"/>
                <a:cs typeface="Quicksand" pitchFamily="34" charset="-120"/>
              </a:rPr>
              <a:t>de votre écoute.</a:t>
            </a:r>
            <a:endParaRPr lang="en-US" sz="1900" dirty="0"/>
          </a:p>
        </p:txBody>
      </p:sp>
      <p:sp>
        <p:nvSpPr>
          <p:cNvPr id="7" name="Text 3"/>
          <p:cNvSpPr/>
          <p:nvPr/>
        </p:nvSpPr>
        <p:spPr>
          <a:xfrm>
            <a:off x="914400" y="5349240"/>
            <a:ext cx="10332720" cy="365760"/>
          </a:xfrm>
          <a:prstGeom prst="rect">
            <a:avLst/>
          </a:prstGeom>
          <a:noFill/>
          <a:ln/>
        </p:spPr>
        <p:txBody>
          <a:bodyPr wrap="square" rtlCol="0" anchor="ctr"/>
          <a:lstStyle/>
          <a:p>
            <a:pPr algn="ctr" indent="0" marL="0">
              <a:buNone/>
            </a:pPr>
            <a:r>
              <a:rPr lang="en-US" sz="1800" b="1" dirty="0">
                <a:solidFill>
                  <a:srgbClr val="12977A"/>
                </a:solidFill>
                <a:latin typeface="Quicksand" pitchFamily="34" charset="0"/>
                <a:ea typeface="Quicksand" pitchFamily="34" charset="-122"/>
                <a:cs typeface="Quicksand" pitchFamily="34" charset="-120"/>
              </a:rPr>
              <a:t>Louis Basnier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2026-08-23T20:43:21Z</dcterms:created>
  <dcterms:modified xsi:type="dcterms:W3CDTF">2026-08-23T20:43:21Z</dcterms:modified>
</cp:coreProperties>
</file>